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1"/>
  </p:notesMasterIdLst>
  <p:sldIdLst>
    <p:sldId id="256" r:id="rId2"/>
    <p:sldId id="279" r:id="rId3"/>
    <p:sldId id="280" r:id="rId4"/>
    <p:sldId id="281" r:id="rId5"/>
    <p:sldId id="282" r:id="rId6"/>
    <p:sldId id="283" r:id="rId7"/>
    <p:sldId id="284" r:id="rId8"/>
    <p:sldId id="285" r:id="rId9"/>
    <p:sldId id="286" r:id="rId10"/>
    <p:sldId id="287" r:id="rId11"/>
    <p:sldId id="288" r:id="rId12"/>
    <p:sldId id="289" r:id="rId13"/>
    <p:sldId id="290" r:id="rId14"/>
    <p:sldId id="291" r:id="rId15"/>
    <p:sldId id="292" r:id="rId16"/>
    <p:sldId id="293" r:id="rId17"/>
    <p:sldId id="294" r:id="rId18"/>
    <p:sldId id="295" r:id="rId19"/>
    <p:sldId id="26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91" autoAdjust="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327AA2-C240-46A2-936B-74D08DECA3A7}" type="datetimeFigureOut">
              <a:rPr lang="en-US" smtClean="0"/>
              <a:t>1/13/2022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42259B-3E87-49A4-A321-BEF1BD20C4E9}" type="slidenum">
              <a:rPr lang="en-US" smtClean="0"/>
              <a:t>‹#›</a:t>
            </a:fld>
            <a:endParaRPr lang="en-US"/>
          </a:p>
        </p:txBody>
      </p:sp>
    </p:spTree>
    <p:extLst>
      <p:ext uri="{BB962C8B-B14F-4D97-AF65-F5344CB8AC3E}">
        <p14:creationId xmlns:p14="http://schemas.microsoft.com/office/powerpoint/2010/main" val="62542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2A9FCE2-0C30-425B-BD34-65F77162D4A6}" type="datetime1">
              <a:rPr lang="en-US" smtClean="0"/>
              <a:t>1/13/2022</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2843812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9BE443-C17D-4310-A66C-8D41202C3877}" type="datetime1">
              <a:rPr lang="en-US" smtClean="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2342518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FC48F0-158D-4C7A-9C2F-0DBD8A353A5A}" type="datetime1">
              <a:rPr lang="en-US" smtClean="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1985654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ACC294F-D308-4C16-BAC1-7A44E6F06E76}" type="datetime1">
              <a:rPr lang="en-US" smtClean="0"/>
              <a:t>1/13/2022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4101258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D781214-69C5-49F8-A264-1AF2D079D60F}" type="datetime1">
              <a:rPr lang="en-US" smtClean="0"/>
              <a:t>1/13/2022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1236445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63F02D-F370-4394-8C74-0D51DD8D5673}" type="datetime1">
              <a:rPr lang="en-US" smtClean="0"/>
              <a:t>1/13/2022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281241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D8A645-686C-46D7-9A38-B0ED3D5C0FFE}" type="datetime1">
              <a:rPr lang="en-US" smtClean="0"/>
              <a:t>1/13/2022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3944970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B0DECDB-27FF-408E-967E-2FF555BB7191}" type="datetime1">
              <a:rPr lang="en-US" smtClean="0"/>
              <a:t>1/13/2022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1198587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dirty="0"/>
              <a:t>Click icon to add picture</a:t>
            </a:r>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F844ED-5725-4050-94BC-CEBBF5F15283}" type="datetime1">
              <a:rPr lang="en-US" smtClean="0"/>
              <a:t>1/13/2022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2236820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C99F2C-D40C-4776-A30F-DAD692012614}" type="datetime1">
              <a:rPr lang="en-US" smtClean="0"/>
              <a:t>1/13/2022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1520996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F61E1AC-20E8-47BB-963B-32490DB75DF5}" type="datetime1">
              <a:rPr lang="en-US" smtClean="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13863793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E3625AC-5F1C-4018-ABA4-E7AC17AAC6A3}" type="datetime1">
              <a:rPr lang="en-US" smtClean="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39207058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E600F7-1B31-4E64-A77D-FDAA1B62FFAC}" type="datetime1">
              <a:rPr lang="en-US" smtClean="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25033515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16D4620-801E-46F1-9983-AFE60CF14DA0}" type="datetime1">
              <a:rPr lang="en-US" smtClean="0"/>
              <a:t>1/13/2022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330406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D7E13EA-3392-4F08-958C-C87303863311}" type="datetime1">
              <a:rPr lang="en-US" smtClean="0"/>
              <a:t>1/13/2022</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10300609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DEF8113F-4240-4B8B-90F6-D8BD8BDB6287}" type="datetime1">
              <a:rPr lang="en-US" smtClean="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767021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1A0F2C2-DD47-4C57-8D93-BCE77E07E1FB}" type="datetime1">
              <a:rPr lang="en-US" smtClean="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760030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D7A210D0-3BBA-41B4-A219-A06473CEBDA9}" type="datetime1">
              <a:rPr lang="en-US" smtClean="0"/>
              <a:t>1/13/2022</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D6F892B-1791-4F93-8AFD-83813F10F54D}" type="slidenum">
              <a:rPr lang="en-US" smtClean="0"/>
              <a:t>‹#›</a:t>
            </a:fld>
            <a:endParaRPr lang="en-US" dirty="0"/>
          </a:p>
        </p:txBody>
      </p:sp>
    </p:spTree>
    <p:extLst>
      <p:ext uri="{BB962C8B-B14F-4D97-AF65-F5344CB8AC3E}">
        <p14:creationId xmlns:p14="http://schemas.microsoft.com/office/powerpoint/2010/main" val="119690409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C75D2F71-C3D9-4A89-ADF7-43E4E7BE06D5}"/>
              </a:ext>
            </a:extLst>
          </p:cNvPr>
          <p:cNvSpPr>
            <a:spLocks noGrp="1"/>
          </p:cNvSpPr>
          <p:nvPr>
            <p:ph type="ctrTitle"/>
          </p:nvPr>
        </p:nvSpPr>
        <p:spPr>
          <a:xfrm>
            <a:off x="1154954" y="1384115"/>
            <a:ext cx="10188907" cy="2677648"/>
          </a:xfrm>
        </p:spPr>
        <p:txBody>
          <a:bodyPr/>
          <a:lstStyle/>
          <a:p>
            <a:r>
              <a:rPr lang="en-US">
                <a:latin typeface="Arial Rounded MT Bold" panose="020F0704030504030204" pitchFamily="34" charset="0"/>
              </a:rPr>
              <a:t>Part 13</a:t>
            </a:r>
            <a:br>
              <a:rPr lang="en-US" dirty="0">
                <a:latin typeface="Arial Rounded MT Bold" panose="020F0704030504030204" pitchFamily="34" charset="0"/>
              </a:rPr>
            </a:br>
            <a:br>
              <a:rPr lang="en-US" sz="4000" dirty="0">
                <a:latin typeface="Arial Rounded MT Bold" panose="020F0704030504030204" pitchFamily="34" charset="0"/>
              </a:rPr>
            </a:br>
            <a:r>
              <a:rPr lang="en-US" sz="4400" dirty="0">
                <a:latin typeface="Arial Rounded MT Bold" panose="020F0704030504030204" pitchFamily="34" charset="0"/>
              </a:rPr>
              <a:t>Module in Python</a:t>
            </a:r>
            <a:endParaRPr lang="en-US" sz="4800" b="1" dirty="0"/>
          </a:p>
        </p:txBody>
      </p:sp>
      <p:sp>
        <p:nvSpPr>
          <p:cNvPr id="23" name="Subtitle 22">
            <a:extLst>
              <a:ext uri="{FF2B5EF4-FFF2-40B4-BE49-F238E27FC236}">
                <a16:creationId xmlns:a16="http://schemas.microsoft.com/office/drawing/2014/main" id="{7EAC1220-5808-4927-8A48-4FD19D7906DA}"/>
              </a:ext>
            </a:extLst>
          </p:cNvPr>
          <p:cNvSpPr>
            <a:spLocks noGrp="1"/>
          </p:cNvSpPr>
          <p:nvPr>
            <p:ph type="subTitle" idx="1"/>
          </p:nvPr>
        </p:nvSpPr>
        <p:spPr>
          <a:xfrm>
            <a:off x="1154955" y="4287049"/>
            <a:ext cx="8825658" cy="430725"/>
          </a:xfrm>
        </p:spPr>
        <p:txBody>
          <a:bodyPr>
            <a:normAutofit lnSpcReduction="10000"/>
          </a:bodyPr>
          <a:lstStyle/>
          <a:p>
            <a:r>
              <a:rPr lang="en-US" sz="2400" dirty="0"/>
              <a:t>Version: 3.o</a:t>
            </a:r>
          </a:p>
          <a:p>
            <a:endParaRPr lang="en-US" sz="2400" dirty="0"/>
          </a:p>
        </p:txBody>
      </p:sp>
      <p:sp>
        <p:nvSpPr>
          <p:cNvPr id="24" name="Subtitle 22">
            <a:extLst>
              <a:ext uri="{FF2B5EF4-FFF2-40B4-BE49-F238E27FC236}">
                <a16:creationId xmlns:a16="http://schemas.microsoft.com/office/drawing/2014/main" id="{EF647C65-2962-495E-8F1A-C5ABE3700C82}"/>
              </a:ext>
            </a:extLst>
          </p:cNvPr>
          <p:cNvSpPr txBox="1">
            <a:spLocks/>
          </p:cNvSpPr>
          <p:nvPr/>
        </p:nvSpPr>
        <p:spPr bwMode="gray">
          <a:xfrm>
            <a:off x="8489743" y="5755393"/>
            <a:ext cx="2981739" cy="4307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1800" b="0" i="0" kern="1200" cap="all">
                <a:solidFill>
                  <a:schemeClr val="accent1">
                    <a:lumMod val="60000"/>
                    <a:lumOff val="4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9pPr>
          </a:lstStyle>
          <a:p>
            <a:r>
              <a:rPr lang="en-US" sz="2000" b="1" dirty="0">
                <a:solidFill>
                  <a:schemeClr val="bg1"/>
                </a:solidFill>
                <a:latin typeface="+mj-lt"/>
              </a:rPr>
              <a:t>Written by: Babar </a:t>
            </a:r>
            <a:r>
              <a:rPr lang="en-US" sz="2000" b="1" dirty="0" err="1">
                <a:solidFill>
                  <a:schemeClr val="bg1"/>
                </a:solidFill>
                <a:latin typeface="+mj-lt"/>
              </a:rPr>
              <a:t>ali</a:t>
            </a:r>
            <a:r>
              <a:rPr lang="en-US" sz="2000" b="1" dirty="0">
                <a:solidFill>
                  <a:schemeClr val="bg1"/>
                </a:solidFill>
                <a:latin typeface="+mj-lt"/>
              </a:rPr>
              <a:t> </a:t>
            </a:r>
          </a:p>
        </p:txBody>
      </p:sp>
      <p:sp>
        <p:nvSpPr>
          <p:cNvPr id="2" name="Slide Number Placeholder 1">
            <a:extLst>
              <a:ext uri="{FF2B5EF4-FFF2-40B4-BE49-F238E27FC236}">
                <a16:creationId xmlns:a16="http://schemas.microsoft.com/office/drawing/2014/main" id="{A319BE65-88D1-4524-9E14-2B34145F857B}"/>
              </a:ext>
            </a:extLst>
          </p:cNvPr>
          <p:cNvSpPr>
            <a:spLocks noGrp="1"/>
          </p:cNvSpPr>
          <p:nvPr>
            <p:ph type="sldNum" sz="quarter" idx="12"/>
          </p:nvPr>
        </p:nvSpPr>
        <p:spPr/>
        <p:txBody>
          <a:bodyPr/>
          <a:lstStyle/>
          <a:p>
            <a:fld id="{0D6F892B-1791-4F93-8AFD-83813F10F54D}" type="slidenum">
              <a:rPr lang="en-US" smtClean="0"/>
              <a:t>1</a:t>
            </a:fld>
            <a:endParaRPr lang="en-US" dirty="0"/>
          </a:p>
        </p:txBody>
      </p:sp>
    </p:spTree>
    <p:extLst>
      <p:ext uri="{BB962C8B-B14F-4D97-AF65-F5344CB8AC3E}">
        <p14:creationId xmlns:p14="http://schemas.microsoft.com/office/powerpoint/2010/main" val="3989014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213191" cy="767686"/>
          </a:xfrm>
        </p:spPr>
        <p:txBody>
          <a:bodyPr>
            <a:normAutofit/>
          </a:bodyPr>
          <a:lstStyle/>
          <a:p>
            <a:r>
              <a:rPr lang="en-US" sz="3600" dirty="0"/>
              <a:t>What is Module in Python?</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2</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954079" y="2423289"/>
            <a:ext cx="10699480" cy="957121"/>
          </a:xfrm>
          <a:prstGeom prst="rect">
            <a:avLst/>
          </a:prstGeom>
          <a:noFill/>
        </p:spPr>
        <p:txBody>
          <a:bodyPr wrap="square" rtlCol="0">
            <a:spAutoFit/>
          </a:bodyPr>
          <a:lstStyle/>
          <a:p>
            <a:pPr algn="l">
              <a:lnSpc>
                <a:spcPct val="150000"/>
              </a:lnSpc>
            </a:pPr>
            <a:r>
              <a:rPr lang="en-US" sz="2000" dirty="0">
                <a:solidFill>
                  <a:schemeClr val="bg2">
                    <a:lumMod val="10000"/>
                  </a:schemeClr>
                </a:solidFill>
              </a:rPr>
              <a:t>Consider a module to be the same as a code library.</a:t>
            </a:r>
          </a:p>
          <a:p>
            <a:pPr algn="l">
              <a:lnSpc>
                <a:spcPct val="150000"/>
              </a:lnSpc>
            </a:pPr>
            <a:r>
              <a:rPr lang="en-US" sz="2000" dirty="0">
                <a:solidFill>
                  <a:schemeClr val="bg2">
                    <a:lumMod val="10000"/>
                  </a:schemeClr>
                </a:solidFill>
              </a:rPr>
              <a:t>A file containing a set of functions you want to include in your application.</a:t>
            </a:r>
          </a:p>
        </p:txBody>
      </p:sp>
      <p:sp>
        <p:nvSpPr>
          <p:cNvPr id="9" name="TextBox 8">
            <a:extLst>
              <a:ext uri="{FF2B5EF4-FFF2-40B4-BE49-F238E27FC236}">
                <a16:creationId xmlns:a16="http://schemas.microsoft.com/office/drawing/2014/main" id="{841125B4-4D5E-4DC1-8551-2305487DC206}"/>
              </a:ext>
            </a:extLst>
          </p:cNvPr>
          <p:cNvSpPr txBox="1"/>
          <p:nvPr/>
        </p:nvSpPr>
        <p:spPr>
          <a:xfrm>
            <a:off x="954079" y="3655301"/>
            <a:ext cx="10489776" cy="1880451"/>
          </a:xfrm>
          <a:prstGeom prst="rect">
            <a:avLst/>
          </a:prstGeom>
          <a:noFill/>
        </p:spPr>
        <p:txBody>
          <a:bodyPr wrap="square">
            <a:spAutoFit/>
          </a:bodyPr>
          <a:lstStyle/>
          <a:p>
            <a:pPr algn="just">
              <a:lnSpc>
                <a:spcPct val="150000"/>
              </a:lnSpc>
            </a:pPr>
            <a:r>
              <a:rPr lang="en-US" sz="2000" dirty="0">
                <a:solidFill>
                  <a:schemeClr val="bg2">
                    <a:lumMod val="10000"/>
                  </a:schemeClr>
                </a:solidFill>
              </a:rPr>
              <a:t>In Python, Modules are simply files with the “</a:t>
            </a:r>
            <a:r>
              <a:rPr lang="en-US" sz="2000" b="1" dirty="0">
                <a:solidFill>
                  <a:schemeClr val="bg2">
                    <a:lumMod val="10000"/>
                  </a:schemeClr>
                </a:solidFill>
              </a:rPr>
              <a:t>. </a:t>
            </a:r>
            <a:r>
              <a:rPr lang="en-US" sz="2000" b="1" dirty="0" err="1">
                <a:solidFill>
                  <a:schemeClr val="bg2">
                    <a:lumMod val="10000"/>
                  </a:schemeClr>
                </a:solidFill>
              </a:rPr>
              <a:t>py</a:t>
            </a:r>
            <a:r>
              <a:rPr lang="en-US" sz="2000" dirty="0">
                <a:solidFill>
                  <a:schemeClr val="bg2">
                    <a:lumMod val="10000"/>
                  </a:schemeClr>
                </a:solidFill>
              </a:rPr>
              <a:t>” extension containing Python code that can be imported inside another Python Program. In simple terms, we can consider a module to be the same as a code library or a file that contains a set of functions that you want to include in your application.</a:t>
            </a:r>
          </a:p>
        </p:txBody>
      </p:sp>
    </p:spTree>
    <p:extLst>
      <p:ext uri="{BB962C8B-B14F-4D97-AF65-F5344CB8AC3E}">
        <p14:creationId xmlns:p14="http://schemas.microsoft.com/office/powerpoint/2010/main" val="2164549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8751047" cy="767686"/>
          </a:xfrm>
        </p:spPr>
        <p:txBody>
          <a:bodyPr>
            <a:normAutofit/>
          </a:bodyPr>
          <a:lstStyle/>
          <a:p>
            <a:r>
              <a:rPr lang="en-US" sz="3600" dirty="0"/>
              <a:t>How to create User-defined Module?</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3</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954079" y="2395580"/>
            <a:ext cx="10699480" cy="495457"/>
          </a:xfrm>
          <a:prstGeom prst="rect">
            <a:avLst/>
          </a:prstGeom>
          <a:noFill/>
        </p:spPr>
        <p:txBody>
          <a:bodyPr wrap="square" rtlCol="0">
            <a:spAutoFit/>
          </a:bodyPr>
          <a:lstStyle/>
          <a:p>
            <a:pPr algn="l">
              <a:lnSpc>
                <a:spcPct val="150000"/>
              </a:lnSpc>
            </a:pPr>
            <a:r>
              <a:rPr lang="en-US" sz="2000" dirty="0">
                <a:solidFill>
                  <a:schemeClr val="bg2">
                    <a:lumMod val="10000"/>
                  </a:schemeClr>
                </a:solidFill>
              </a:rPr>
              <a:t>To create a module just save the code you want in a file with the file extension ”.</a:t>
            </a:r>
            <a:r>
              <a:rPr lang="en-US" sz="2000" dirty="0" err="1">
                <a:solidFill>
                  <a:schemeClr val="bg2">
                    <a:lumMod val="10000"/>
                  </a:schemeClr>
                </a:solidFill>
              </a:rPr>
              <a:t>py</a:t>
            </a:r>
            <a:r>
              <a:rPr lang="en-US" sz="2000" dirty="0">
                <a:solidFill>
                  <a:schemeClr val="bg2">
                    <a:lumMod val="10000"/>
                  </a:schemeClr>
                </a:solidFill>
              </a:rPr>
              <a:t>”</a:t>
            </a:r>
          </a:p>
        </p:txBody>
      </p:sp>
      <p:sp>
        <p:nvSpPr>
          <p:cNvPr id="10" name="TextBox 9">
            <a:extLst>
              <a:ext uri="{FF2B5EF4-FFF2-40B4-BE49-F238E27FC236}">
                <a16:creationId xmlns:a16="http://schemas.microsoft.com/office/drawing/2014/main" id="{2361F62B-DBD1-43FD-89F8-6DBFC1634E75}"/>
              </a:ext>
            </a:extLst>
          </p:cNvPr>
          <p:cNvSpPr txBox="1"/>
          <p:nvPr/>
        </p:nvSpPr>
        <p:spPr>
          <a:xfrm>
            <a:off x="1051064" y="3087373"/>
            <a:ext cx="4809409" cy="3108543"/>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sz="1400" b="0" dirty="0">
                <a:solidFill>
                  <a:srgbClr val="569CD6"/>
                </a:solidFill>
                <a:effectLst/>
                <a:latin typeface="Consolas" panose="020B0609020204030204" pitchFamily="49" charset="0"/>
              </a:rPr>
              <a:t>def</a:t>
            </a:r>
            <a:r>
              <a:rPr lang="en-US" sz="1400" b="0" dirty="0">
                <a:solidFill>
                  <a:srgbClr val="D4D4D4"/>
                </a:solidFill>
                <a:effectLst/>
                <a:latin typeface="Consolas" panose="020B0609020204030204" pitchFamily="49" charset="0"/>
              </a:rPr>
              <a:t> </a:t>
            </a:r>
            <a:r>
              <a:rPr lang="en-US" sz="1400" b="0" dirty="0">
                <a:solidFill>
                  <a:srgbClr val="DCDCAA"/>
                </a:solidFill>
                <a:effectLst/>
                <a:latin typeface="Consolas" panose="020B0609020204030204" pitchFamily="49" charset="0"/>
              </a:rPr>
              <a:t>greeting</a:t>
            </a:r>
            <a:r>
              <a:rPr lang="en-US" sz="1400" b="0" dirty="0">
                <a:solidFill>
                  <a:srgbClr val="D4D4D4"/>
                </a:solidFill>
                <a:effectLst/>
                <a:latin typeface="Consolas" panose="020B0609020204030204" pitchFamily="49" charset="0"/>
              </a:rPr>
              <a:t>(</a:t>
            </a:r>
            <a:r>
              <a:rPr lang="en-US" sz="1400" b="0" dirty="0">
                <a:solidFill>
                  <a:srgbClr val="9CDCFE"/>
                </a:solidFill>
                <a:effectLst/>
                <a:latin typeface="Consolas" panose="020B0609020204030204" pitchFamily="49" charset="0"/>
              </a:rPr>
              <a:t>name</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    </a:t>
            </a:r>
            <a:r>
              <a:rPr lang="en-US" sz="1400" b="0" dirty="0">
                <a:solidFill>
                  <a:srgbClr val="DCDCAA"/>
                </a:solidFill>
                <a:effectLst/>
                <a:latin typeface="Consolas" panose="020B0609020204030204" pitchFamily="49" charset="0"/>
              </a:rPr>
              <a:t>print</a:t>
            </a:r>
            <a:r>
              <a:rPr lang="en-US" sz="1400" b="0" dirty="0">
                <a:solidFill>
                  <a:srgbClr val="D4D4D4"/>
                </a:solidFill>
                <a:effectLst/>
                <a:latin typeface="Consolas" panose="020B0609020204030204" pitchFamily="49" charset="0"/>
              </a:rPr>
              <a:t>(</a:t>
            </a:r>
            <a:r>
              <a:rPr lang="en-US" sz="1400" b="0" dirty="0">
                <a:solidFill>
                  <a:srgbClr val="CE9178"/>
                </a:solidFill>
                <a:effectLst/>
                <a:latin typeface="Consolas" panose="020B0609020204030204" pitchFamily="49" charset="0"/>
              </a:rPr>
              <a:t>"Hello : "</a:t>
            </a:r>
            <a:r>
              <a:rPr lang="en-US" sz="1400" b="0" dirty="0">
                <a:solidFill>
                  <a:srgbClr val="D4D4D4"/>
                </a:solidFill>
                <a:effectLst/>
                <a:latin typeface="Consolas" panose="020B0609020204030204" pitchFamily="49" charset="0"/>
              </a:rPr>
              <a:t> + </a:t>
            </a:r>
            <a:r>
              <a:rPr lang="en-US" sz="1400" b="0" dirty="0">
                <a:solidFill>
                  <a:srgbClr val="9CDCFE"/>
                </a:solidFill>
                <a:effectLst/>
                <a:latin typeface="Consolas" panose="020B0609020204030204" pitchFamily="49" charset="0"/>
              </a:rPr>
              <a:t>name</a:t>
            </a:r>
            <a:r>
              <a:rPr lang="en-US" sz="1400" b="0" dirty="0">
                <a:solidFill>
                  <a:srgbClr val="D4D4D4"/>
                </a:solidFill>
                <a:effectLst/>
                <a:latin typeface="Consolas" panose="020B0609020204030204" pitchFamily="49" charset="0"/>
              </a:rPr>
              <a:t>)</a:t>
            </a:r>
          </a:p>
          <a:p>
            <a:br>
              <a:rPr lang="en-US" sz="1400" b="0" dirty="0">
                <a:solidFill>
                  <a:srgbClr val="D4D4D4"/>
                </a:solidFill>
                <a:effectLst/>
                <a:latin typeface="Consolas" panose="020B0609020204030204" pitchFamily="49" charset="0"/>
              </a:rPr>
            </a:br>
            <a:r>
              <a:rPr lang="en-US" sz="1400" b="0" dirty="0">
                <a:solidFill>
                  <a:srgbClr val="569CD6"/>
                </a:solidFill>
                <a:effectLst/>
                <a:latin typeface="Consolas" panose="020B0609020204030204" pitchFamily="49" charset="0"/>
              </a:rPr>
              <a:t>def</a:t>
            </a:r>
            <a:r>
              <a:rPr lang="en-US" sz="1400" b="0" dirty="0">
                <a:solidFill>
                  <a:srgbClr val="D4D4D4"/>
                </a:solidFill>
                <a:effectLst/>
                <a:latin typeface="Consolas" panose="020B0609020204030204" pitchFamily="49" charset="0"/>
              </a:rPr>
              <a:t> </a:t>
            </a:r>
            <a:r>
              <a:rPr lang="en-US" sz="1400" b="0" dirty="0" err="1">
                <a:solidFill>
                  <a:srgbClr val="DCDCAA"/>
                </a:solidFill>
                <a:effectLst/>
                <a:latin typeface="Consolas" panose="020B0609020204030204" pitchFamily="49" charset="0"/>
              </a:rPr>
              <a:t>Even_Odd</a:t>
            </a:r>
            <a:r>
              <a:rPr lang="en-US" sz="1400" b="0" dirty="0">
                <a:solidFill>
                  <a:srgbClr val="D4D4D4"/>
                </a:solidFill>
                <a:effectLst/>
                <a:latin typeface="Consolas" panose="020B0609020204030204" pitchFamily="49" charset="0"/>
              </a:rPr>
              <a:t>(</a:t>
            </a:r>
            <a:r>
              <a:rPr lang="en-US" sz="1400" b="0" dirty="0">
                <a:solidFill>
                  <a:srgbClr val="9CDCFE"/>
                </a:solidFill>
                <a:effectLst/>
                <a:latin typeface="Consolas" panose="020B0609020204030204" pitchFamily="49" charset="0"/>
              </a:rPr>
              <a:t>number</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    </a:t>
            </a:r>
            <a:r>
              <a:rPr lang="en-US" sz="1400" b="0" dirty="0">
                <a:solidFill>
                  <a:srgbClr val="C586C0"/>
                </a:solidFill>
                <a:effectLst/>
                <a:latin typeface="Consolas" panose="020B0609020204030204" pitchFamily="49" charset="0"/>
              </a:rPr>
              <a:t>if</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number</a:t>
            </a:r>
            <a:r>
              <a:rPr lang="en-US" sz="1400" b="0" dirty="0">
                <a:solidFill>
                  <a:srgbClr val="D4D4D4"/>
                </a:solidFill>
                <a:effectLst/>
                <a:latin typeface="Consolas" panose="020B0609020204030204" pitchFamily="49" charset="0"/>
              </a:rPr>
              <a:t>%</a:t>
            </a:r>
            <a:r>
              <a:rPr lang="en-US" sz="1400" b="0" dirty="0">
                <a:solidFill>
                  <a:srgbClr val="B5CEA8"/>
                </a:solidFill>
                <a:effectLst/>
                <a:latin typeface="Consolas" panose="020B0609020204030204" pitchFamily="49" charset="0"/>
              </a:rPr>
              <a:t>2</a:t>
            </a:r>
            <a:r>
              <a:rPr lang="en-US" sz="1400" b="0" dirty="0">
                <a:solidFill>
                  <a:srgbClr val="D4D4D4"/>
                </a:solidFill>
                <a:effectLst/>
                <a:latin typeface="Consolas" panose="020B0609020204030204" pitchFamily="49" charset="0"/>
              </a:rPr>
              <a:t> == </a:t>
            </a:r>
            <a:r>
              <a:rPr lang="en-US" sz="1400" b="0" dirty="0">
                <a:solidFill>
                  <a:srgbClr val="B5CEA8"/>
                </a:solidFill>
                <a:effectLst/>
                <a:latin typeface="Consolas" panose="020B0609020204030204" pitchFamily="49" charset="0"/>
              </a:rPr>
              <a:t>0</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        </a:t>
            </a:r>
            <a:r>
              <a:rPr lang="en-US" sz="1400" b="0" dirty="0">
                <a:solidFill>
                  <a:srgbClr val="DCDCAA"/>
                </a:solidFill>
                <a:effectLst/>
                <a:latin typeface="Consolas" panose="020B0609020204030204" pitchFamily="49" charset="0"/>
              </a:rPr>
              <a:t>print</a:t>
            </a:r>
            <a:r>
              <a:rPr lang="en-US" sz="1400" b="0" dirty="0">
                <a:solidFill>
                  <a:srgbClr val="D4D4D4"/>
                </a:solidFill>
                <a:effectLst/>
                <a:latin typeface="Consolas" panose="020B0609020204030204" pitchFamily="49" charset="0"/>
              </a:rPr>
              <a:t>(</a:t>
            </a:r>
            <a:r>
              <a:rPr lang="en-US" sz="1400" b="0" dirty="0">
                <a:solidFill>
                  <a:srgbClr val="CE9178"/>
                </a:solidFill>
                <a:effectLst/>
                <a:latin typeface="Consolas" panose="020B0609020204030204" pitchFamily="49" charset="0"/>
              </a:rPr>
              <a:t>"Even"</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    </a:t>
            </a:r>
            <a:r>
              <a:rPr lang="en-US" sz="1400" b="0" dirty="0">
                <a:solidFill>
                  <a:srgbClr val="C586C0"/>
                </a:solidFill>
                <a:effectLst/>
                <a:latin typeface="Consolas" panose="020B0609020204030204" pitchFamily="49" charset="0"/>
              </a:rPr>
              <a:t>else</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        </a:t>
            </a:r>
            <a:r>
              <a:rPr lang="en-US" sz="1400" b="0" dirty="0">
                <a:solidFill>
                  <a:srgbClr val="DCDCAA"/>
                </a:solidFill>
                <a:effectLst/>
                <a:latin typeface="Consolas" panose="020B0609020204030204" pitchFamily="49" charset="0"/>
              </a:rPr>
              <a:t>print</a:t>
            </a:r>
            <a:r>
              <a:rPr lang="en-US" sz="1400" b="0" dirty="0">
                <a:solidFill>
                  <a:srgbClr val="D4D4D4"/>
                </a:solidFill>
                <a:effectLst/>
                <a:latin typeface="Consolas" panose="020B0609020204030204" pitchFamily="49" charset="0"/>
              </a:rPr>
              <a:t>(</a:t>
            </a:r>
            <a:r>
              <a:rPr lang="en-US" sz="1400" b="0" dirty="0">
                <a:solidFill>
                  <a:srgbClr val="CE9178"/>
                </a:solidFill>
                <a:effectLst/>
                <a:latin typeface="Consolas" panose="020B0609020204030204" pitchFamily="49" charset="0"/>
              </a:rPr>
              <a:t>"Odd"</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    </a:t>
            </a:r>
          </a:p>
          <a:p>
            <a:r>
              <a:rPr lang="en-US" sz="1400" b="0" dirty="0">
                <a:solidFill>
                  <a:srgbClr val="569CD6"/>
                </a:solidFill>
                <a:effectLst/>
                <a:latin typeface="Consolas" panose="020B0609020204030204" pitchFamily="49" charset="0"/>
              </a:rPr>
              <a:t>def</a:t>
            </a:r>
            <a:r>
              <a:rPr lang="en-US" sz="1400" b="0" dirty="0">
                <a:solidFill>
                  <a:srgbClr val="D4D4D4"/>
                </a:solidFill>
                <a:effectLst/>
                <a:latin typeface="Consolas" panose="020B0609020204030204" pitchFamily="49" charset="0"/>
              </a:rPr>
              <a:t> </a:t>
            </a:r>
            <a:r>
              <a:rPr lang="en-US" sz="1400" b="0" dirty="0" err="1">
                <a:solidFill>
                  <a:srgbClr val="DCDCAA"/>
                </a:solidFill>
                <a:effectLst/>
                <a:latin typeface="Consolas" panose="020B0609020204030204" pitchFamily="49" charset="0"/>
              </a:rPr>
              <a:t>Find_maximum</a:t>
            </a:r>
            <a:r>
              <a:rPr lang="en-US" sz="1400" b="0" dirty="0">
                <a:solidFill>
                  <a:srgbClr val="D4D4D4"/>
                </a:solidFill>
                <a:effectLst/>
                <a:latin typeface="Consolas" panose="020B0609020204030204" pitchFamily="49" charset="0"/>
              </a:rPr>
              <a:t>(</a:t>
            </a:r>
            <a:r>
              <a:rPr lang="en-US" sz="1400" b="0" dirty="0">
                <a:solidFill>
                  <a:srgbClr val="9CDCFE"/>
                </a:solidFill>
                <a:effectLst/>
                <a:latin typeface="Consolas" panose="020B0609020204030204" pitchFamily="49" charset="0"/>
              </a:rPr>
              <a:t>num1</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num2</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    </a:t>
            </a:r>
            <a:r>
              <a:rPr lang="en-US" sz="1400" b="0" dirty="0">
                <a:solidFill>
                  <a:srgbClr val="C586C0"/>
                </a:solidFill>
                <a:effectLst/>
                <a:latin typeface="Consolas" panose="020B0609020204030204" pitchFamily="49" charset="0"/>
              </a:rPr>
              <a:t>if</a:t>
            </a:r>
            <a:r>
              <a:rPr lang="en-US" sz="1400" b="0" dirty="0">
                <a:solidFill>
                  <a:srgbClr val="D4D4D4"/>
                </a:solidFill>
                <a:effectLst/>
                <a:latin typeface="Consolas" panose="020B0609020204030204" pitchFamily="49" charset="0"/>
              </a:rPr>
              <a:t> </a:t>
            </a:r>
            <a:r>
              <a:rPr lang="en-US" sz="1400" b="0" dirty="0">
                <a:solidFill>
                  <a:srgbClr val="9CDCFE"/>
                </a:solidFill>
                <a:effectLst/>
                <a:latin typeface="Consolas" panose="020B0609020204030204" pitchFamily="49" charset="0"/>
              </a:rPr>
              <a:t>num1</a:t>
            </a:r>
            <a:r>
              <a:rPr lang="en-US" sz="1400" b="0" dirty="0">
                <a:solidFill>
                  <a:srgbClr val="D4D4D4"/>
                </a:solidFill>
                <a:effectLst/>
                <a:latin typeface="Consolas" panose="020B0609020204030204" pitchFamily="49" charset="0"/>
              </a:rPr>
              <a:t> &gt; </a:t>
            </a:r>
            <a:r>
              <a:rPr lang="en-US" sz="1400" b="0" dirty="0">
                <a:solidFill>
                  <a:srgbClr val="9CDCFE"/>
                </a:solidFill>
                <a:effectLst/>
                <a:latin typeface="Consolas" panose="020B0609020204030204" pitchFamily="49" charset="0"/>
              </a:rPr>
              <a:t>num2</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        </a:t>
            </a:r>
            <a:r>
              <a:rPr lang="en-US" sz="1400" b="0" dirty="0">
                <a:solidFill>
                  <a:srgbClr val="DCDCAA"/>
                </a:solidFill>
                <a:effectLst/>
                <a:latin typeface="Consolas" panose="020B0609020204030204" pitchFamily="49" charset="0"/>
              </a:rPr>
              <a:t>print</a:t>
            </a:r>
            <a:r>
              <a:rPr lang="en-US" sz="1400" b="0" dirty="0">
                <a:solidFill>
                  <a:srgbClr val="D4D4D4"/>
                </a:solidFill>
                <a:effectLst/>
                <a:latin typeface="Consolas" panose="020B0609020204030204" pitchFamily="49" charset="0"/>
              </a:rPr>
              <a:t>(</a:t>
            </a:r>
            <a:r>
              <a:rPr lang="en-US" sz="1400" b="0" dirty="0">
                <a:solidFill>
                  <a:srgbClr val="CE9178"/>
                </a:solidFill>
                <a:effectLst/>
                <a:latin typeface="Consolas" panose="020B0609020204030204" pitchFamily="49" charset="0"/>
              </a:rPr>
              <a:t>"Number 1 is greater"</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    </a:t>
            </a:r>
            <a:r>
              <a:rPr lang="en-US" sz="1400" b="0" dirty="0">
                <a:solidFill>
                  <a:srgbClr val="C586C0"/>
                </a:solidFill>
                <a:effectLst/>
                <a:latin typeface="Consolas" panose="020B0609020204030204" pitchFamily="49" charset="0"/>
              </a:rPr>
              <a:t>else</a:t>
            </a:r>
            <a:r>
              <a:rPr lang="en-US" sz="1400" b="0" dirty="0">
                <a:solidFill>
                  <a:srgbClr val="D4D4D4"/>
                </a:solidFill>
                <a:effectLst/>
                <a:latin typeface="Consolas" panose="020B0609020204030204" pitchFamily="49" charset="0"/>
              </a:rPr>
              <a:t>:</a:t>
            </a:r>
          </a:p>
          <a:p>
            <a:r>
              <a:rPr lang="en-US" sz="1400" b="0" dirty="0">
                <a:solidFill>
                  <a:srgbClr val="D4D4D4"/>
                </a:solidFill>
                <a:effectLst/>
                <a:latin typeface="Consolas" panose="020B0609020204030204" pitchFamily="49" charset="0"/>
              </a:rPr>
              <a:t>        </a:t>
            </a:r>
            <a:r>
              <a:rPr lang="en-US" sz="1400" b="0" dirty="0">
                <a:solidFill>
                  <a:srgbClr val="DCDCAA"/>
                </a:solidFill>
                <a:effectLst/>
                <a:latin typeface="Consolas" panose="020B0609020204030204" pitchFamily="49" charset="0"/>
              </a:rPr>
              <a:t>print</a:t>
            </a:r>
            <a:r>
              <a:rPr lang="en-US" sz="1400" b="0" dirty="0">
                <a:solidFill>
                  <a:srgbClr val="D4D4D4"/>
                </a:solidFill>
                <a:effectLst/>
                <a:latin typeface="Consolas" panose="020B0609020204030204" pitchFamily="49" charset="0"/>
              </a:rPr>
              <a:t>(</a:t>
            </a:r>
            <a:r>
              <a:rPr lang="en-US" sz="1400" b="0" dirty="0">
                <a:solidFill>
                  <a:srgbClr val="CE9178"/>
                </a:solidFill>
                <a:effectLst/>
                <a:latin typeface="Consolas" panose="020B0609020204030204" pitchFamily="49" charset="0"/>
              </a:rPr>
              <a:t>"Number 2 is greater"</a:t>
            </a:r>
            <a:r>
              <a:rPr lang="en-US" sz="1400" b="0" dirty="0">
                <a:solidFill>
                  <a:srgbClr val="D4D4D4"/>
                </a:solidFill>
                <a:effectLst/>
                <a:latin typeface="Consolas" panose="020B0609020204030204" pitchFamily="49" charset="0"/>
              </a:rPr>
              <a:t>)</a:t>
            </a:r>
          </a:p>
        </p:txBody>
      </p:sp>
      <p:sp>
        <p:nvSpPr>
          <p:cNvPr id="11" name="TextBox 10">
            <a:extLst>
              <a:ext uri="{FF2B5EF4-FFF2-40B4-BE49-F238E27FC236}">
                <a16:creationId xmlns:a16="http://schemas.microsoft.com/office/drawing/2014/main" id="{D3D407ED-ABFF-4240-9D26-A9AE56EDE42D}"/>
              </a:ext>
            </a:extLst>
          </p:cNvPr>
          <p:cNvSpPr txBox="1"/>
          <p:nvPr/>
        </p:nvSpPr>
        <p:spPr>
          <a:xfrm>
            <a:off x="7412182" y="4455618"/>
            <a:ext cx="3778557" cy="45499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dirty="0">
                <a:solidFill>
                  <a:schemeClr val="bg2">
                    <a:lumMod val="10000"/>
                  </a:schemeClr>
                </a:solidFill>
              </a:rPr>
              <a:t>This file name is “</a:t>
            </a:r>
            <a:r>
              <a:rPr lang="en-US" b="1" dirty="0">
                <a:solidFill>
                  <a:schemeClr val="bg2">
                    <a:lumMod val="10000"/>
                  </a:schemeClr>
                </a:solidFill>
              </a:rPr>
              <a:t>myModule</a:t>
            </a:r>
            <a:r>
              <a:rPr lang="en-US" dirty="0">
                <a:solidFill>
                  <a:schemeClr val="bg2">
                    <a:lumMod val="10000"/>
                  </a:schemeClr>
                </a:solidFill>
              </a:rPr>
              <a:t>.</a:t>
            </a:r>
            <a:r>
              <a:rPr lang="en-US" b="1" dirty="0">
                <a:solidFill>
                  <a:schemeClr val="bg2">
                    <a:lumMod val="10000"/>
                  </a:schemeClr>
                </a:solidFill>
              </a:rPr>
              <a:t>py”</a:t>
            </a:r>
          </a:p>
        </p:txBody>
      </p:sp>
      <p:sp>
        <p:nvSpPr>
          <p:cNvPr id="3" name="Arrow: Right 2">
            <a:extLst>
              <a:ext uri="{FF2B5EF4-FFF2-40B4-BE49-F238E27FC236}">
                <a16:creationId xmlns:a16="http://schemas.microsoft.com/office/drawing/2014/main" id="{B2947B5B-7613-485E-A7D8-D11C9E74864D}"/>
              </a:ext>
            </a:extLst>
          </p:cNvPr>
          <p:cNvSpPr/>
          <p:nvPr/>
        </p:nvSpPr>
        <p:spPr>
          <a:xfrm>
            <a:off x="5860473" y="4517323"/>
            <a:ext cx="1551710" cy="372049"/>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534557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8016756" cy="767686"/>
          </a:xfrm>
        </p:spPr>
        <p:txBody>
          <a:bodyPr>
            <a:normAutofit fontScale="90000"/>
          </a:bodyPr>
          <a:lstStyle/>
          <a:p>
            <a:r>
              <a:rPr lang="en-US" sz="3600" dirty="0"/>
              <a:t>How to use a user-defined Module?</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4</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954079" y="2395580"/>
            <a:ext cx="10699480" cy="495457"/>
          </a:xfrm>
          <a:prstGeom prst="rect">
            <a:avLst/>
          </a:prstGeom>
          <a:noFill/>
        </p:spPr>
        <p:txBody>
          <a:bodyPr wrap="square" rtlCol="0">
            <a:spAutoFit/>
          </a:bodyPr>
          <a:lstStyle/>
          <a:p>
            <a:pPr algn="l">
              <a:lnSpc>
                <a:spcPct val="150000"/>
              </a:lnSpc>
            </a:pPr>
            <a:r>
              <a:rPr lang="en-US" sz="2000" dirty="0">
                <a:solidFill>
                  <a:schemeClr val="bg2">
                    <a:lumMod val="10000"/>
                  </a:schemeClr>
                </a:solidFill>
              </a:rPr>
              <a:t>If you want to use the module just import in your Python file.</a:t>
            </a:r>
          </a:p>
        </p:txBody>
      </p:sp>
      <p:sp>
        <p:nvSpPr>
          <p:cNvPr id="10" name="TextBox 9">
            <a:extLst>
              <a:ext uri="{FF2B5EF4-FFF2-40B4-BE49-F238E27FC236}">
                <a16:creationId xmlns:a16="http://schemas.microsoft.com/office/drawing/2014/main" id="{2361F62B-DBD1-43FD-89F8-6DBFC1634E75}"/>
              </a:ext>
            </a:extLst>
          </p:cNvPr>
          <p:cNvSpPr txBox="1"/>
          <p:nvPr/>
        </p:nvSpPr>
        <p:spPr>
          <a:xfrm>
            <a:off x="1051064" y="3350613"/>
            <a:ext cx="4809409" cy="1815882"/>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sz="1600" b="0" dirty="0">
                <a:solidFill>
                  <a:srgbClr val="C586C0"/>
                </a:solidFill>
                <a:effectLst/>
                <a:latin typeface="Consolas" panose="020B0609020204030204" pitchFamily="49" charset="0"/>
              </a:rPr>
              <a:t>import</a:t>
            </a:r>
            <a:r>
              <a:rPr lang="en-US" sz="1600" b="0" dirty="0">
                <a:solidFill>
                  <a:srgbClr val="D4D4D4"/>
                </a:solidFill>
                <a:effectLst/>
                <a:latin typeface="Consolas" panose="020B0609020204030204" pitchFamily="49" charset="0"/>
              </a:rPr>
              <a:t> </a:t>
            </a:r>
            <a:r>
              <a:rPr lang="en-US" sz="1600" b="0" dirty="0" err="1">
                <a:solidFill>
                  <a:srgbClr val="4EC9B0"/>
                </a:solidFill>
                <a:effectLst/>
                <a:latin typeface="Consolas" panose="020B0609020204030204" pitchFamily="49" charset="0"/>
              </a:rPr>
              <a:t>myModule</a:t>
            </a:r>
            <a:endParaRPr lang="en-US" sz="1600" b="0" dirty="0">
              <a:solidFill>
                <a:srgbClr val="D4D4D4"/>
              </a:solidFill>
              <a:effectLst/>
              <a:latin typeface="Consolas" panose="020B0609020204030204" pitchFamily="49" charset="0"/>
            </a:endParaRPr>
          </a:p>
          <a:p>
            <a:br>
              <a:rPr lang="en-US" sz="1600" b="0" dirty="0">
                <a:solidFill>
                  <a:srgbClr val="D4D4D4"/>
                </a:solidFill>
                <a:effectLst/>
                <a:latin typeface="Consolas" panose="020B0609020204030204" pitchFamily="49" charset="0"/>
              </a:rPr>
            </a:br>
            <a:r>
              <a:rPr lang="en-US" sz="1600" b="0" dirty="0" err="1">
                <a:solidFill>
                  <a:srgbClr val="4EC9B0"/>
                </a:solidFill>
                <a:effectLst/>
                <a:latin typeface="Consolas" panose="020B0609020204030204" pitchFamily="49" charset="0"/>
              </a:rPr>
              <a:t>myModule</a:t>
            </a:r>
            <a:r>
              <a:rPr lang="en-US" sz="1600" b="0" dirty="0" err="1">
                <a:solidFill>
                  <a:srgbClr val="D4D4D4"/>
                </a:solidFill>
                <a:effectLst/>
                <a:latin typeface="Consolas" panose="020B0609020204030204" pitchFamily="49" charset="0"/>
              </a:rPr>
              <a:t>.</a:t>
            </a:r>
            <a:r>
              <a:rPr lang="en-US" sz="1600" b="0" dirty="0" err="1">
                <a:solidFill>
                  <a:srgbClr val="DCDCAA"/>
                </a:solidFill>
                <a:effectLst/>
                <a:latin typeface="Consolas" panose="020B0609020204030204" pitchFamily="49" charset="0"/>
              </a:rPr>
              <a:t>greeting</a:t>
            </a:r>
            <a:r>
              <a:rPr lang="en-US" sz="1600" b="0" dirty="0">
                <a:solidFill>
                  <a:srgbClr val="D4D4D4"/>
                </a:solidFill>
                <a:effectLst/>
                <a:latin typeface="Consolas" panose="020B0609020204030204" pitchFamily="49" charset="0"/>
              </a:rPr>
              <a:t>(</a:t>
            </a:r>
            <a:r>
              <a:rPr lang="en-US" sz="1600" b="0" dirty="0">
                <a:solidFill>
                  <a:srgbClr val="CE9178"/>
                </a:solidFill>
                <a:effectLst/>
                <a:latin typeface="Consolas" panose="020B0609020204030204" pitchFamily="49" charset="0"/>
              </a:rPr>
              <a:t>"Babar"</a:t>
            </a:r>
            <a:r>
              <a:rPr lang="en-US" sz="1600" b="0" dirty="0">
                <a:solidFill>
                  <a:srgbClr val="D4D4D4"/>
                </a:solidFill>
                <a:effectLst/>
                <a:latin typeface="Consolas" panose="020B0609020204030204" pitchFamily="49" charset="0"/>
              </a:rPr>
              <a:t>)</a:t>
            </a:r>
          </a:p>
          <a:p>
            <a:endParaRPr lang="en-US" sz="1600" b="0" dirty="0">
              <a:solidFill>
                <a:srgbClr val="D4D4D4"/>
              </a:solidFill>
              <a:effectLst/>
              <a:latin typeface="Consolas" panose="020B0609020204030204" pitchFamily="49" charset="0"/>
            </a:endParaRPr>
          </a:p>
          <a:p>
            <a:r>
              <a:rPr lang="en-US" sz="1600" b="0" dirty="0" err="1">
                <a:solidFill>
                  <a:srgbClr val="4EC9B0"/>
                </a:solidFill>
                <a:effectLst/>
                <a:latin typeface="Consolas" panose="020B0609020204030204" pitchFamily="49" charset="0"/>
              </a:rPr>
              <a:t>myModule</a:t>
            </a:r>
            <a:r>
              <a:rPr lang="en-US" sz="1600" b="0" dirty="0" err="1">
                <a:solidFill>
                  <a:srgbClr val="D4D4D4"/>
                </a:solidFill>
                <a:effectLst/>
                <a:latin typeface="Consolas" panose="020B0609020204030204" pitchFamily="49" charset="0"/>
              </a:rPr>
              <a:t>.</a:t>
            </a:r>
            <a:r>
              <a:rPr lang="en-US" sz="1600" b="0" dirty="0" err="1">
                <a:solidFill>
                  <a:srgbClr val="DCDCAA"/>
                </a:solidFill>
                <a:effectLst/>
                <a:latin typeface="Consolas" panose="020B0609020204030204" pitchFamily="49" charset="0"/>
              </a:rPr>
              <a:t>Even_Odd</a:t>
            </a:r>
            <a:r>
              <a:rPr lang="en-US" sz="1600" b="0" dirty="0">
                <a:solidFill>
                  <a:srgbClr val="D4D4D4"/>
                </a:solidFill>
                <a:effectLst/>
                <a:latin typeface="Consolas" panose="020B0609020204030204" pitchFamily="49" charset="0"/>
              </a:rPr>
              <a:t>(</a:t>
            </a:r>
            <a:r>
              <a:rPr lang="en-US" sz="1600" b="0" dirty="0">
                <a:solidFill>
                  <a:srgbClr val="B5CEA8"/>
                </a:solidFill>
                <a:effectLst/>
                <a:latin typeface="Consolas" panose="020B0609020204030204" pitchFamily="49" charset="0"/>
              </a:rPr>
              <a:t>21</a:t>
            </a:r>
            <a:r>
              <a:rPr lang="en-US" sz="1600" b="0" dirty="0">
                <a:solidFill>
                  <a:srgbClr val="D4D4D4"/>
                </a:solidFill>
                <a:effectLst/>
                <a:latin typeface="Consolas" panose="020B0609020204030204" pitchFamily="49" charset="0"/>
              </a:rPr>
              <a:t>)</a:t>
            </a:r>
          </a:p>
          <a:p>
            <a:endParaRPr lang="en-US" sz="1600" b="0" dirty="0">
              <a:solidFill>
                <a:srgbClr val="4EC9B0"/>
              </a:solidFill>
              <a:effectLst/>
              <a:latin typeface="Consolas" panose="020B0609020204030204" pitchFamily="49" charset="0"/>
            </a:endParaRPr>
          </a:p>
          <a:p>
            <a:r>
              <a:rPr lang="en-US" sz="1600" b="0" dirty="0" err="1">
                <a:solidFill>
                  <a:srgbClr val="4EC9B0"/>
                </a:solidFill>
                <a:effectLst/>
                <a:latin typeface="Consolas" panose="020B0609020204030204" pitchFamily="49" charset="0"/>
              </a:rPr>
              <a:t>myModule</a:t>
            </a:r>
            <a:r>
              <a:rPr lang="en-US" sz="1600" b="0" dirty="0" err="1">
                <a:solidFill>
                  <a:srgbClr val="D4D4D4"/>
                </a:solidFill>
                <a:effectLst/>
                <a:latin typeface="Consolas" panose="020B0609020204030204" pitchFamily="49" charset="0"/>
              </a:rPr>
              <a:t>.</a:t>
            </a:r>
            <a:r>
              <a:rPr lang="en-US" sz="1600" b="0" dirty="0" err="1">
                <a:solidFill>
                  <a:srgbClr val="DCDCAA"/>
                </a:solidFill>
                <a:effectLst/>
                <a:latin typeface="Consolas" panose="020B0609020204030204" pitchFamily="49" charset="0"/>
              </a:rPr>
              <a:t>Find_maximum</a:t>
            </a:r>
            <a:r>
              <a:rPr lang="en-US" sz="1600" b="0" dirty="0">
                <a:solidFill>
                  <a:srgbClr val="D4D4D4"/>
                </a:solidFill>
                <a:effectLst/>
                <a:latin typeface="Consolas" panose="020B0609020204030204" pitchFamily="49" charset="0"/>
              </a:rPr>
              <a:t>(</a:t>
            </a:r>
            <a:r>
              <a:rPr lang="en-US" sz="1600" b="0" dirty="0">
                <a:solidFill>
                  <a:srgbClr val="B5CEA8"/>
                </a:solidFill>
                <a:effectLst/>
                <a:latin typeface="Consolas" panose="020B0609020204030204" pitchFamily="49" charset="0"/>
              </a:rPr>
              <a:t>30</a:t>
            </a:r>
            <a:r>
              <a:rPr lang="en-US" sz="1600" b="0" dirty="0">
                <a:solidFill>
                  <a:srgbClr val="D4D4D4"/>
                </a:solidFill>
                <a:effectLst/>
                <a:latin typeface="Consolas" panose="020B0609020204030204" pitchFamily="49" charset="0"/>
              </a:rPr>
              <a:t>, </a:t>
            </a:r>
            <a:r>
              <a:rPr lang="en-US" sz="1600" b="0" dirty="0">
                <a:solidFill>
                  <a:srgbClr val="B5CEA8"/>
                </a:solidFill>
                <a:effectLst/>
                <a:latin typeface="Consolas" panose="020B0609020204030204" pitchFamily="49" charset="0"/>
              </a:rPr>
              <a:t>50</a:t>
            </a:r>
            <a:r>
              <a:rPr lang="en-US" sz="1600" b="0" dirty="0">
                <a:solidFill>
                  <a:srgbClr val="D4D4D4"/>
                </a:solidFill>
                <a:effectLst/>
                <a:latin typeface="Consolas" panose="020B0609020204030204" pitchFamily="49" charset="0"/>
              </a:rPr>
              <a:t>)</a:t>
            </a:r>
          </a:p>
        </p:txBody>
      </p:sp>
      <p:sp>
        <p:nvSpPr>
          <p:cNvPr id="11" name="TextBox 10">
            <a:extLst>
              <a:ext uri="{FF2B5EF4-FFF2-40B4-BE49-F238E27FC236}">
                <a16:creationId xmlns:a16="http://schemas.microsoft.com/office/drawing/2014/main" id="{D3D407ED-ABFF-4240-9D26-A9AE56EDE42D}"/>
              </a:ext>
            </a:extLst>
          </p:cNvPr>
          <p:cNvSpPr txBox="1"/>
          <p:nvPr/>
        </p:nvSpPr>
        <p:spPr>
          <a:xfrm>
            <a:off x="7412183" y="4031055"/>
            <a:ext cx="3449782" cy="45499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dirty="0">
                <a:solidFill>
                  <a:schemeClr val="bg2">
                    <a:lumMod val="10000"/>
                  </a:schemeClr>
                </a:solidFill>
              </a:rPr>
              <a:t>This file name is </a:t>
            </a:r>
            <a:r>
              <a:rPr lang="en-US" b="1" dirty="0">
                <a:solidFill>
                  <a:schemeClr val="bg2">
                    <a:lumMod val="10000"/>
                  </a:schemeClr>
                </a:solidFill>
              </a:rPr>
              <a:t>“practice</a:t>
            </a:r>
            <a:r>
              <a:rPr lang="en-US" dirty="0">
                <a:solidFill>
                  <a:schemeClr val="bg2">
                    <a:lumMod val="10000"/>
                  </a:schemeClr>
                </a:solidFill>
              </a:rPr>
              <a:t>.</a:t>
            </a:r>
            <a:r>
              <a:rPr lang="en-US" b="1" dirty="0">
                <a:solidFill>
                  <a:schemeClr val="bg2">
                    <a:lumMod val="10000"/>
                  </a:schemeClr>
                </a:solidFill>
              </a:rPr>
              <a:t>py”</a:t>
            </a:r>
          </a:p>
        </p:txBody>
      </p:sp>
      <p:sp>
        <p:nvSpPr>
          <p:cNvPr id="3" name="Arrow: Right 2">
            <a:extLst>
              <a:ext uri="{FF2B5EF4-FFF2-40B4-BE49-F238E27FC236}">
                <a16:creationId xmlns:a16="http://schemas.microsoft.com/office/drawing/2014/main" id="{B2947B5B-7613-485E-A7D8-D11C9E74864D}"/>
              </a:ext>
            </a:extLst>
          </p:cNvPr>
          <p:cNvSpPr/>
          <p:nvPr/>
        </p:nvSpPr>
        <p:spPr>
          <a:xfrm>
            <a:off x="5860472" y="4072529"/>
            <a:ext cx="1551710" cy="372049"/>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803136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213191" cy="767686"/>
          </a:xfrm>
        </p:spPr>
        <p:txBody>
          <a:bodyPr>
            <a:normAutofit/>
          </a:bodyPr>
          <a:lstStyle/>
          <a:p>
            <a:r>
              <a:rPr lang="en-US" sz="3600" dirty="0"/>
              <a:t>Re-naming a Module</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5</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954079" y="2395580"/>
            <a:ext cx="10699480" cy="495457"/>
          </a:xfrm>
          <a:prstGeom prst="rect">
            <a:avLst/>
          </a:prstGeom>
          <a:noFill/>
        </p:spPr>
        <p:txBody>
          <a:bodyPr wrap="square" rtlCol="0">
            <a:spAutoFit/>
          </a:bodyPr>
          <a:lstStyle/>
          <a:p>
            <a:pPr algn="l">
              <a:lnSpc>
                <a:spcPct val="150000"/>
              </a:lnSpc>
            </a:pPr>
            <a:r>
              <a:rPr lang="en-US" sz="2000" dirty="0">
                <a:solidFill>
                  <a:schemeClr val="bg2">
                    <a:lumMod val="10000"/>
                  </a:schemeClr>
                </a:solidFill>
              </a:rPr>
              <a:t>You can create an alias when you import a module, by using the as keyword.</a:t>
            </a:r>
          </a:p>
        </p:txBody>
      </p:sp>
      <p:sp>
        <p:nvSpPr>
          <p:cNvPr id="10" name="TextBox 9">
            <a:extLst>
              <a:ext uri="{FF2B5EF4-FFF2-40B4-BE49-F238E27FC236}">
                <a16:creationId xmlns:a16="http://schemas.microsoft.com/office/drawing/2014/main" id="{2361F62B-DBD1-43FD-89F8-6DBFC1634E75}"/>
              </a:ext>
            </a:extLst>
          </p:cNvPr>
          <p:cNvSpPr txBox="1"/>
          <p:nvPr/>
        </p:nvSpPr>
        <p:spPr>
          <a:xfrm>
            <a:off x="1051064" y="3350613"/>
            <a:ext cx="4809409" cy="1815882"/>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sz="1600" b="0" dirty="0">
                <a:solidFill>
                  <a:srgbClr val="C586C0"/>
                </a:solidFill>
                <a:effectLst/>
                <a:latin typeface="Consolas" panose="020B0609020204030204" pitchFamily="49" charset="0"/>
              </a:rPr>
              <a:t>import</a:t>
            </a:r>
            <a:r>
              <a:rPr lang="en-US" sz="1600" b="0" dirty="0">
                <a:solidFill>
                  <a:srgbClr val="D4D4D4"/>
                </a:solidFill>
                <a:effectLst/>
                <a:latin typeface="Consolas" panose="020B0609020204030204" pitchFamily="49" charset="0"/>
              </a:rPr>
              <a:t> </a:t>
            </a:r>
            <a:r>
              <a:rPr lang="en-US" sz="1600" b="0" dirty="0" err="1">
                <a:solidFill>
                  <a:srgbClr val="4EC9B0"/>
                </a:solidFill>
                <a:effectLst/>
                <a:latin typeface="Consolas" panose="020B0609020204030204" pitchFamily="49" charset="0"/>
              </a:rPr>
              <a:t>myModule</a:t>
            </a:r>
            <a:r>
              <a:rPr lang="en-US" sz="1600" b="0" dirty="0">
                <a:solidFill>
                  <a:srgbClr val="D4D4D4"/>
                </a:solidFill>
                <a:effectLst/>
                <a:latin typeface="Consolas" panose="020B0609020204030204" pitchFamily="49" charset="0"/>
              </a:rPr>
              <a:t> </a:t>
            </a:r>
            <a:r>
              <a:rPr lang="en-US" sz="1600" b="0" dirty="0">
                <a:solidFill>
                  <a:srgbClr val="569CD6"/>
                </a:solidFill>
                <a:effectLst/>
                <a:latin typeface="Consolas" panose="020B0609020204030204" pitchFamily="49" charset="0"/>
              </a:rPr>
              <a:t>as</a:t>
            </a:r>
            <a:r>
              <a:rPr lang="en-US" sz="1600" b="0" dirty="0">
                <a:solidFill>
                  <a:srgbClr val="D4D4D4"/>
                </a:solidFill>
                <a:effectLst/>
                <a:latin typeface="Consolas" panose="020B0609020204030204" pitchFamily="49" charset="0"/>
              </a:rPr>
              <a:t> </a:t>
            </a:r>
            <a:r>
              <a:rPr lang="en-US" sz="1600" b="0" dirty="0">
                <a:solidFill>
                  <a:srgbClr val="4EC9B0"/>
                </a:solidFill>
                <a:effectLst/>
                <a:latin typeface="Consolas" panose="020B0609020204030204" pitchFamily="49" charset="0"/>
              </a:rPr>
              <a:t>mx</a:t>
            </a:r>
            <a:endParaRPr lang="en-US" sz="1600" b="0" dirty="0">
              <a:solidFill>
                <a:srgbClr val="D4D4D4"/>
              </a:solidFill>
              <a:effectLst/>
              <a:latin typeface="Consolas" panose="020B0609020204030204" pitchFamily="49" charset="0"/>
            </a:endParaRPr>
          </a:p>
          <a:p>
            <a:br>
              <a:rPr lang="en-US" sz="1600" b="0" dirty="0">
                <a:solidFill>
                  <a:srgbClr val="D4D4D4"/>
                </a:solidFill>
                <a:effectLst/>
                <a:latin typeface="Consolas" panose="020B0609020204030204" pitchFamily="49" charset="0"/>
              </a:rPr>
            </a:br>
            <a:r>
              <a:rPr lang="en-US" sz="1600" b="0" dirty="0" err="1">
                <a:solidFill>
                  <a:srgbClr val="4EC9B0"/>
                </a:solidFill>
                <a:effectLst/>
                <a:latin typeface="Consolas" panose="020B0609020204030204" pitchFamily="49" charset="0"/>
              </a:rPr>
              <a:t>mx</a:t>
            </a:r>
            <a:r>
              <a:rPr lang="en-US" sz="1600" b="0" dirty="0" err="1">
                <a:solidFill>
                  <a:srgbClr val="D4D4D4"/>
                </a:solidFill>
                <a:effectLst/>
                <a:latin typeface="Consolas" panose="020B0609020204030204" pitchFamily="49" charset="0"/>
              </a:rPr>
              <a:t>.</a:t>
            </a:r>
            <a:r>
              <a:rPr lang="en-US" sz="1600" b="0" dirty="0" err="1">
                <a:solidFill>
                  <a:srgbClr val="DCDCAA"/>
                </a:solidFill>
                <a:effectLst/>
                <a:latin typeface="Consolas" panose="020B0609020204030204" pitchFamily="49" charset="0"/>
              </a:rPr>
              <a:t>greeting</a:t>
            </a:r>
            <a:r>
              <a:rPr lang="en-US" sz="1600" b="0" dirty="0">
                <a:solidFill>
                  <a:srgbClr val="D4D4D4"/>
                </a:solidFill>
                <a:effectLst/>
                <a:latin typeface="Consolas" panose="020B0609020204030204" pitchFamily="49" charset="0"/>
              </a:rPr>
              <a:t>(</a:t>
            </a:r>
            <a:r>
              <a:rPr lang="en-US" sz="1600" b="0" dirty="0">
                <a:solidFill>
                  <a:srgbClr val="CE9178"/>
                </a:solidFill>
                <a:effectLst/>
                <a:latin typeface="Consolas" panose="020B0609020204030204" pitchFamily="49" charset="0"/>
              </a:rPr>
              <a:t>"Babar"</a:t>
            </a:r>
            <a:r>
              <a:rPr lang="en-US" sz="1600" b="0" dirty="0">
                <a:solidFill>
                  <a:srgbClr val="D4D4D4"/>
                </a:solidFill>
                <a:effectLst/>
                <a:latin typeface="Consolas" panose="020B0609020204030204" pitchFamily="49" charset="0"/>
              </a:rPr>
              <a:t>)</a:t>
            </a:r>
          </a:p>
          <a:p>
            <a:br>
              <a:rPr lang="en-US" sz="1600" b="0" dirty="0">
                <a:solidFill>
                  <a:srgbClr val="D4D4D4"/>
                </a:solidFill>
                <a:effectLst/>
                <a:latin typeface="Consolas" panose="020B0609020204030204" pitchFamily="49" charset="0"/>
              </a:rPr>
            </a:br>
            <a:r>
              <a:rPr lang="en-US" sz="1600" b="0" dirty="0" err="1">
                <a:solidFill>
                  <a:srgbClr val="4EC9B0"/>
                </a:solidFill>
                <a:effectLst/>
                <a:latin typeface="Consolas" panose="020B0609020204030204" pitchFamily="49" charset="0"/>
              </a:rPr>
              <a:t>mx</a:t>
            </a:r>
            <a:r>
              <a:rPr lang="en-US" sz="1600" b="0" dirty="0" err="1">
                <a:solidFill>
                  <a:srgbClr val="D4D4D4"/>
                </a:solidFill>
                <a:effectLst/>
                <a:latin typeface="Consolas" panose="020B0609020204030204" pitchFamily="49" charset="0"/>
              </a:rPr>
              <a:t>.</a:t>
            </a:r>
            <a:r>
              <a:rPr lang="en-US" sz="1600" b="0" dirty="0" err="1">
                <a:solidFill>
                  <a:srgbClr val="DCDCAA"/>
                </a:solidFill>
                <a:effectLst/>
                <a:latin typeface="Consolas" panose="020B0609020204030204" pitchFamily="49" charset="0"/>
              </a:rPr>
              <a:t>Even_Odd</a:t>
            </a:r>
            <a:r>
              <a:rPr lang="en-US" sz="1600" b="0" dirty="0">
                <a:solidFill>
                  <a:srgbClr val="D4D4D4"/>
                </a:solidFill>
                <a:effectLst/>
                <a:latin typeface="Consolas" panose="020B0609020204030204" pitchFamily="49" charset="0"/>
              </a:rPr>
              <a:t>(</a:t>
            </a:r>
            <a:r>
              <a:rPr lang="en-US" sz="1600" b="0" dirty="0">
                <a:solidFill>
                  <a:srgbClr val="B5CEA8"/>
                </a:solidFill>
                <a:effectLst/>
                <a:latin typeface="Consolas" panose="020B0609020204030204" pitchFamily="49" charset="0"/>
              </a:rPr>
              <a:t>21</a:t>
            </a:r>
            <a:r>
              <a:rPr lang="en-US" sz="1600" b="0" dirty="0">
                <a:solidFill>
                  <a:srgbClr val="D4D4D4"/>
                </a:solidFill>
                <a:effectLst/>
                <a:latin typeface="Consolas" panose="020B0609020204030204" pitchFamily="49" charset="0"/>
              </a:rPr>
              <a:t>)</a:t>
            </a:r>
          </a:p>
          <a:p>
            <a:br>
              <a:rPr lang="en-US" sz="1600" b="0" dirty="0">
                <a:solidFill>
                  <a:srgbClr val="D4D4D4"/>
                </a:solidFill>
                <a:effectLst/>
                <a:latin typeface="Consolas" panose="020B0609020204030204" pitchFamily="49" charset="0"/>
              </a:rPr>
            </a:br>
            <a:r>
              <a:rPr lang="en-US" sz="1600" b="0" dirty="0" err="1">
                <a:solidFill>
                  <a:srgbClr val="4EC9B0"/>
                </a:solidFill>
                <a:effectLst/>
                <a:latin typeface="Consolas" panose="020B0609020204030204" pitchFamily="49" charset="0"/>
              </a:rPr>
              <a:t>mx</a:t>
            </a:r>
            <a:r>
              <a:rPr lang="en-US" sz="1600" b="0" dirty="0" err="1">
                <a:solidFill>
                  <a:srgbClr val="D4D4D4"/>
                </a:solidFill>
                <a:effectLst/>
                <a:latin typeface="Consolas" panose="020B0609020204030204" pitchFamily="49" charset="0"/>
              </a:rPr>
              <a:t>.</a:t>
            </a:r>
            <a:r>
              <a:rPr lang="en-US" sz="1600" b="0" dirty="0" err="1">
                <a:solidFill>
                  <a:srgbClr val="DCDCAA"/>
                </a:solidFill>
                <a:effectLst/>
                <a:latin typeface="Consolas" panose="020B0609020204030204" pitchFamily="49" charset="0"/>
              </a:rPr>
              <a:t>Find_maximum</a:t>
            </a:r>
            <a:r>
              <a:rPr lang="en-US" sz="1600" b="0" dirty="0">
                <a:solidFill>
                  <a:srgbClr val="D4D4D4"/>
                </a:solidFill>
                <a:effectLst/>
                <a:latin typeface="Consolas" panose="020B0609020204030204" pitchFamily="49" charset="0"/>
              </a:rPr>
              <a:t>(</a:t>
            </a:r>
            <a:r>
              <a:rPr lang="en-US" sz="1600" b="0" dirty="0">
                <a:solidFill>
                  <a:srgbClr val="B5CEA8"/>
                </a:solidFill>
                <a:effectLst/>
                <a:latin typeface="Consolas" panose="020B0609020204030204" pitchFamily="49" charset="0"/>
              </a:rPr>
              <a:t>30</a:t>
            </a:r>
            <a:r>
              <a:rPr lang="en-US" sz="1600" b="0" dirty="0">
                <a:solidFill>
                  <a:srgbClr val="D4D4D4"/>
                </a:solidFill>
                <a:effectLst/>
                <a:latin typeface="Consolas" panose="020B0609020204030204" pitchFamily="49" charset="0"/>
              </a:rPr>
              <a:t>, </a:t>
            </a:r>
            <a:r>
              <a:rPr lang="en-US" sz="1600" b="0" dirty="0">
                <a:solidFill>
                  <a:srgbClr val="B5CEA8"/>
                </a:solidFill>
                <a:effectLst/>
                <a:latin typeface="Consolas" panose="020B0609020204030204" pitchFamily="49" charset="0"/>
              </a:rPr>
              <a:t>50</a:t>
            </a:r>
            <a:r>
              <a:rPr lang="en-US" sz="1600" b="0" dirty="0">
                <a:solidFill>
                  <a:srgbClr val="D4D4D4"/>
                </a:solidFill>
                <a:effectLst/>
                <a:latin typeface="Consolas" panose="020B0609020204030204" pitchFamily="49" charset="0"/>
              </a:rPr>
              <a:t>)</a:t>
            </a:r>
          </a:p>
        </p:txBody>
      </p:sp>
      <p:sp>
        <p:nvSpPr>
          <p:cNvPr id="11" name="TextBox 10">
            <a:extLst>
              <a:ext uri="{FF2B5EF4-FFF2-40B4-BE49-F238E27FC236}">
                <a16:creationId xmlns:a16="http://schemas.microsoft.com/office/drawing/2014/main" id="{D3D407ED-ABFF-4240-9D26-A9AE56EDE42D}"/>
              </a:ext>
            </a:extLst>
          </p:cNvPr>
          <p:cNvSpPr txBox="1"/>
          <p:nvPr/>
        </p:nvSpPr>
        <p:spPr>
          <a:xfrm>
            <a:off x="7412182" y="4031055"/>
            <a:ext cx="3778557" cy="45499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dirty="0">
                <a:solidFill>
                  <a:schemeClr val="bg2">
                    <a:lumMod val="10000"/>
                  </a:schemeClr>
                </a:solidFill>
              </a:rPr>
              <a:t>This file name is </a:t>
            </a:r>
            <a:r>
              <a:rPr lang="en-US" b="1" dirty="0">
                <a:solidFill>
                  <a:schemeClr val="bg2">
                    <a:lumMod val="10000"/>
                  </a:schemeClr>
                </a:solidFill>
              </a:rPr>
              <a:t>“practice</a:t>
            </a:r>
            <a:r>
              <a:rPr lang="en-US" dirty="0">
                <a:solidFill>
                  <a:schemeClr val="bg2">
                    <a:lumMod val="10000"/>
                  </a:schemeClr>
                </a:solidFill>
              </a:rPr>
              <a:t>.</a:t>
            </a:r>
            <a:r>
              <a:rPr lang="en-US" b="1" dirty="0">
                <a:solidFill>
                  <a:schemeClr val="bg2">
                    <a:lumMod val="10000"/>
                  </a:schemeClr>
                </a:solidFill>
              </a:rPr>
              <a:t>py”</a:t>
            </a:r>
          </a:p>
        </p:txBody>
      </p:sp>
      <p:sp>
        <p:nvSpPr>
          <p:cNvPr id="3" name="Arrow: Right 2">
            <a:extLst>
              <a:ext uri="{FF2B5EF4-FFF2-40B4-BE49-F238E27FC236}">
                <a16:creationId xmlns:a16="http://schemas.microsoft.com/office/drawing/2014/main" id="{B2947B5B-7613-485E-A7D8-D11C9E74864D}"/>
              </a:ext>
            </a:extLst>
          </p:cNvPr>
          <p:cNvSpPr/>
          <p:nvPr/>
        </p:nvSpPr>
        <p:spPr>
          <a:xfrm>
            <a:off x="5860472" y="4072529"/>
            <a:ext cx="1551710" cy="372049"/>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495205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213191" cy="767686"/>
          </a:xfrm>
        </p:spPr>
        <p:txBody>
          <a:bodyPr>
            <a:normAutofit/>
          </a:bodyPr>
          <a:lstStyle/>
          <a:p>
            <a:r>
              <a:rPr lang="en-US" sz="3600" dirty="0"/>
              <a:t>Import From Modules</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6</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954079" y="2395580"/>
            <a:ext cx="10699480" cy="495457"/>
          </a:xfrm>
          <a:prstGeom prst="rect">
            <a:avLst/>
          </a:prstGeom>
          <a:noFill/>
        </p:spPr>
        <p:txBody>
          <a:bodyPr wrap="square" rtlCol="0">
            <a:spAutoFit/>
          </a:bodyPr>
          <a:lstStyle/>
          <a:p>
            <a:pPr algn="l">
              <a:lnSpc>
                <a:spcPct val="150000"/>
              </a:lnSpc>
            </a:pPr>
            <a:r>
              <a:rPr lang="en-US" sz="2000" dirty="0">
                <a:solidFill>
                  <a:schemeClr val="bg2">
                    <a:lumMod val="10000"/>
                  </a:schemeClr>
                </a:solidFill>
              </a:rPr>
              <a:t>You can choose to import only parts from a module, by using the </a:t>
            </a:r>
            <a:r>
              <a:rPr lang="en-US" sz="2000" b="1" dirty="0">
                <a:solidFill>
                  <a:schemeClr val="bg2">
                    <a:lumMod val="10000"/>
                  </a:schemeClr>
                </a:solidFill>
              </a:rPr>
              <a:t>from</a:t>
            </a:r>
            <a:r>
              <a:rPr lang="en-US" sz="2000" dirty="0">
                <a:solidFill>
                  <a:schemeClr val="bg2">
                    <a:lumMod val="10000"/>
                  </a:schemeClr>
                </a:solidFill>
              </a:rPr>
              <a:t> keyword.</a:t>
            </a:r>
          </a:p>
        </p:txBody>
      </p:sp>
      <p:sp>
        <p:nvSpPr>
          <p:cNvPr id="10" name="TextBox 9">
            <a:extLst>
              <a:ext uri="{FF2B5EF4-FFF2-40B4-BE49-F238E27FC236}">
                <a16:creationId xmlns:a16="http://schemas.microsoft.com/office/drawing/2014/main" id="{2361F62B-DBD1-43FD-89F8-6DBFC1634E75}"/>
              </a:ext>
            </a:extLst>
          </p:cNvPr>
          <p:cNvSpPr txBox="1"/>
          <p:nvPr/>
        </p:nvSpPr>
        <p:spPr>
          <a:xfrm>
            <a:off x="1099536" y="3163573"/>
            <a:ext cx="5938574" cy="2585323"/>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b="0" dirty="0">
                <a:solidFill>
                  <a:srgbClr val="C586C0"/>
                </a:solidFill>
                <a:effectLst/>
                <a:latin typeface="Consolas" panose="020B0609020204030204" pitchFamily="49" charset="0"/>
              </a:rPr>
              <a:t>from</a:t>
            </a:r>
            <a:r>
              <a:rPr lang="en-US" b="0" dirty="0">
                <a:solidFill>
                  <a:srgbClr val="D4D4D4"/>
                </a:solidFill>
                <a:effectLst/>
                <a:latin typeface="Consolas" panose="020B0609020204030204" pitchFamily="49" charset="0"/>
              </a:rPr>
              <a:t> </a:t>
            </a:r>
            <a:r>
              <a:rPr lang="en-US" b="0" dirty="0" err="1">
                <a:solidFill>
                  <a:srgbClr val="4EC9B0"/>
                </a:solidFill>
                <a:effectLst/>
                <a:latin typeface="Consolas" panose="020B0609020204030204" pitchFamily="49" charset="0"/>
              </a:rPr>
              <a:t>myModule</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import</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greeting</a:t>
            </a:r>
          </a:p>
          <a:p>
            <a:endParaRPr lang="en-US" b="0" dirty="0">
              <a:solidFill>
                <a:srgbClr val="D4D4D4"/>
              </a:solidFill>
              <a:effectLst/>
              <a:latin typeface="Consolas" panose="020B0609020204030204" pitchFamily="49" charset="0"/>
            </a:endParaRPr>
          </a:p>
          <a:p>
            <a:r>
              <a:rPr lang="en-US" b="0" dirty="0">
                <a:solidFill>
                  <a:srgbClr val="C586C0"/>
                </a:solidFill>
                <a:effectLst/>
                <a:latin typeface="Consolas" panose="020B0609020204030204" pitchFamily="49" charset="0"/>
              </a:rPr>
              <a:t>from</a:t>
            </a:r>
            <a:r>
              <a:rPr lang="en-US" b="0" dirty="0">
                <a:solidFill>
                  <a:srgbClr val="D4D4D4"/>
                </a:solidFill>
                <a:effectLst/>
                <a:latin typeface="Consolas" panose="020B0609020204030204" pitchFamily="49" charset="0"/>
              </a:rPr>
              <a:t> </a:t>
            </a:r>
            <a:r>
              <a:rPr lang="en-US" b="0" dirty="0" err="1">
                <a:solidFill>
                  <a:srgbClr val="4EC9B0"/>
                </a:solidFill>
                <a:effectLst/>
                <a:latin typeface="Consolas" panose="020B0609020204030204" pitchFamily="49" charset="0"/>
              </a:rPr>
              <a:t>myModule</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import</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Find_maximum</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Even_Odd</a:t>
            </a:r>
            <a:endParaRPr lang="en-US" b="0" dirty="0">
              <a:solidFill>
                <a:srgbClr val="D4D4D4"/>
              </a:solidFill>
              <a:effectLst/>
              <a:latin typeface="Consolas" panose="020B0609020204030204" pitchFamily="49" charset="0"/>
            </a:endParaRP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greeting</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"Babar"</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err="1">
                <a:solidFill>
                  <a:srgbClr val="DCDCAA"/>
                </a:solidFill>
                <a:effectLst/>
                <a:latin typeface="Consolas" panose="020B0609020204030204" pitchFamily="49" charset="0"/>
              </a:rPr>
              <a:t>Find_maximum</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30</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49</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err="1">
                <a:solidFill>
                  <a:srgbClr val="DCDCAA"/>
                </a:solidFill>
                <a:effectLst/>
                <a:latin typeface="Consolas" panose="020B0609020204030204" pitchFamily="49" charset="0"/>
              </a:rPr>
              <a:t>Even_Odd</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14</a:t>
            </a:r>
            <a:r>
              <a:rPr lang="en-US" b="0" dirty="0">
                <a:solidFill>
                  <a:srgbClr val="D4D4D4"/>
                </a:solidFill>
                <a:effectLst/>
                <a:latin typeface="Consolas" panose="020B0609020204030204" pitchFamily="49" charset="0"/>
              </a:rPr>
              <a:t>)</a:t>
            </a:r>
          </a:p>
        </p:txBody>
      </p:sp>
      <p:cxnSp>
        <p:nvCxnSpPr>
          <p:cNvPr id="4" name="Straight Arrow Connector 3">
            <a:extLst>
              <a:ext uri="{FF2B5EF4-FFF2-40B4-BE49-F238E27FC236}">
                <a16:creationId xmlns:a16="http://schemas.microsoft.com/office/drawing/2014/main" id="{5C5FC726-3EE6-4EC2-8DB3-669FA22876E1}"/>
              </a:ext>
            </a:extLst>
          </p:cNvPr>
          <p:cNvCxnSpPr/>
          <p:nvPr/>
        </p:nvCxnSpPr>
        <p:spPr>
          <a:xfrm>
            <a:off x="4932218" y="3387435"/>
            <a:ext cx="2881746"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12" name="TextBox 11">
            <a:extLst>
              <a:ext uri="{FF2B5EF4-FFF2-40B4-BE49-F238E27FC236}">
                <a16:creationId xmlns:a16="http://schemas.microsoft.com/office/drawing/2014/main" id="{61E38991-E00C-40A7-92A6-9BE8273783F4}"/>
              </a:ext>
            </a:extLst>
          </p:cNvPr>
          <p:cNvSpPr txBox="1"/>
          <p:nvPr/>
        </p:nvSpPr>
        <p:spPr>
          <a:xfrm>
            <a:off x="7813964" y="3352513"/>
            <a:ext cx="3583913" cy="87068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l">
              <a:lnSpc>
                <a:spcPct val="150000"/>
              </a:lnSpc>
            </a:pPr>
            <a:r>
              <a:rPr lang="en-US" dirty="0">
                <a:solidFill>
                  <a:schemeClr val="bg2">
                    <a:lumMod val="10000"/>
                  </a:schemeClr>
                </a:solidFill>
              </a:rPr>
              <a:t>Import only the greeting() function using </a:t>
            </a:r>
            <a:r>
              <a:rPr lang="en-US" b="1" dirty="0">
                <a:solidFill>
                  <a:schemeClr val="bg2">
                    <a:lumMod val="10000"/>
                  </a:schemeClr>
                </a:solidFill>
              </a:rPr>
              <a:t>from</a:t>
            </a:r>
            <a:r>
              <a:rPr lang="en-US" dirty="0">
                <a:solidFill>
                  <a:schemeClr val="bg2">
                    <a:lumMod val="10000"/>
                  </a:schemeClr>
                </a:solidFill>
              </a:rPr>
              <a:t> keyword. </a:t>
            </a:r>
          </a:p>
        </p:txBody>
      </p:sp>
    </p:spTree>
    <p:extLst>
      <p:ext uri="{BB962C8B-B14F-4D97-AF65-F5344CB8AC3E}">
        <p14:creationId xmlns:p14="http://schemas.microsoft.com/office/powerpoint/2010/main" val="1002806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213191" cy="767686"/>
          </a:xfrm>
        </p:spPr>
        <p:txBody>
          <a:bodyPr>
            <a:normAutofit/>
          </a:bodyPr>
          <a:lstStyle/>
          <a:p>
            <a:r>
              <a:rPr lang="en-US" sz="3600" dirty="0"/>
              <a:t>Built-in Modules</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7</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954079" y="2395580"/>
            <a:ext cx="10699480" cy="495457"/>
          </a:xfrm>
          <a:prstGeom prst="rect">
            <a:avLst/>
          </a:prstGeom>
          <a:noFill/>
        </p:spPr>
        <p:txBody>
          <a:bodyPr wrap="square" rtlCol="0">
            <a:spAutoFit/>
          </a:bodyPr>
          <a:lstStyle/>
          <a:p>
            <a:pPr algn="l">
              <a:lnSpc>
                <a:spcPct val="150000"/>
              </a:lnSpc>
            </a:pPr>
            <a:r>
              <a:rPr lang="en-US" sz="2000" dirty="0">
                <a:solidFill>
                  <a:schemeClr val="bg2">
                    <a:lumMod val="10000"/>
                  </a:schemeClr>
                </a:solidFill>
              </a:rPr>
              <a:t>There are several built-in modules in Python, which you can import whatever you like:</a:t>
            </a:r>
          </a:p>
        </p:txBody>
      </p:sp>
      <p:sp>
        <p:nvSpPr>
          <p:cNvPr id="10" name="TextBox 9">
            <a:extLst>
              <a:ext uri="{FF2B5EF4-FFF2-40B4-BE49-F238E27FC236}">
                <a16:creationId xmlns:a16="http://schemas.microsoft.com/office/drawing/2014/main" id="{2361F62B-DBD1-43FD-89F8-6DBFC1634E75}"/>
              </a:ext>
            </a:extLst>
          </p:cNvPr>
          <p:cNvSpPr txBox="1"/>
          <p:nvPr/>
        </p:nvSpPr>
        <p:spPr>
          <a:xfrm>
            <a:off x="1099536" y="3163573"/>
            <a:ext cx="5938574" cy="2862322"/>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b="0" dirty="0">
                <a:solidFill>
                  <a:srgbClr val="C586C0"/>
                </a:solidFill>
                <a:effectLst/>
                <a:latin typeface="Consolas" panose="020B0609020204030204" pitchFamily="49" charset="0"/>
              </a:rPr>
              <a:t>import</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platform</a:t>
            </a:r>
            <a:endParaRPr lang="en-US" b="0" dirty="0">
              <a:solidFill>
                <a:srgbClr val="D4D4D4"/>
              </a:solidFill>
              <a:effectLst/>
              <a:latin typeface="Consolas" panose="020B0609020204030204" pitchFamily="49" charset="0"/>
            </a:endParaRPr>
          </a:p>
          <a:p>
            <a:br>
              <a:rPr lang="en-US" b="0" dirty="0">
                <a:solidFill>
                  <a:srgbClr val="D4D4D4"/>
                </a:solidFill>
                <a:effectLst/>
                <a:latin typeface="Consolas" panose="020B0609020204030204" pitchFamily="49" charset="0"/>
              </a:rPr>
            </a:br>
            <a:r>
              <a:rPr lang="en-US" b="0" dirty="0">
                <a:solidFill>
                  <a:srgbClr val="6A9955"/>
                </a:solidFill>
                <a:effectLst/>
                <a:latin typeface="Consolas" panose="020B0609020204030204" pitchFamily="49" charset="0"/>
              </a:rPr>
              <a:t># using the platform function.</a:t>
            </a:r>
            <a:endParaRPr lang="en-US" b="0" dirty="0">
              <a:solidFill>
                <a:srgbClr val="D4D4D4"/>
              </a:solidFill>
              <a:effectLst/>
              <a:latin typeface="Consolas" panose="020B0609020204030204" pitchFamily="49" charset="0"/>
            </a:endParaRPr>
          </a:p>
          <a:p>
            <a:r>
              <a:rPr lang="en-US" b="0" dirty="0">
                <a:solidFill>
                  <a:srgbClr val="9CDCFE"/>
                </a:solidFill>
                <a:effectLst/>
                <a:latin typeface="Consolas" panose="020B0609020204030204" pitchFamily="49" charset="0"/>
              </a:rPr>
              <a:t>x</a:t>
            </a:r>
            <a:r>
              <a:rPr lang="en-US" b="0" dirty="0">
                <a:solidFill>
                  <a:srgbClr val="D4D4D4"/>
                </a:solidFill>
                <a:effectLst/>
                <a:latin typeface="Consolas" panose="020B0609020204030204" pitchFamily="49" charset="0"/>
              </a:rPr>
              <a:t> = </a:t>
            </a:r>
            <a:r>
              <a:rPr lang="en-US" b="0" dirty="0" err="1">
                <a:solidFill>
                  <a:srgbClr val="4EC9B0"/>
                </a:solidFill>
                <a:effectLst/>
                <a:latin typeface="Consolas" panose="020B0609020204030204" pitchFamily="49" charset="0"/>
              </a:rPr>
              <a:t>platform</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system</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6A9955"/>
                </a:solidFill>
                <a:effectLst/>
                <a:latin typeface="Consolas" panose="020B0609020204030204" pitchFamily="49" charset="0"/>
              </a:rPr>
              <a:t># using the </a:t>
            </a:r>
            <a:r>
              <a:rPr lang="en-US" b="0" dirty="0" err="1">
                <a:solidFill>
                  <a:srgbClr val="6A9955"/>
                </a:solidFill>
                <a:effectLst/>
                <a:latin typeface="Consolas" panose="020B0609020204030204" pitchFamily="49" charset="0"/>
              </a:rPr>
              <a:t>dir</a:t>
            </a:r>
            <a:r>
              <a:rPr lang="en-US" b="0" dirty="0">
                <a:solidFill>
                  <a:srgbClr val="6A9955"/>
                </a:solidFill>
                <a:effectLst/>
                <a:latin typeface="Consolas" panose="020B0609020204030204" pitchFamily="49" charset="0"/>
              </a:rPr>
              <a:t>() method.</a:t>
            </a:r>
            <a:endParaRPr lang="en-US" b="0" dirty="0">
              <a:solidFill>
                <a:srgbClr val="D4D4D4"/>
              </a:solidFill>
              <a:effectLst/>
              <a:latin typeface="Consolas" panose="020B0609020204030204" pitchFamily="49" charset="0"/>
            </a:endParaRPr>
          </a:p>
          <a:p>
            <a:r>
              <a:rPr lang="en-US" b="0" dirty="0">
                <a:solidFill>
                  <a:srgbClr val="9CDCFE"/>
                </a:solidFill>
                <a:effectLst/>
                <a:latin typeface="Consolas" panose="020B0609020204030204" pitchFamily="49" charset="0"/>
              </a:rPr>
              <a:t>y</a:t>
            </a:r>
            <a:r>
              <a:rPr lang="en-US" b="0" dirty="0">
                <a:solidFill>
                  <a:srgbClr val="D4D4D4"/>
                </a:solidFill>
                <a:effectLst/>
                <a:latin typeface="Consolas" panose="020B0609020204030204" pitchFamily="49" charset="0"/>
              </a:rPr>
              <a:t> = </a:t>
            </a:r>
            <a:r>
              <a:rPr lang="en-US" b="0" dirty="0" err="1">
                <a:solidFill>
                  <a:srgbClr val="DCDCAA"/>
                </a:solidFill>
                <a:effectLst/>
                <a:latin typeface="Consolas" panose="020B0609020204030204" pitchFamily="49" charset="0"/>
              </a:rPr>
              <a:t>dir</a:t>
            </a:r>
            <a:r>
              <a:rPr lang="en-US" b="0" dirty="0">
                <a:solidFill>
                  <a:srgbClr val="D4D4D4"/>
                </a:solidFill>
                <a:effectLst/>
                <a:latin typeface="Consolas" panose="020B0609020204030204" pitchFamily="49" charset="0"/>
              </a:rPr>
              <a:t>(</a:t>
            </a:r>
            <a:r>
              <a:rPr lang="en-US" b="0" dirty="0">
                <a:solidFill>
                  <a:srgbClr val="4EC9B0"/>
                </a:solidFill>
                <a:effectLst/>
                <a:latin typeface="Consolas" panose="020B0609020204030204" pitchFamily="49" charset="0"/>
              </a:rPr>
              <a:t>platform</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x</a:t>
            </a:r>
            <a:r>
              <a:rPr lang="en-US" b="0" dirty="0">
                <a:solidFill>
                  <a:srgbClr val="D4D4D4"/>
                </a:solidFill>
                <a:effectLst/>
                <a:latin typeface="Consolas" panose="020B0609020204030204" pitchFamily="49" charset="0"/>
              </a:rPr>
              <a:t>)</a:t>
            </a:r>
          </a:p>
          <a:p>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y</a:t>
            </a:r>
            <a:r>
              <a:rPr lang="en-US" b="0" dirty="0">
                <a:solidFill>
                  <a:srgbClr val="D4D4D4"/>
                </a:solidFill>
                <a:effectLst/>
                <a:latin typeface="Consolas" panose="020B0609020204030204" pitchFamily="49" charset="0"/>
              </a:rPr>
              <a:t>)</a:t>
            </a:r>
          </a:p>
        </p:txBody>
      </p:sp>
      <p:cxnSp>
        <p:nvCxnSpPr>
          <p:cNvPr id="4" name="Straight Arrow Connector 3">
            <a:extLst>
              <a:ext uri="{FF2B5EF4-FFF2-40B4-BE49-F238E27FC236}">
                <a16:creationId xmlns:a16="http://schemas.microsoft.com/office/drawing/2014/main" id="{5C5FC726-3EE6-4EC2-8DB3-669FA22876E1}"/>
              </a:ext>
            </a:extLst>
          </p:cNvPr>
          <p:cNvCxnSpPr>
            <a:cxnSpLocks/>
          </p:cNvCxnSpPr>
          <p:nvPr/>
        </p:nvCxnSpPr>
        <p:spPr>
          <a:xfrm>
            <a:off x="3338945" y="3352513"/>
            <a:ext cx="4475019" cy="3492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12" name="TextBox 11">
            <a:extLst>
              <a:ext uri="{FF2B5EF4-FFF2-40B4-BE49-F238E27FC236}">
                <a16:creationId xmlns:a16="http://schemas.microsoft.com/office/drawing/2014/main" id="{61E38991-E00C-40A7-92A6-9BE8273783F4}"/>
              </a:ext>
            </a:extLst>
          </p:cNvPr>
          <p:cNvSpPr txBox="1"/>
          <p:nvPr/>
        </p:nvSpPr>
        <p:spPr>
          <a:xfrm>
            <a:off x="7813964" y="3352513"/>
            <a:ext cx="3376775" cy="87068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l">
              <a:lnSpc>
                <a:spcPct val="150000"/>
              </a:lnSpc>
            </a:pPr>
            <a:r>
              <a:rPr lang="en-US" dirty="0">
                <a:solidFill>
                  <a:schemeClr val="bg2">
                    <a:lumMod val="10000"/>
                  </a:schemeClr>
                </a:solidFill>
              </a:rPr>
              <a:t>Import built-in method name is “</a:t>
            </a:r>
            <a:r>
              <a:rPr lang="en-US" b="1" dirty="0">
                <a:solidFill>
                  <a:schemeClr val="bg2">
                    <a:lumMod val="10000"/>
                  </a:schemeClr>
                </a:solidFill>
              </a:rPr>
              <a:t>platform</a:t>
            </a:r>
            <a:r>
              <a:rPr lang="en-US" dirty="0">
                <a:solidFill>
                  <a:schemeClr val="bg2">
                    <a:lumMod val="10000"/>
                  </a:schemeClr>
                </a:solidFill>
              </a:rPr>
              <a:t>”</a:t>
            </a:r>
          </a:p>
        </p:txBody>
      </p:sp>
    </p:spTree>
    <p:extLst>
      <p:ext uri="{BB962C8B-B14F-4D97-AF65-F5344CB8AC3E}">
        <p14:creationId xmlns:p14="http://schemas.microsoft.com/office/powerpoint/2010/main" val="1587858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ctrTitle"/>
          </p:nvPr>
        </p:nvSpPr>
        <p:spPr>
          <a:xfrm>
            <a:off x="1872877" y="3068781"/>
            <a:ext cx="8446245" cy="720438"/>
          </a:xfrm>
        </p:spPr>
        <p:txBody>
          <a:bodyPr>
            <a:noAutofit/>
          </a:bodyPr>
          <a:lstStyle/>
          <a:p>
            <a:pPr algn="ctr"/>
            <a:r>
              <a:rPr lang="en-US" sz="4400" dirty="0"/>
              <a:t>Datetime Module in Python</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8</a:t>
            </a:fld>
            <a:endParaRPr lang="en-US" dirty="0"/>
          </a:p>
        </p:txBody>
      </p:sp>
    </p:spTree>
    <p:extLst>
      <p:ext uri="{BB962C8B-B14F-4D97-AF65-F5344CB8AC3E}">
        <p14:creationId xmlns:p14="http://schemas.microsoft.com/office/powerpoint/2010/main" val="3137754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213191" cy="767686"/>
          </a:xfrm>
        </p:spPr>
        <p:txBody>
          <a:bodyPr>
            <a:normAutofit/>
          </a:bodyPr>
          <a:lstStyle/>
          <a:p>
            <a:r>
              <a:rPr lang="en-US" sz="3600" dirty="0"/>
              <a:t>Python Dates Module</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9</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967933" y="2471879"/>
            <a:ext cx="10448212" cy="957121"/>
          </a:xfrm>
          <a:prstGeom prst="rect">
            <a:avLst/>
          </a:prstGeom>
          <a:noFill/>
        </p:spPr>
        <p:txBody>
          <a:bodyPr wrap="square" rtlCol="0">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2000" dirty="0">
                <a:solidFill>
                  <a:schemeClr val="bg2">
                    <a:lumMod val="10000"/>
                  </a:schemeClr>
                </a:solidFill>
              </a:rPr>
              <a:t>A date in Python is not a data type of its own, but we can import a module named datetime to work with dates as date objects. </a:t>
            </a:r>
          </a:p>
        </p:txBody>
      </p:sp>
      <p:sp>
        <p:nvSpPr>
          <p:cNvPr id="11" name="TextBox 10">
            <a:extLst>
              <a:ext uri="{FF2B5EF4-FFF2-40B4-BE49-F238E27FC236}">
                <a16:creationId xmlns:a16="http://schemas.microsoft.com/office/drawing/2014/main" id="{E554033C-7F1E-4ACC-832E-4B7EC372FE61}"/>
              </a:ext>
            </a:extLst>
          </p:cNvPr>
          <p:cNvSpPr txBox="1"/>
          <p:nvPr/>
        </p:nvSpPr>
        <p:spPr>
          <a:xfrm>
            <a:off x="967933" y="3708691"/>
            <a:ext cx="10780722" cy="1880451"/>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en-US" sz="2000" dirty="0">
                <a:solidFill>
                  <a:schemeClr val="bg2">
                    <a:lumMod val="10000"/>
                  </a:schemeClr>
                </a:solidFill>
              </a:rPr>
              <a:t>Python Datetime module supplies classes to work with date and time. These classes provide a number of functions to deal with dates, times and time intervals. Date and datetime are an object in Python, so when you manipulate them, you are actually manipulating objects and not string or timestamps.</a:t>
            </a:r>
          </a:p>
        </p:txBody>
      </p:sp>
    </p:spTree>
    <p:extLst>
      <p:ext uri="{BB962C8B-B14F-4D97-AF65-F5344CB8AC3E}">
        <p14:creationId xmlns:p14="http://schemas.microsoft.com/office/powerpoint/2010/main" val="2000821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8333604" cy="767686"/>
          </a:xfrm>
        </p:spPr>
        <p:txBody>
          <a:bodyPr>
            <a:normAutofit/>
          </a:bodyPr>
          <a:lstStyle/>
          <a:p>
            <a:r>
              <a:rPr lang="en-US" sz="3600" dirty="0"/>
              <a:t>How to import Datetime Module</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10</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954079" y="2395580"/>
            <a:ext cx="10699480" cy="495457"/>
          </a:xfrm>
          <a:prstGeom prst="rect">
            <a:avLst/>
          </a:prstGeom>
          <a:noFill/>
        </p:spPr>
        <p:txBody>
          <a:bodyPr wrap="square" rtlCol="0">
            <a:spAutoFit/>
          </a:bodyPr>
          <a:lstStyle/>
          <a:p>
            <a:pPr algn="l">
              <a:lnSpc>
                <a:spcPct val="150000"/>
              </a:lnSpc>
            </a:pPr>
            <a:r>
              <a:rPr lang="en-US" sz="2000" dirty="0">
                <a:solidFill>
                  <a:schemeClr val="bg2">
                    <a:lumMod val="10000"/>
                  </a:schemeClr>
                </a:solidFill>
              </a:rPr>
              <a:t>Import the datetime module and show the current date.</a:t>
            </a:r>
          </a:p>
        </p:txBody>
      </p:sp>
      <p:sp>
        <p:nvSpPr>
          <p:cNvPr id="10" name="TextBox 9">
            <a:extLst>
              <a:ext uri="{FF2B5EF4-FFF2-40B4-BE49-F238E27FC236}">
                <a16:creationId xmlns:a16="http://schemas.microsoft.com/office/drawing/2014/main" id="{2361F62B-DBD1-43FD-89F8-6DBFC1634E75}"/>
              </a:ext>
            </a:extLst>
          </p:cNvPr>
          <p:cNvSpPr txBox="1"/>
          <p:nvPr/>
        </p:nvSpPr>
        <p:spPr>
          <a:xfrm>
            <a:off x="1050035" y="3037650"/>
            <a:ext cx="4015803" cy="1815882"/>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sz="1600" b="0" dirty="0">
                <a:solidFill>
                  <a:srgbClr val="6A9955"/>
                </a:solidFill>
                <a:effectLst/>
                <a:latin typeface="Consolas" panose="020B0609020204030204" pitchFamily="49" charset="0"/>
              </a:rPr>
              <a:t># import the datetime module</a:t>
            </a:r>
            <a:endParaRPr lang="en-US" sz="1600" b="0" dirty="0">
              <a:solidFill>
                <a:srgbClr val="D4D4D4"/>
              </a:solidFill>
              <a:effectLst/>
              <a:latin typeface="Consolas" panose="020B0609020204030204" pitchFamily="49" charset="0"/>
            </a:endParaRPr>
          </a:p>
          <a:p>
            <a:r>
              <a:rPr lang="en-US" sz="1600" b="0" dirty="0">
                <a:solidFill>
                  <a:srgbClr val="C586C0"/>
                </a:solidFill>
                <a:effectLst/>
                <a:latin typeface="Consolas" panose="020B0609020204030204" pitchFamily="49" charset="0"/>
              </a:rPr>
              <a:t>import</a:t>
            </a:r>
            <a:r>
              <a:rPr lang="en-US" sz="1600" b="0" dirty="0">
                <a:solidFill>
                  <a:srgbClr val="D4D4D4"/>
                </a:solidFill>
                <a:effectLst/>
                <a:latin typeface="Consolas" panose="020B0609020204030204" pitchFamily="49" charset="0"/>
              </a:rPr>
              <a:t> </a:t>
            </a:r>
            <a:r>
              <a:rPr lang="en-US" sz="1600" b="0" dirty="0">
                <a:solidFill>
                  <a:srgbClr val="4EC9B0"/>
                </a:solidFill>
                <a:effectLst/>
                <a:latin typeface="Consolas" panose="020B0609020204030204" pitchFamily="49" charset="0"/>
              </a:rPr>
              <a:t>datetime</a:t>
            </a:r>
            <a:endParaRPr lang="en-US" sz="1600" b="0" dirty="0">
              <a:solidFill>
                <a:srgbClr val="D4D4D4"/>
              </a:solidFill>
              <a:effectLst/>
              <a:latin typeface="Consolas" panose="020B0609020204030204" pitchFamily="49" charset="0"/>
            </a:endParaRPr>
          </a:p>
          <a:p>
            <a:br>
              <a:rPr lang="en-US" sz="1600" b="0" dirty="0">
                <a:solidFill>
                  <a:srgbClr val="D4D4D4"/>
                </a:solidFill>
                <a:effectLst/>
                <a:latin typeface="Consolas" panose="020B0609020204030204" pitchFamily="49" charset="0"/>
              </a:rPr>
            </a:br>
            <a:r>
              <a:rPr lang="en-US" sz="1600" b="0" dirty="0">
                <a:solidFill>
                  <a:srgbClr val="6A9955"/>
                </a:solidFill>
                <a:effectLst/>
                <a:latin typeface="Consolas" panose="020B0609020204030204" pitchFamily="49" charset="0"/>
              </a:rPr>
              <a:t># Show the current date</a:t>
            </a:r>
            <a:endParaRPr lang="en-US" sz="1600" b="0" dirty="0">
              <a:solidFill>
                <a:srgbClr val="D4D4D4"/>
              </a:solidFill>
              <a:effectLst/>
              <a:latin typeface="Consolas" panose="020B0609020204030204" pitchFamily="49" charset="0"/>
            </a:endParaRPr>
          </a:p>
          <a:p>
            <a:r>
              <a:rPr lang="en-US" sz="1600" b="0" dirty="0">
                <a:solidFill>
                  <a:srgbClr val="9CDCFE"/>
                </a:solidFill>
                <a:effectLst/>
                <a:latin typeface="Consolas" panose="020B0609020204030204" pitchFamily="49" charset="0"/>
              </a:rPr>
              <a:t>x</a:t>
            </a:r>
            <a:r>
              <a:rPr lang="en-US" sz="1600" b="0" dirty="0">
                <a:solidFill>
                  <a:srgbClr val="D4D4D4"/>
                </a:solidFill>
                <a:effectLst/>
                <a:latin typeface="Consolas" panose="020B0609020204030204" pitchFamily="49" charset="0"/>
              </a:rPr>
              <a:t> = </a:t>
            </a:r>
            <a:r>
              <a:rPr lang="en-US" sz="1600" b="0" dirty="0" err="1">
                <a:solidFill>
                  <a:srgbClr val="4EC9B0"/>
                </a:solidFill>
                <a:effectLst/>
                <a:latin typeface="Consolas" panose="020B0609020204030204" pitchFamily="49" charset="0"/>
              </a:rPr>
              <a:t>datetime</a:t>
            </a:r>
            <a:r>
              <a:rPr lang="en-US" sz="1600" b="0" dirty="0" err="1">
                <a:solidFill>
                  <a:srgbClr val="D4D4D4"/>
                </a:solidFill>
                <a:effectLst/>
                <a:latin typeface="Consolas" panose="020B0609020204030204" pitchFamily="49" charset="0"/>
              </a:rPr>
              <a:t>.</a:t>
            </a:r>
            <a:r>
              <a:rPr lang="en-US" sz="1600" b="0" dirty="0" err="1">
                <a:solidFill>
                  <a:srgbClr val="4EC9B0"/>
                </a:solidFill>
                <a:effectLst/>
                <a:latin typeface="Consolas" panose="020B0609020204030204" pitchFamily="49" charset="0"/>
              </a:rPr>
              <a:t>datetime</a:t>
            </a:r>
            <a:r>
              <a:rPr lang="en-US" sz="1600" b="0" dirty="0" err="1">
                <a:solidFill>
                  <a:srgbClr val="D4D4D4"/>
                </a:solidFill>
                <a:effectLst/>
                <a:latin typeface="Consolas" panose="020B0609020204030204" pitchFamily="49" charset="0"/>
              </a:rPr>
              <a:t>.</a:t>
            </a:r>
            <a:r>
              <a:rPr lang="en-US" sz="1600" b="0" dirty="0" err="1">
                <a:solidFill>
                  <a:srgbClr val="DCDCAA"/>
                </a:solidFill>
                <a:effectLst/>
                <a:latin typeface="Consolas" panose="020B0609020204030204" pitchFamily="49" charset="0"/>
              </a:rPr>
              <a:t>now</a:t>
            </a:r>
            <a:r>
              <a:rPr lang="en-US" sz="1600" b="0" dirty="0">
                <a:solidFill>
                  <a:srgbClr val="D4D4D4"/>
                </a:solidFill>
                <a:effectLst/>
                <a:latin typeface="Consolas" panose="020B0609020204030204" pitchFamily="49" charset="0"/>
              </a:rPr>
              <a:t>()</a:t>
            </a:r>
          </a:p>
          <a:p>
            <a:br>
              <a:rPr lang="en-US" sz="1600" b="0" dirty="0">
                <a:solidFill>
                  <a:srgbClr val="D4D4D4"/>
                </a:solidFill>
                <a:effectLst/>
                <a:latin typeface="Consolas" panose="020B0609020204030204" pitchFamily="49" charset="0"/>
              </a:rPr>
            </a:br>
            <a:r>
              <a:rPr lang="en-US" sz="1600" b="0" dirty="0">
                <a:solidFill>
                  <a:srgbClr val="DCDCAA"/>
                </a:solidFill>
                <a:effectLst/>
                <a:latin typeface="Consolas" panose="020B0609020204030204" pitchFamily="49" charset="0"/>
              </a:rPr>
              <a:t>print</a:t>
            </a:r>
            <a:r>
              <a:rPr lang="en-US" sz="1600" b="0" dirty="0">
                <a:solidFill>
                  <a:srgbClr val="D4D4D4"/>
                </a:solidFill>
                <a:effectLst/>
                <a:latin typeface="Consolas" panose="020B0609020204030204" pitchFamily="49" charset="0"/>
              </a:rPr>
              <a:t>(</a:t>
            </a:r>
            <a:r>
              <a:rPr lang="en-US" sz="1600" b="0" dirty="0">
                <a:solidFill>
                  <a:srgbClr val="9CDCFE"/>
                </a:solidFill>
                <a:effectLst/>
                <a:latin typeface="Consolas" panose="020B0609020204030204" pitchFamily="49" charset="0"/>
              </a:rPr>
              <a:t>x</a:t>
            </a:r>
            <a:r>
              <a:rPr lang="en-US" sz="1600" b="0" dirty="0">
                <a:solidFill>
                  <a:srgbClr val="D4D4D4"/>
                </a:solidFill>
                <a:effectLst/>
                <a:latin typeface="Consolas" panose="020B0609020204030204" pitchFamily="49" charset="0"/>
              </a:rPr>
              <a:t>)</a:t>
            </a:r>
          </a:p>
        </p:txBody>
      </p:sp>
      <p:sp>
        <p:nvSpPr>
          <p:cNvPr id="11" name="TextBox 10">
            <a:extLst>
              <a:ext uri="{FF2B5EF4-FFF2-40B4-BE49-F238E27FC236}">
                <a16:creationId xmlns:a16="http://schemas.microsoft.com/office/drawing/2014/main" id="{69CE86BE-C843-4C06-84C7-C4292238980C}"/>
              </a:ext>
            </a:extLst>
          </p:cNvPr>
          <p:cNvSpPr txBox="1"/>
          <p:nvPr/>
        </p:nvSpPr>
        <p:spPr>
          <a:xfrm>
            <a:off x="954079" y="4853532"/>
            <a:ext cx="10972878" cy="1418786"/>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altLang="en-US" sz="2000" dirty="0">
                <a:solidFill>
                  <a:schemeClr val="bg2">
                    <a:lumMod val="10000"/>
                  </a:schemeClr>
                </a:solidFill>
              </a:rPr>
              <a:t>When we execute the code from the example above the result will be:</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000" b="1" dirty="0">
                <a:solidFill>
                  <a:srgbClr val="C00000"/>
                </a:solidFill>
              </a:rPr>
              <a:t>2022-01-13 00:56:44.573467</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000" dirty="0">
                <a:solidFill>
                  <a:schemeClr val="bg2">
                    <a:lumMod val="10000"/>
                  </a:schemeClr>
                </a:solidFill>
              </a:rPr>
              <a:t>The date contains year, month, day, hour, minute, second, and microsecond.</a:t>
            </a:r>
          </a:p>
        </p:txBody>
      </p:sp>
    </p:spTree>
    <p:extLst>
      <p:ext uri="{BB962C8B-B14F-4D97-AF65-F5344CB8AC3E}">
        <p14:creationId xmlns:p14="http://schemas.microsoft.com/office/powerpoint/2010/main" val="1958563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9022718" cy="767686"/>
          </a:xfrm>
        </p:spPr>
        <p:txBody>
          <a:bodyPr>
            <a:normAutofit/>
          </a:bodyPr>
          <a:lstStyle/>
          <a:p>
            <a:r>
              <a:rPr lang="en-US" sz="3600" dirty="0"/>
              <a:t>How to Return the year &amp; name of Day</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11</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954079" y="2395580"/>
            <a:ext cx="9223592" cy="495457"/>
          </a:xfrm>
          <a:prstGeom prst="rect">
            <a:avLst/>
          </a:prstGeom>
          <a:noFill/>
        </p:spPr>
        <p:txBody>
          <a:bodyPr wrap="square" rtlCol="0">
            <a:spAutoFit/>
          </a:bodyPr>
          <a:lstStyle/>
          <a:p>
            <a:pPr algn="l">
              <a:lnSpc>
                <a:spcPct val="150000"/>
              </a:lnSpc>
            </a:pPr>
            <a:r>
              <a:rPr lang="en-US" sz="2000" dirty="0">
                <a:solidFill>
                  <a:schemeClr val="bg2">
                    <a:lumMod val="10000"/>
                  </a:schemeClr>
                </a:solidFill>
              </a:rPr>
              <a:t>Return the Year &amp; name of the Day.</a:t>
            </a:r>
          </a:p>
        </p:txBody>
      </p:sp>
      <p:sp>
        <p:nvSpPr>
          <p:cNvPr id="10" name="TextBox 9">
            <a:extLst>
              <a:ext uri="{FF2B5EF4-FFF2-40B4-BE49-F238E27FC236}">
                <a16:creationId xmlns:a16="http://schemas.microsoft.com/office/drawing/2014/main" id="{2361F62B-DBD1-43FD-89F8-6DBFC1634E75}"/>
              </a:ext>
            </a:extLst>
          </p:cNvPr>
          <p:cNvSpPr txBox="1"/>
          <p:nvPr/>
        </p:nvSpPr>
        <p:spPr>
          <a:xfrm>
            <a:off x="1050035" y="3050902"/>
            <a:ext cx="6106139" cy="3139321"/>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b="0" dirty="0">
                <a:solidFill>
                  <a:srgbClr val="6A9955"/>
                </a:solidFill>
                <a:effectLst/>
                <a:latin typeface="Consolas" panose="020B0609020204030204" pitchFamily="49" charset="0"/>
              </a:rPr>
              <a:t># import the datetime module</a:t>
            </a:r>
            <a:endParaRPr lang="en-US" b="0" dirty="0">
              <a:solidFill>
                <a:srgbClr val="D4D4D4"/>
              </a:solidFill>
              <a:effectLst/>
              <a:latin typeface="Consolas" panose="020B0609020204030204" pitchFamily="49" charset="0"/>
            </a:endParaRPr>
          </a:p>
          <a:p>
            <a:r>
              <a:rPr lang="en-US" b="0" dirty="0">
                <a:solidFill>
                  <a:srgbClr val="C586C0"/>
                </a:solidFill>
                <a:effectLst/>
                <a:latin typeface="Consolas" panose="020B0609020204030204" pitchFamily="49" charset="0"/>
              </a:rPr>
              <a:t>import</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datetime</a:t>
            </a:r>
            <a:endParaRPr lang="en-US" b="0" dirty="0">
              <a:solidFill>
                <a:srgbClr val="D4D4D4"/>
              </a:solidFill>
              <a:effectLst/>
              <a:latin typeface="Consolas" panose="020B0609020204030204" pitchFamily="49" charset="0"/>
            </a:endParaRPr>
          </a:p>
          <a:p>
            <a:br>
              <a:rPr lang="en-US" b="0" dirty="0">
                <a:solidFill>
                  <a:srgbClr val="D4D4D4"/>
                </a:solidFill>
                <a:effectLst/>
                <a:latin typeface="Consolas" panose="020B0609020204030204" pitchFamily="49" charset="0"/>
              </a:rPr>
            </a:br>
            <a:r>
              <a:rPr lang="en-US" b="0" dirty="0">
                <a:solidFill>
                  <a:srgbClr val="6A9955"/>
                </a:solidFill>
                <a:effectLst/>
                <a:latin typeface="Consolas" panose="020B0609020204030204" pitchFamily="49" charset="0"/>
              </a:rPr>
              <a:t># Show the current date</a:t>
            </a:r>
            <a:endParaRPr lang="en-US" b="0" dirty="0">
              <a:solidFill>
                <a:srgbClr val="D4D4D4"/>
              </a:solidFill>
              <a:effectLst/>
              <a:latin typeface="Consolas" panose="020B0609020204030204" pitchFamily="49" charset="0"/>
            </a:endParaRPr>
          </a:p>
          <a:p>
            <a:r>
              <a:rPr lang="en-US" b="0" dirty="0">
                <a:solidFill>
                  <a:srgbClr val="9CDCFE"/>
                </a:solidFill>
                <a:effectLst/>
                <a:latin typeface="Consolas" panose="020B0609020204030204" pitchFamily="49" charset="0"/>
              </a:rPr>
              <a:t>x</a:t>
            </a:r>
            <a:r>
              <a:rPr lang="en-US" b="0" dirty="0">
                <a:solidFill>
                  <a:srgbClr val="D4D4D4"/>
                </a:solidFill>
                <a:effectLst/>
                <a:latin typeface="Consolas" panose="020B0609020204030204" pitchFamily="49" charset="0"/>
              </a:rPr>
              <a:t> = </a:t>
            </a:r>
            <a:r>
              <a:rPr lang="en-US" b="0" dirty="0" err="1">
                <a:solidFill>
                  <a:srgbClr val="4EC9B0"/>
                </a:solidFill>
                <a:effectLst/>
                <a:latin typeface="Consolas" panose="020B0609020204030204" pitchFamily="49" charset="0"/>
              </a:rPr>
              <a:t>datetime</a:t>
            </a:r>
            <a:r>
              <a:rPr lang="en-US" b="0" dirty="0" err="1">
                <a:solidFill>
                  <a:srgbClr val="D4D4D4"/>
                </a:solidFill>
                <a:effectLst/>
                <a:latin typeface="Consolas" panose="020B0609020204030204" pitchFamily="49" charset="0"/>
              </a:rPr>
              <a:t>.</a:t>
            </a:r>
            <a:r>
              <a:rPr lang="en-US" b="0" dirty="0" err="1">
                <a:solidFill>
                  <a:srgbClr val="4EC9B0"/>
                </a:solidFill>
                <a:effectLst/>
                <a:latin typeface="Consolas" panose="020B0609020204030204" pitchFamily="49" charset="0"/>
              </a:rPr>
              <a:t>datetime</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now</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6A9955"/>
                </a:solidFill>
                <a:effectLst/>
                <a:latin typeface="Consolas" panose="020B0609020204030204" pitchFamily="49" charset="0"/>
              </a:rPr>
              <a:t># Return the Year</a:t>
            </a:r>
            <a:endParaRPr lang="en-US" b="0" dirty="0">
              <a:solidFill>
                <a:srgbClr val="D4D4D4"/>
              </a:solidFill>
              <a:effectLst/>
              <a:latin typeface="Consolas" panose="020B0609020204030204" pitchFamily="49" charset="0"/>
            </a:endParaRPr>
          </a:p>
          <a:p>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x</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year</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6A9955"/>
                </a:solidFill>
                <a:effectLst/>
                <a:latin typeface="Consolas" panose="020B0609020204030204" pitchFamily="49" charset="0"/>
              </a:rPr>
              <a:t># Return the Day</a:t>
            </a:r>
            <a:endParaRPr lang="en-US" b="0" dirty="0">
              <a:solidFill>
                <a:srgbClr val="D4D4D4"/>
              </a:solidFill>
              <a:effectLst/>
              <a:latin typeface="Consolas" panose="020B0609020204030204" pitchFamily="49" charset="0"/>
            </a:endParaRPr>
          </a:p>
          <a:p>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x</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strftime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9CDCFE"/>
                </a:solidFill>
                <a:effectLst/>
                <a:latin typeface="Consolas" panose="020B0609020204030204" pitchFamily="49" charset="0"/>
              </a:rPr>
              <a:t>%A</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351661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9022718" cy="767686"/>
          </a:xfrm>
        </p:spPr>
        <p:txBody>
          <a:bodyPr>
            <a:normAutofit/>
          </a:bodyPr>
          <a:lstStyle/>
          <a:p>
            <a:r>
              <a:rPr lang="en-US" sz="3600" dirty="0"/>
              <a:t>Creating Date Objects</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12</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821558" y="2408832"/>
            <a:ext cx="11118652" cy="957121"/>
          </a:xfrm>
          <a:prstGeom prst="rect">
            <a:avLst/>
          </a:prstGeom>
          <a:no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altLang="en-US" sz="2000" dirty="0">
                <a:solidFill>
                  <a:schemeClr val="bg2">
                    <a:lumMod val="10000"/>
                  </a:schemeClr>
                </a:solidFill>
              </a:rPr>
              <a:t>To create a date, we can use the datetime() class (constructor) of the datetime module.</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000" dirty="0">
                <a:solidFill>
                  <a:schemeClr val="bg2">
                    <a:lumMod val="10000"/>
                  </a:schemeClr>
                </a:solidFill>
              </a:rPr>
              <a:t>The datetime() class requires three parameters to create a date: year, month, day.</a:t>
            </a:r>
          </a:p>
        </p:txBody>
      </p:sp>
      <p:sp>
        <p:nvSpPr>
          <p:cNvPr id="10" name="TextBox 9">
            <a:extLst>
              <a:ext uri="{FF2B5EF4-FFF2-40B4-BE49-F238E27FC236}">
                <a16:creationId xmlns:a16="http://schemas.microsoft.com/office/drawing/2014/main" id="{2361F62B-DBD1-43FD-89F8-6DBFC1634E75}"/>
              </a:ext>
            </a:extLst>
          </p:cNvPr>
          <p:cNvSpPr txBox="1"/>
          <p:nvPr/>
        </p:nvSpPr>
        <p:spPr>
          <a:xfrm>
            <a:off x="937637" y="3607495"/>
            <a:ext cx="6106139" cy="2031325"/>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b="0" dirty="0">
                <a:solidFill>
                  <a:srgbClr val="6A9955"/>
                </a:solidFill>
                <a:effectLst/>
                <a:latin typeface="Consolas" panose="020B0609020204030204" pitchFamily="49" charset="0"/>
              </a:rPr>
              <a:t># Import the datetime module</a:t>
            </a:r>
            <a:endParaRPr lang="en-US" b="0" dirty="0">
              <a:solidFill>
                <a:srgbClr val="D4D4D4"/>
              </a:solidFill>
              <a:effectLst/>
              <a:latin typeface="Consolas" panose="020B0609020204030204" pitchFamily="49" charset="0"/>
            </a:endParaRPr>
          </a:p>
          <a:p>
            <a:r>
              <a:rPr lang="en-US" b="0" dirty="0">
                <a:solidFill>
                  <a:srgbClr val="C586C0"/>
                </a:solidFill>
                <a:effectLst/>
                <a:latin typeface="Consolas" panose="020B0609020204030204" pitchFamily="49" charset="0"/>
              </a:rPr>
              <a:t>import</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datetime</a:t>
            </a:r>
            <a:endParaRPr lang="en-US" b="0" dirty="0">
              <a:solidFill>
                <a:srgbClr val="D4D4D4"/>
              </a:solidFill>
              <a:effectLst/>
              <a:latin typeface="Consolas" panose="020B0609020204030204" pitchFamily="49" charset="0"/>
            </a:endParaRPr>
          </a:p>
          <a:p>
            <a:br>
              <a:rPr lang="en-US" b="0" dirty="0">
                <a:solidFill>
                  <a:srgbClr val="D4D4D4"/>
                </a:solidFill>
                <a:effectLst/>
                <a:latin typeface="Consolas" panose="020B0609020204030204" pitchFamily="49" charset="0"/>
              </a:rPr>
            </a:br>
            <a:r>
              <a:rPr lang="en-US" b="0" dirty="0">
                <a:solidFill>
                  <a:srgbClr val="6A9955"/>
                </a:solidFill>
                <a:effectLst/>
                <a:latin typeface="Consolas" panose="020B0609020204030204" pitchFamily="49" charset="0"/>
              </a:rPr>
              <a:t># Create a datetime object</a:t>
            </a:r>
            <a:endParaRPr lang="en-US" b="0" dirty="0">
              <a:solidFill>
                <a:srgbClr val="D4D4D4"/>
              </a:solidFill>
              <a:effectLst/>
              <a:latin typeface="Consolas" panose="020B0609020204030204" pitchFamily="49" charset="0"/>
            </a:endParaRPr>
          </a:p>
          <a:p>
            <a:r>
              <a:rPr lang="en-US" b="0" dirty="0">
                <a:solidFill>
                  <a:srgbClr val="9CDCFE"/>
                </a:solidFill>
                <a:effectLst/>
                <a:latin typeface="Consolas" panose="020B0609020204030204" pitchFamily="49" charset="0"/>
              </a:rPr>
              <a:t>x</a:t>
            </a:r>
            <a:r>
              <a:rPr lang="en-US" b="0" dirty="0">
                <a:solidFill>
                  <a:srgbClr val="D4D4D4"/>
                </a:solidFill>
                <a:effectLst/>
                <a:latin typeface="Consolas" panose="020B0609020204030204" pitchFamily="49" charset="0"/>
              </a:rPr>
              <a:t> = </a:t>
            </a:r>
            <a:r>
              <a:rPr lang="en-US" b="0" dirty="0" err="1">
                <a:solidFill>
                  <a:srgbClr val="4EC9B0"/>
                </a:solidFill>
                <a:effectLst/>
                <a:latin typeface="Consolas" panose="020B0609020204030204" pitchFamily="49" charset="0"/>
              </a:rPr>
              <a:t>datetime</a:t>
            </a:r>
            <a:r>
              <a:rPr lang="en-US" b="0" dirty="0" err="1">
                <a:solidFill>
                  <a:srgbClr val="D4D4D4"/>
                </a:solidFill>
                <a:effectLst/>
                <a:latin typeface="Consolas" panose="020B0609020204030204" pitchFamily="49" charset="0"/>
              </a:rPr>
              <a:t>.</a:t>
            </a:r>
            <a:r>
              <a:rPr lang="en-US" b="0" dirty="0" err="1">
                <a:solidFill>
                  <a:srgbClr val="4EC9B0"/>
                </a:solidFill>
                <a:effectLst/>
                <a:latin typeface="Consolas" panose="020B0609020204030204" pitchFamily="49" charset="0"/>
              </a:rPr>
              <a:t>datetime</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2020</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4</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17</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x</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15833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9022718" cy="767686"/>
          </a:xfrm>
        </p:spPr>
        <p:txBody>
          <a:bodyPr>
            <a:normAutofit/>
          </a:bodyPr>
          <a:lstStyle/>
          <a:p>
            <a:r>
              <a:rPr lang="en-US" sz="3600" dirty="0"/>
              <a:t>How to Subtract Dates</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13</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1154953" y="2426696"/>
            <a:ext cx="10151242" cy="495457"/>
          </a:xfrm>
          <a:prstGeom prst="rect">
            <a:avLst/>
          </a:prstGeom>
          <a:no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altLang="en-US" sz="2000" dirty="0">
                <a:solidFill>
                  <a:schemeClr val="bg2">
                    <a:lumMod val="10000"/>
                  </a:schemeClr>
                </a:solidFill>
              </a:rPr>
              <a:t>If you subtract the dates the following methods are given below</a:t>
            </a:r>
          </a:p>
        </p:txBody>
      </p:sp>
      <p:sp>
        <p:nvSpPr>
          <p:cNvPr id="10" name="TextBox 9">
            <a:extLst>
              <a:ext uri="{FF2B5EF4-FFF2-40B4-BE49-F238E27FC236}">
                <a16:creationId xmlns:a16="http://schemas.microsoft.com/office/drawing/2014/main" id="{2361F62B-DBD1-43FD-89F8-6DBFC1634E75}"/>
              </a:ext>
            </a:extLst>
          </p:cNvPr>
          <p:cNvSpPr txBox="1"/>
          <p:nvPr/>
        </p:nvSpPr>
        <p:spPr>
          <a:xfrm>
            <a:off x="1229185" y="3131138"/>
            <a:ext cx="6106139" cy="3139321"/>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b="0" dirty="0">
                <a:solidFill>
                  <a:srgbClr val="6A9955"/>
                </a:solidFill>
                <a:effectLst/>
                <a:latin typeface="Consolas" panose="020B0609020204030204" pitchFamily="49" charset="0"/>
              </a:rPr>
              <a:t># import the datetime module</a:t>
            </a:r>
            <a:endParaRPr lang="en-US" b="0" dirty="0">
              <a:solidFill>
                <a:srgbClr val="D4D4D4"/>
              </a:solidFill>
              <a:effectLst/>
              <a:latin typeface="Consolas" panose="020B0609020204030204" pitchFamily="49" charset="0"/>
            </a:endParaRPr>
          </a:p>
          <a:p>
            <a:r>
              <a:rPr lang="en-US" b="0" dirty="0">
                <a:solidFill>
                  <a:srgbClr val="C586C0"/>
                </a:solidFill>
                <a:effectLst/>
                <a:latin typeface="Consolas" panose="020B0609020204030204" pitchFamily="49" charset="0"/>
              </a:rPr>
              <a:t>import</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datetime</a:t>
            </a:r>
            <a:endParaRPr lang="en-US" b="0" dirty="0">
              <a:solidFill>
                <a:srgbClr val="D4D4D4"/>
              </a:solidFill>
              <a:effectLst/>
              <a:latin typeface="Consolas" panose="020B0609020204030204" pitchFamily="49" charset="0"/>
            </a:endParaRPr>
          </a:p>
          <a:p>
            <a:br>
              <a:rPr lang="en-US" b="0" dirty="0">
                <a:solidFill>
                  <a:srgbClr val="D4D4D4"/>
                </a:solidFill>
                <a:effectLst/>
                <a:latin typeface="Consolas" panose="020B0609020204030204" pitchFamily="49" charset="0"/>
              </a:rPr>
            </a:br>
            <a:r>
              <a:rPr lang="en-US" b="0" dirty="0">
                <a:solidFill>
                  <a:srgbClr val="6A9955"/>
                </a:solidFill>
                <a:effectLst/>
                <a:latin typeface="Consolas" panose="020B0609020204030204" pitchFamily="49" charset="0"/>
              </a:rPr>
              <a:t># create a datetime object</a:t>
            </a:r>
            <a:endParaRPr lang="en-US" b="0" dirty="0">
              <a:solidFill>
                <a:srgbClr val="D4D4D4"/>
              </a:solidFill>
              <a:effectLst/>
              <a:latin typeface="Consolas" panose="020B0609020204030204" pitchFamily="49" charset="0"/>
            </a:endParaRPr>
          </a:p>
          <a:p>
            <a:r>
              <a:rPr lang="en-US" b="0" dirty="0">
                <a:solidFill>
                  <a:srgbClr val="9CDCFE"/>
                </a:solidFill>
                <a:effectLst/>
                <a:latin typeface="Consolas" panose="020B0609020204030204" pitchFamily="49" charset="0"/>
              </a:rPr>
              <a:t>x</a:t>
            </a:r>
            <a:r>
              <a:rPr lang="en-US" b="0" dirty="0">
                <a:solidFill>
                  <a:srgbClr val="D4D4D4"/>
                </a:solidFill>
                <a:effectLst/>
                <a:latin typeface="Consolas" panose="020B0609020204030204" pitchFamily="49" charset="0"/>
              </a:rPr>
              <a:t> = </a:t>
            </a:r>
            <a:r>
              <a:rPr lang="en-US" b="0" dirty="0" err="1">
                <a:solidFill>
                  <a:srgbClr val="4EC9B0"/>
                </a:solidFill>
                <a:effectLst/>
                <a:latin typeface="Consolas" panose="020B0609020204030204" pitchFamily="49" charset="0"/>
              </a:rPr>
              <a:t>datetime</a:t>
            </a:r>
            <a:r>
              <a:rPr lang="en-US" b="0" dirty="0" err="1">
                <a:solidFill>
                  <a:srgbClr val="D4D4D4"/>
                </a:solidFill>
                <a:effectLst/>
                <a:latin typeface="Consolas" panose="020B0609020204030204" pitchFamily="49" charset="0"/>
              </a:rPr>
              <a:t>.</a:t>
            </a:r>
            <a:r>
              <a:rPr lang="en-US" b="0" dirty="0" err="1">
                <a:solidFill>
                  <a:srgbClr val="4EC9B0"/>
                </a:solidFill>
                <a:effectLst/>
                <a:latin typeface="Consolas" panose="020B0609020204030204" pitchFamily="49" charset="0"/>
              </a:rPr>
              <a:t>datetime</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2020</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4</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17</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9CDCFE"/>
                </a:solidFill>
                <a:effectLst/>
                <a:latin typeface="Consolas" panose="020B0609020204030204" pitchFamily="49" charset="0"/>
              </a:rPr>
              <a:t>y</a:t>
            </a:r>
            <a:r>
              <a:rPr lang="en-US" b="0" dirty="0">
                <a:solidFill>
                  <a:srgbClr val="D4D4D4"/>
                </a:solidFill>
                <a:effectLst/>
                <a:latin typeface="Consolas" panose="020B0609020204030204" pitchFamily="49" charset="0"/>
              </a:rPr>
              <a:t> = </a:t>
            </a:r>
            <a:r>
              <a:rPr lang="en-US" b="0" dirty="0" err="1">
                <a:solidFill>
                  <a:srgbClr val="4EC9B0"/>
                </a:solidFill>
                <a:effectLst/>
                <a:latin typeface="Consolas" panose="020B0609020204030204" pitchFamily="49" charset="0"/>
              </a:rPr>
              <a:t>datetime</a:t>
            </a:r>
            <a:r>
              <a:rPr lang="en-US" b="0" dirty="0" err="1">
                <a:solidFill>
                  <a:srgbClr val="D4D4D4"/>
                </a:solidFill>
                <a:effectLst/>
                <a:latin typeface="Consolas" panose="020B0609020204030204" pitchFamily="49" charset="0"/>
              </a:rPr>
              <a:t>.</a:t>
            </a:r>
            <a:r>
              <a:rPr lang="en-US" b="0" dirty="0" err="1">
                <a:solidFill>
                  <a:srgbClr val="4EC9B0"/>
                </a:solidFill>
                <a:effectLst/>
                <a:latin typeface="Consolas" panose="020B0609020204030204" pitchFamily="49" charset="0"/>
              </a:rPr>
              <a:t>datetime</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2020</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4</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20</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9CDCFE"/>
                </a:solidFill>
                <a:effectLst/>
                <a:latin typeface="Consolas" panose="020B0609020204030204" pitchFamily="49" charset="0"/>
              </a:rPr>
              <a:t>z</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x</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y</a:t>
            </a:r>
            <a:endParaRPr lang="en-US" b="0" dirty="0">
              <a:solidFill>
                <a:srgbClr val="D4D4D4"/>
              </a:solidFill>
              <a:effectLst/>
              <a:latin typeface="Consolas" panose="020B0609020204030204" pitchFamily="49" charset="0"/>
            </a:endParaRPr>
          </a:p>
          <a:p>
            <a:br>
              <a:rPr lang="en-US" b="0" dirty="0">
                <a:solidFill>
                  <a:srgbClr val="D4D4D4"/>
                </a:solidFill>
                <a:effectLst/>
                <a:latin typeface="Consolas" panose="020B0609020204030204" pitchFamily="49" charset="0"/>
              </a:rPr>
            </a:b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"You have remaining : "</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z</a:t>
            </a:r>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59559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9022718" cy="767686"/>
          </a:xfrm>
        </p:spPr>
        <p:txBody>
          <a:bodyPr>
            <a:normAutofit/>
          </a:bodyPr>
          <a:lstStyle/>
          <a:p>
            <a:r>
              <a:rPr lang="en-US" sz="3600" dirty="0"/>
              <a:t>The “</a:t>
            </a:r>
            <a:r>
              <a:rPr lang="en-US" sz="3600" dirty="0" err="1"/>
              <a:t>strftime</a:t>
            </a:r>
            <a:r>
              <a:rPr lang="en-US" dirty="0"/>
              <a:t>()” method</a:t>
            </a:r>
            <a:endParaRPr lang="en-US" sz="3600" dirty="0"/>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14</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1154953" y="2294174"/>
            <a:ext cx="10679238" cy="1418786"/>
          </a:xfrm>
          <a:prstGeom prst="rect">
            <a:avLst/>
          </a:prstGeom>
          <a:no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altLang="en-US" sz="2000" dirty="0">
                <a:solidFill>
                  <a:schemeClr val="bg2">
                    <a:lumMod val="10000"/>
                  </a:schemeClr>
                </a:solidFill>
              </a:rPr>
              <a:t>The datetime object has a method for formatting date objects into readable strings.</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000" dirty="0">
                <a:solidFill>
                  <a:schemeClr val="bg2">
                    <a:lumMod val="10000"/>
                  </a:schemeClr>
                </a:solidFill>
              </a:rPr>
              <a:t>The method is called </a:t>
            </a:r>
            <a:r>
              <a:rPr lang="en-US" altLang="en-US" sz="2000" b="1" dirty="0" err="1">
                <a:solidFill>
                  <a:schemeClr val="bg2">
                    <a:lumMod val="10000"/>
                  </a:schemeClr>
                </a:solidFill>
              </a:rPr>
              <a:t>strftime</a:t>
            </a:r>
            <a:r>
              <a:rPr lang="en-US" altLang="en-US" sz="2000" dirty="0">
                <a:solidFill>
                  <a:schemeClr val="bg2">
                    <a:lumMod val="10000"/>
                  </a:schemeClr>
                </a:solidFill>
              </a:rPr>
              <a:t>(), and takes one parameter, </a:t>
            </a:r>
            <a:r>
              <a:rPr lang="en-US" altLang="en-US" sz="2000" b="1" dirty="0">
                <a:solidFill>
                  <a:schemeClr val="bg2">
                    <a:lumMod val="10000"/>
                  </a:schemeClr>
                </a:solidFill>
              </a:rPr>
              <a:t>format</a:t>
            </a:r>
            <a:r>
              <a:rPr lang="en-US" altLang="en-US" sz="2000" dirty="0">
                <a:solidFill>
                  <a:schemeClr val="bg2">
                    <a:lumMod val="10000"/>
                  </a:schemeClr>
                </a:solidFill>
              </a:rPr>
              <a:t>, to specify the </a:t>
            </a:r>
            <a:r>
              <a:rPr lang="en-US" altLang="en-US" sz="2000" b="1" dirty="0">
                <a:solidFill>
                  <a:schemeClr val="bg2">
                    <a:lumMod val="10000"/>
                  </a:schemeClr>
                </a:solidFill>
              </a:rPr>
              <a:t>format</a:t>
            </a:r>
            <a:r>
              <a:rPr lang="en-US" altLang="en-US" sz="2000" dirty="0">
                <a:solidFill>
                  <a:schemeClr val="bg2">
                    <a:lumMod val="10000"/>
                  </a:schemeClr>
                </a:solidFill>
              </a:rPr>
              <a:t> of the returned </a:t>
            </a:r>
            <a:r>
              <a:rPr lang="en-US" altLang="en-US" sz="2000" b="1" dirty="0">
                <a:solidFill>
                  <a:schemeClr val="bg2">
                    <a:lumMod val="10000"/>
                  </a:schemeClr>
                </a:solidFill>
              </a:rPr>
              <a:t>string</a:t>
            </a:r>
            <a:r>
              <a:rPr lang="en-US" altLang="en-US" sz="2000" dirty="0">
                <a:solidFill>
                  <a:schemeClr val="bg2">
                    <a:lumMod val="10000"/>
                  </a:schemeClr>
                </a:solidFill>
              </a:rPr>
              <a:t>:</a:t>
            </a:r>
          </a:p>
        </p:txBody>
      </p:sp>
      <p:sp>
        <p:nvSpPr>
          <p:cNvPr id="10" name="TextBox 9">
            <a:extLst>
              <a:ext uri="{FF2B5EF4-FFF2-40B4-BE49-F238E27FC236}">
                <a16:creationId xmlns:a16="http://schemas.microsoft.com/office/drawing/2014/main" id="{2361F62B-DBD1-43FD-89F8-6DBFC1634E75}"/>
              </a:ext>
            </a:extLst>
          </p:cNvPr>
          <p:cNvSpPr txBox="1"/>
          <p:nvPr/>
        </p:nvSpPr>
        <p:spPr>
          <a:xfrm>
            <a:off x="1234465" y="3811012"/>
            <a:ext cx="6279517" cy="2677656"/>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sz="1400" b="0" dirty="0">
                <a:solidFill>
                  <a:srgbClr val="C586C0"/>
                </a:solidFill>
                <a:effectLst/>
                <a:latin typeface="Consolas" panose="020B0609020204030204" pitchFamily="49" charset="0"/>
              </a:rPr>
              <a:t>import</a:t>
            </a:r>
            <a:r>
              <a:rPr lang="en-US" sz="1400" b="0" dirty="0">
                <a:solidFill>
                  <a:srgbClr val="D4D4D4"/>
                </a:solidFill>
                <a:effectLst/>
                <a:latin typeface="Consolas" panose="020B0609020204030204" pitchFamily="49" charset="0"/>
              </a:rPr>
              <a:t> </a:t>
            </a:r>
            <a:r>
              <a:rPr lang="en-US" sz="1400" b="0" dirty="0">
                <a:solidFill>
                  <a:srgbClr val="4EC9B0"/>
                </a:solidFill>
                <a:effectLst/>
                <a:latin typeface="Consolas" panose="020B0609020204030204" pitchFamily="49" charset="0"/>
              </a:rPr>
              <a:t>datetime</a:t>
            </a:r>
            <a:endParaRPr lang="en-US" sz="1400" b="0" dirty="0">
              <a:solidFill>
                <a:srgbClr val="D4D4D4"/>
              </a:solidFill>
              <a:effectLst/>
              <a:latin typeface="Consolas" panose="020B0609020204030204" pitchFamily="49" charset="0"/>
            </a:endParaRPr>
          </a:p>
          <a:p>
            <a:br>
              <a:rPr lang="en-US" sz="1400" b="0" dirty="0">
                <a:solidFill>
                  <a:srgbClr val="D4D4D4"/>
                </a:solidFill>
                <a:effectLst/>
                <a:latin typeface="Consolas" panose="020B0609020204030204" pitchFamily="49" charset="0"/>
              </a:rPr>
            </a:br>
            <a:r>
              <a:rPr lang="en-US" sz="1400" b="0" dirty="0">
                <a:solidFill>
                  <a:srgbClr val="9CDCFE"/>
                </a:solidFill>
                <a:effectLst/>
                <a:latin typeface="Consolas" panose="020B0609020204030204" pitchFamily="49" charset="0"/>
              </a:rPr>
              <a:t>x</a:t>
            </a:r>
            <a:r>
              <a:rPr lang="en-US" sz="1400" b="0" dirty="0">
                <a:solidFill>
                  <a:srgbClr val="D4D4D4"/>
                </a:solidFill>
                <a:effectLst/>
                <a:latin typeface="Consolas" panose="020B0609020204030204" pitchFamily="49" charset="0"/>
              </a:rPr>
              <a:t> = </a:t>
            </a:r>
            <a:r>
              <a:rPr lang="en-US" sz="1400" b="0" dirty="0" err="1">
                <a:solidFill>
                  <a:srgbClr val="4EC9B0"/>
                </a:solidFill>
                <a:effectLst/>
                <a:latin typeface="Consolas" panose="020B0609020204030204" pitchFamily="49" charset="0"/>
              </a:rPr>
              <a:t>datetime</a:t>
            </a:r>
            <a:r>
              <a:rPr lang="en-US" sz="1400" b="0" dirty="0" err="1">
                <a:solidFill>
                  <a:srgbClr val="D4D4D4"/>
                </a:solidFill>
                <a:effectLst/>
                <a:latin typeface="Consolas" panose="020B0609020204030204" pitchFamily="49" charset="0"/>
              </a:rPr>
              <a:t>.</a:t>
            </a:r>
            <a:r>
              <a:rPr lang="en-US" sz="1400" b="0" dirty="0" err="1">
                <a:solidFill>
                  <a:srgbClr val="4EC9B0"/>
                </a:solidFill>
                <a:effectLst/>
                <a:latin typeface="Consolas" panose="020B0609020204030204" pitchFamily="49" charset="0"/>
              </a:rPr>
              <a:t>datetime</a:t>
            </a:r>
            <a:r>
              <a:rPr lang="en-US" sz="1400" b="0" dirty="0">
                <a:solidFill>
                  <a:srgbClr val="D4D4D4"/>
                </a:solidFill>
                <a:effectLst/>
                <a:latin typeface="Consolas" panose="020B0609020204030204" pitchFamily="49" charset="0"/>
              </a:rPr>
              <a:t>(</a:t>
            </a:r>
            <a:r>
              <a:rPr lang="en-US" sz="1400" b="0" dirty="0">
                <a:solidFill>
                  <a:srgbClr val="B5CEA8"/>
                </a:solidFill>
                <a:effectLst/>
                <a:latin typeface="Consolas" panose="020B0609020204030204" pitchFamily="49" charset="0"/>
              </a:rPr>
              <a:t>2018</a:t>
            </a:r>
            <a:r>
              <a:rPr lang="en-US" sz="1400" b="0" dirty="0">
                <a:solidFill>
                  <a:srgbClr val="D4D4D4"/>
                </a:solidFill>
                <a:effectLst/>
                <a:latin typeface="Consolas" panose="020B0609020204030204" pitchFamily="49" charset="0"/>
              </a:rPr>
              <a:t>, </a:t>
            </a:r>
            <a:r>
              <a:rPr lang="en-US" sz="1400" b="0" dirty="0">
                <a:solidFill>
                  <a:srgbClr val="B5CEA8"/>
                </a:solidFill>
                <a:effectLst/>
                <a:latin typeface="Consolas" panose="020B0609020204030204" pitchFamily="49" charset="0"/>
              </a:rPr>
              <a:t>6</a:t>
            </a:r>
            <a:r>
              <a:rPr lang="en-US" sz="1400" b="0" dirty="0">
                <a:solidFill>
                  <a:srgbClr val="D4D4D4"/>
                </a:solidFill>
                <a:effectLst/>
                <a:latin typeface="Consolas" panose="020B0609020204030204" pitchFamily="49" charset="0"/>
              </a:rPr>
              <a:t>, </a:t>
            </a:r>
            <a:r>
              <a:rPr lang="en-US" sz="1400" b="0" dirty="0">
                <a:solidFill>
                  <a:srgbClr val="B5CEA8"/>
                </a:solidFill>
                <a:effectLst/>
                <a:latin typeface="Consolas" panose="020B0609020204030204" pitchFamily="49" charset="0"/>
              </a:rPr>
              <a:t>3</a:t>
            </a:r>
            <a:r>
              <a:rPr lang="en-US" sz="1400" b="0" dirty="0">
                <a:solidFill>
                  <a:srgbClr val="D4D4D4"/>
                </a:solidFill>
                <a:effectLst/>
                <a:latin typeface="Consolas" panose="020B0609020204030204" pitchFamily="49" charset="0"/>
              </a:rPr>
              <a:t>)</a:t>
            </a:r>
          </a:p>
          <a:p>
            <a:endParaRPr lang="en-US" sz="1400" dirty="0">
              <a:solidFill>
                <a:srgbClr val="D4D4D4"/>
              </a:solidFill>
              <a:latin typeface="Consolas" panose="020B0609020204030204" pitchFamily="49" charset="0"/>
            </a:endParaRPr>
          </a:p>
          <a:p>
            <a:r>
              <a:rPr lang="en-US" sz="1400" b="0" dirty="0">
                <a:solidFill>
                  <a:srgbClr val="DCDCAA"/>
                </a:solidFill>
                <a:effectLst/>
                <a:latin typeface="Consolas" panose="020B0609020204030204" pitchFamily="49" charset="0"/>
              </a:rPr>
              <a:t>print</a:t>
            </a:r>
            <a:r>
              <a:rPr lang="en-US" sz="1400" b="0" dirty="0">
                <a:solidFill>
                  <a:srgbClr val="D4D4D4"/>
                </a:solidFill>
                <a:effectLst/>
                <a:latin typeface="Consolas" panose="020B0609020204030204" pitchFamily="49" charset="0"/>
              </a:rPr>
              <a:t>(</a:t>
            </a:r>
            <a:r>
              <a:rPr lang="en-US" sz="1400" b="0" dirty="0" err="1">
                <a:solidFill>
                  <a:srgbClr val="9CDCFE"/>
                </a:solidFill>
                <a:effectLst/>
                <a:latin typeface="Consolas" panose="020B0609020204030204" pitchFamily="49" charset="0"/>
              </a:rPr>
              <a:t>x</a:t>
            </a:r>
            <a:r>
              <a:rPr lang="en-US" sz="1400" b="0" dirty="0" err="1">
                <a:solidFill>
                  <a:srgbClr val="D4D4D4"/>
                </a:solidFill>
                <a:effectLst/>
                <a:latin typeface="Consolas" panose="020B0609020204030204" pitchFamily="49" charset="0"/>
              </a:rPr>
              <a:t>.</a:t>
            </a:r>
            <a:r>
              <a:rPr lang="en-US" sz="1400" b="0" dirty="0" err="1">
                <a:solidFill>
                  <a:srgbClr val="9CDCFE"/>
                </a:solidFill>
                <a:effectLst/>
                <a:latin typeface="Consolas" panose="020B0609020204030204" pitchFamily="49" charset="0"/>
              </a:rPr>
              <a:t>year</a:t>
            </a:r>
            <a:r>
              <a:rPr lang="en-US" sz="1400" b="0" dirty="0">
                <a:solidFill>
                  <a:srgbClr val="D4D4D4"/>
                </a:solidFill>
                <a:effectLst/>
                <a:latin typeface="Consolas" panose="020B0609020204030204" pitchFamily="49" charset="0"/>
              </a:rPr>
              <a:t>)</a:t>
            </a:r>
          </a:p>
          <a:p>
            <a:r>
              <a:rPr lang="en-US" sz="1400" b="0" dirty="0">
                <a:solidFill>
                  <a:srgbClr val="DCDCAA"/>
                </a:solidFill>
                <a:effectLst/>
                <a:latin typeface="Consolas" panose="020B0609020204030204" pitchFamily="49" charset="0"/>
              </a:rPr>
              <a:t>print</a:t>
            </a:r>
            <a:r>
              <a:rPr lang="en-US" sz="1400" b="0" dirty="0">
                <a:solidFill>
                  <a:srgbClr val="D4D4D4"/>
                </a:solidFill>
                <a:effectLst/>
                <a:latin typeface="Consolas" panose="020B0609020204030204" pitchFamily="49" charset="0"/>
              </a:rPr>
              <a:t>(</a:t>
            </a:r>
            <a:r>
              <a:rPr lang="en-US" sz="1400" b="0" dirty="0" err="1">
                <a:solidFill>
                  <a:srgbClr val="9CDCFE"/>
                </a:solidFill>
                <a:effectLst/>
                <a:latin typeface="Consolas" panose="020B0609020204030204" pitchFamily="49" charset="0"/>
              </a:rPr>
              <a:t>x</a:t>
            </a:r>
            <a:r>
              <a:rPr lang="en-US" sz="1400" b="0" dirty="0" err="1">
                <a:solidFill>
                  <a:srgbClr val="D4D4D4"/>
                </a:solidFill>
                <a:effectLst/>
                <a:latin typeface="Consolas" panose="020B0609020204030204" pitchFamily="49" charset="0"/>
              </a:rPr>
              <a:t>.</a:t>
            </a:r>
            <a:r>
              <a:rPr lang="en-US" sz="1400" b="0" dirty="0" err="1">
                <a:solidFill>
                  <a:srgbClr val="9CDCFE"/>
                </a:solidFill>
                <a:effectLst/>
                <a:latin typeface="Consolas" panose="020B0609020204030204" pitchFamily="49" charset="0"/>
              </a:rPr>
              <a:t>day</a:t>
            </a:r>
            <a:r>
              <a:rPr lang="en-US" sz="1400" b="0" dirty="0">
                <a:solidFill>
                  <a:srgbClr val="D4D4D4"/>
                </a:solidFill>
                <a:effectLst/>
                <a:latin typeface="Consolas" panose="020B0609020204030204" pitchFamily="49" charset="0"/>
              </a:rPr>
              <a:t>)</a:t>
            </a:r>
          </a:p>
          <a:p>
            <a:br>
              <a:rPr lang="en-US" sz="1400" b="0" dirty="0">
                <a:solidFill>
                  <a:srgbClr val="D4D4D4"/>
                </a:solidFill>
                <a:effectLst/>
                <a:latin typeface="Consolas" panose="020B0609020204030204" pitchFamily="49" charset="0"/>
              </a:rPr>
            </a:br>
            <a:r>
              <a:rPr lang="en-US" sz="1400" b="0" dirty="0">
                <a:solidFill>
                  <a:srgbClr val="DCDCAA"/>
                </a:solidFill>
                <a:effectLst/>
                <a:latin typeface="Consolas" panose="020B0609020204030204" pitchFamily="49" charset="0"/>
              </a:rPr>
              <a:t>print</a:t>
            </a:r>
            <a:r>
              <a:rPr lang="en-US" sz="1400" b="0" dirty="0">
                <a:solidFill>
                  <a:srgbClr val="D4D4D4"/>
                </a:solidFill>
                <a:effectLst/>
                <a:latin typeface="Consolas" panose="020B0609020204030204" pitchFamily="49" charset="0"/>
              </a:rPr>
              <a:t>(</a:t>
            </a:r>
            <a:r>
              <a:rPr lang="en-US" sz="1400" b="0" dirty="0" err="1">
                <a:solidFill>
                  <a:srgbClr val="9CDCFE"/>
                </a:solidFill>
                <a:effectLst/>
                <a:latin typeface="Consolas" panose="020B0609020204030204" pitchFamily="49" charset="0"/>
              </a:rPr>
              <a:t>x</a:t>
            </a:r>
            <a:r>
              <a:rPr lang="en-US" sz="1400" b="0" dirty="0" err="1">
                <a:solidFill>
                  <a:srgbClr val="D4D4D4"/>
                </a:solidFill>
                <a:effectLst/>
                <a:latin typeface="Consolas" panose="020B0609020204030204" pitchFamily="49" charset="0"/>
              </a:rPr>
              <a:t>.</a:t>
            </a:r>
            <a:r>
              <a:rPr lang="en-US" sz="1400" b="0" dirty="0" err="1">
                <a:solidFill>
                  <a:srgbClr val="DCDCAA"/>
                </a:solidFill>
                <a:effectLst/>
                <a:latin typeface="Consolas" panose="020B0609020204030204" pitchFamily="49" charset="0"/>
              </a:rPr>
              <a:t>strftime</a:t>
            </a:r>
            <a:r>
              <a:rPr lang="en-US" sz="1400" b="0" dirty="0">
                <a:solidFill>
                  <a:srgbClr val="D4D4D4"/>
                </a:solidFill>
                <a:effectLst/>
                <a:latin typeface="Consolas" panose="020B0609020204030204" pitchFamily="49" charset="0"/>
              </a:rPr>
              <a:t>(</a:t>
            </a:r>
            <a:r>
              <a:rPr lang="en-US" sz="1400" b="0" dirty="0">
                <a:solidFill>
                  <a:srgbClr val="CE9178"/>
                </a:solidFill>
                <a:effectLst/>
                <a:latin typeface="Consolas" panose="020B0609020204030204" pitchFamily="49" charset="0"/>
              </a:rPr>
              <a:t>"</a:t>
            </a:r>
            <a:r>
              <a:rPr lang="en-US" sz="1400" b="0" dirty="0">
                <a:solidFill>
                  <a:srgbClr val="9CDCFE"/>
                </a:solidFill>
                <a:effectLst/>
                <a:latin typeface="Consolas" panose="020B0609020204030204" pitchFamily="49" charset="0"/>
              </a:rPr>
              <a:t>%A</a:t>
            </a:r>
            <a:r>
              <a:rPr lang="en-US" sz="1400" b="0" dirty="0">
                <a:solidFill>
                  <a:srgbClr val="CE9178"/>
                </a:solidFill>
                <a:effectLst/>
                <a:latin typeface="Consolas" panose="020B0609020204030204" pitchFamily="49" charset="0"/>
              </a:rPr>
              <a:t>"</a:t>
            </a:r>
            <a:r>
              <a:rPr lang="en-US" sz="1400" b="0" dirty="0">
                <a:solidFill>
                  <a:srgbClr val="D4D4D4"/>
                </a:solidFill>
                <a:effectLst/>
                <a:latin typeface="Consolas" panose="020B0609020204030204" pitchFamily="49" charset="0"/>
              </a:rPr>
              <a:t>))</a:t>
            </a:r>
          </a:p>
          <a:p>
            <a:r>
              <a:rPr lang="en-US" sz="1400" b="0" dirty="0">
                <a:solidFill>
                  <a:srgbClr val="DCDCAA"/>
                </a:solidFill>
                <a:effectLst/>
                <a:latin typeface="Consolas" panose="020B0609020204030204" pitchFamily="49" charset="0"/>
              </a:rPr>
              <a:t>print</a:t>
            </a:r>
            <a:r>
              <a:rPr lang="en-US" sz="1400" b="0" dirty="0">
                <a:solidFill>
                  <a:srgbClr val="D4D4D4"/>
                </a:solidFill>
                <a:effectLst/>
                <a:latin typeface="Consolas" panose="020B0609020204030204" pitchFamily="49" charset="0"/>
              </a:rPr>
              <a:t>(</a:t>
            </a:r>
            <a:r>
              <a:rPr lang="en-US" sz="1400" b="0" dirty="0" err="1">
                <a:solidFill>
                  <a:srgbClr val="9CDCFE"/>
                </a:solidFill>
                <a:effectLst/>
                <a:latin typeface="Consolas" panose="020B0609020204030204" pitchFamily="49" charset="0"/>
              </a:rPr>
              <a:t>x</a:t>
            </a:r>
            <a:r>
              <a:rPr lang="en-US" sz="1400" b="0" dirty="0" err="1">
                <a:solidFill>
                  <a:srgbClr val="D4D4D4"/>
                </a:solidFill>
                <a:effectLst/>
                <a:latin typeface="Consolas" panose="020B0609020204030204" pitchFamily="49" charset="0"/>
              </a:rPr>
              <a:t>.</a:t>
            </a:r>
            <a:r>
              <a:rPr lang="en-US" sz="1400" b="0" dirty="0" err="1">
                <a:solidFill>
                  <a:srgbClr val="DCDCAA"/>
                </a:solidFill>
                <a:effectLst/>
                <a:latin typeface="Consolas" panose="020B0609020204030204" pitchFamily="49" charset="0"/>
              </a:rPr>
              <a:t>strftime</a:t>
            </a:r>
            <a:r>
              <a:rPr lang="en-US" sz="1400" b="0" dirty="0">
                <a:solidFill>
                  <a:srgbClr val="D4D4D4"/>
                </a:solidFill>
                <a:effectLst/>
                <a:latin typeface="Consolas" panose="020B0609020204030204" pitchFamily="49" charset="0"/>
              </a:rPr>
              <a:t>(</a:t>
            </a:r>
            <a:r>
              <a:rPr lang="en-US" sz="1400" b="0" dirty="0">
                <a:solidFill>
                  <a:srgbClr val="CE9178"/>
                </a:solidFill>
                <a:effectLst/>
                <a:latin typeface="Consolas" panose="020B0609020204030204" pitchFamily="49" charset="0"/>
              </a:rPr>
              <a:t>"</a:t>
            </a:r>
            <a:r>
              <a:rPr lang="en-US" sz="1400" b="0" dirty="0">
                <a:solidFill>
                  <a:srgbClr val="9CDCFE"/>
                </a:solidFill>
                <a:effectLst/>
                <a:latin typeface="Consolas" panose="020B0609020204030204" pitchFamily="49" charset="0"/>
              </a:rPr>
              <a:t>%a</a:t>
            </a:r>
            <a:r>
              <a:rPr lang="en-US" sz="1400" b="0" dirty="0">
                <a:solidFill>
                  <a:srgbClr val="CE9178"/>
                </a:solidFill>
                <a:effectLst/>
                <a:latin typeface="Consolas" panose="020B0609020204030204" pitchFamily="49" charset="0"/>
              </a:rPr>
              <a:t>"</a:t>
            </a:r>
            <a:r>
              <a:rPr lang="en-US" sz="1400" b="0" dirty="0">
                <a:solidFill>
                  <a:srgbClr val="D4D4D4"/>
                </a:solidFill>
                <a:effectLst/>
                <a:latin typeface="Consolas" panose="020B0609020204030204" pitchFamily="49" charset="0"/>
              </a:rPr>
              <a:t>))</a:t>
            </a:r>
          </a:p>
          <a:p>
            <a:br>
              <a:rPr lang="en-US" sz="1400" b="0" dirty="0">
                <a:solidFill>
                  <a:srgbClr val="D4D4D4"/>
                </a:solidFill>
                <a:effectLst/>
                <a:latin typeface="Consolas" panose="020B0609020204030204" pitchFamily="49" charset="0"/>
              </a:rPr>
            </a:br>
            <a:r>
              <a:rPr lang="en-US" sz="1400" b="0" dirty="0">
                <a:solidFill>
                  <a:srgbClr val="DCDCAA"/>
                </a:solidFill>
                <a:effectLst/>
                <a:latin typeface="Consolas" panose="020B0609020204030204" pitchFamily="49" charset="0"/>
              </a:rPr>
              <a:t>print</a:t>
            </a:r>
            <a:r>
              <a:rPr lang="en-US" sz="1400" b="0" dirty="0">
                <a:solidFill>
                  <a:srgbClr val="D4D4D4"/>
                </a:solidFill>
                <a:effectLst/>
                <a:latin typeface="Consolas" panose="020B0609020204030204" pitchFamily="49" charset="0"/>
              </a:rPr>
              <a:t>(</a:t>
            </a:r>
            <a:r>
              <a:rPr lang="en-US" sz="1400" b="0" dirty="0" err="1">
                <a:solidFill>
                  <a:srgbClr val="9CDCFE"/>
                </a:solidFill>
                <a:effectLst/>
                <a:latin typeface="Consolas" panose="020B0609020204030204" pitchFamily="49" charset="0"/>
              </a:rPr>
              <a:t>x</a:t>
            </a:r>
            <a:r>
              <a:rPr lang="en-US" sz="1400" b="0" dirty="0" err="1">
                <a:solidFill>
                  <a:srgbClr val="D4D4D4"/>
                </a:solidFill>
                <a:effectLst/>
                <a:latin typeface="Consolas" panose="020B0609020204030204" pitchFamily="49" charset="0"/>
              </a:rPr>
              <a:t>.</a:t>
            </a:r>
            <a:r>
              <a:rPr lang="en-US" sz="1400" b="0" dirty="0" err="1">
                <a:solidFill>
                  <a:srgbClr val="DCDCAA"/>
                </a:solidFill>
                <a:effectLst/>
                <a:latin typeface="Consolas" panose="020B0609020204030204" pitchFamily="49" charset="0"/>
              </a:rPr>
              <a:t>strftime</a:t>
            </a:r>
            <a:r>
              <a:rPr lang="en-US" sz="1400" b="0" dirty="0">
                <a:solidFill>
                  <a:srgbClr val="D4D4D4"/>
                </a:solidFill>
                <a:effectLst/>
                <a:latin typeface="Consolas" panose="020B0609020204030204" pitchFamily="49" charset="0"/>
              </a:rPr>
              <a:t>(</a:t>
            </a:r>
            <a:r>
              <a:rPr lang="en-US" sz="1400" b="0" dirty="0">
                <a:solidFill>
                  <a:srgbClr val="CE9178"/>
                </a:solidFill>
                <a:effectLst/>
                <a:latin typeface="Consolas" panose="020B0609020204030204" pitchFamily="49" charset="0"/>
              </a:rPr>
              <a:t>"</a:t>
            </a:r>
            <a:r>
              <a:rPr lang="en-US" sz="1400" b="0" dirty="0">
                <a:solidFill>
                  <a:srgbClr val="9CDCFE"/>
                </a:solidFill>
                <a:effectLst/>
                <a:latin typeface="Consolas" panose="020B0609020204030204" pitchFamily="49" charset="0"/>
              </a:rPr>
              <a:t>%B</a:t>
            </a:r>
            <a:r>
              <a:rPr lang="en-US" sz="1400" b="0" dirty="0">
                <a:solidFill>
                  <a:srgbClr val="CE9178"/>
                </a:solidFill>
                <a:effectLst/>
                <a:latin typeface="Consolas" panose="020B0609020204030204" pitchFamily="49" charset="0"/>
              </a:rPr>
              <a:t>"</a:t>
            </a:r>
            <a:r>
              <a:rPr lang="en-US" sz="1400" b="0" dirty="0">
                <a:solidFill>
                  <a:srgbClr val="D4D4D4"/>
                </a:solidFill>
                <a:effectLst/>
                <a:latin typeface="Consolas" panose="020B0609020204030204" pitchFamily="49" charset="0"/>
              </a:rPr>
              <a:t>))</a:t>
            </a:r>
          </a:p>
          <a:p>
            <a:r>
              <a:rPr lang="en-US" sz="1400" b="0" dirty="0">
                <a:solidFill>
                  <a:srgbClr val="DCDCAA"/>
                </a:solidFill>
                <a:effectLst/>
                <a:latin typeface="Consolas" panose="020B0609020204030204" pitchFamily="49" charset="0"/>
              </a:rPr>
              <a:t>print</a:t>
            </a:r>
            <a:r>
              <a:rPr lang="en-US" sz="1400" b="0" dirty="0">
                <a:solidFill>
                  <a:srgbClr val="D4D4D4"/>
                </a:solidFill>
                <a:effectLst/>
                <a:latin typeface="Consolas" panose="020B0609020204030204" pitchFamily="49" charset="0"/>
              </a:rPr>
              <a:t>(</a:t>
            </a:r>
            <a:r>
              <a:rPr lang="en-US" sz="1400" b="0" dirty="0" err="1">
                <a:solidFill>
                  <a:srgbClr val="9CDCFE"/>
                </a:solidFill>
                <a:effectLst/>
                <a:latin typeface="Consolas" panose="020B0609020204030204" pitchFamily="49" charset="0"/>
              </a:rPr>
              <a:t>x</a:t>
            </a:r>
            <a:r>
              <a:rPr lang="en-US" sz="1400" b="0" dirty="0" err="1">
                <a:solidFill>
                  <a:srgbClr val="D4D4D4"/>
                </a:solidFill>
                <a:effectLst/>
                <a:latin typeface="Consolas" panose="020B0609020204030204" pitchFamily="49" charset="0"/>
              </a:rPr>
              <a:t>.</a:t>
            </a:r>
            <a:r>
              <a:rPr lang="en-US" sz="1400" b="0" dirty="0" err="1">
                <a:solidFill>
                  <a:srgbClr val="DCDCAA"/>
                </a:solidFill>
                <a:effectLst/>
                <a:latin typeface="Consolas" panose="020B0609020204030204" pitchFamily="49" charset="0"/>
              </a:rPr>
              <a:t>strftime</a:t>
            </a:r>
            <a:r>
              <a:rPr lang="en-US" sz="1400" b="0" dirty="0">
                <a:solidFill>
                  <a:srgbClr val="D4D4D4"/>
                </a:solidFill>
                <a:effectLst/>
                <a:latin typeface="Consolas" panose="020B0609020204030204" pitchFamily="49" charset="0"/>
              </a:rPr>
              <a:t>(</a:t>
            </a:r>
            <a:r>
              <a:rPr lang="en-US" sz="1400" b="0" dirty="0">
                <a:solidFill>
                  <a:srgbClr val="CE9178"/>
                </a:solidFill>
                <a:effectLst/>
                <a:latin typeface="Consolas" panose="020B0609020204030204" pitchFamily="49" charset="0"/>
              </a:rPr>
              <a:t>"</a:t>
            </a:r>
            <a:r>
              <a:rPr lang="en-US" sz="1400" b="0" dirty="0">
                <a:solidFill>
                  <a:srgbClr val="9CDCFE"/>
                </a:solidFill>
                <a:effectLst/>
                <a:latin typeface="Consolas" panose="020B0609020204030204" pitchFamily="49" charset="0"/>
              </a:rPr>
              <a:t>%b</a:t>
            </a:r>
            <a:r>
              <a:rPr lang="en-US" sz="1400" b="0" dirty="0">
                <a:solidFill>
                  <a:srgbClr val="CE9178"/>
                </a:solidFill>
                <a:effectLst/>
                <a:latin typeface="Consolas" panose="020B0609020204030204" pitchFamily="49" charset="0"/>
              </a:rPr>
              <a:t>"</a:t>
            </a:r>
            <a:r>
              <a:rPr lang="en-US" sz="14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847788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962543" cy="767686"/>
          </a:xfrm>
        </p:spPr>
        <p:txBody>
          <a:bodyPr>
            <a:normAutofit/>
          </a:bodyPr>
          <a:lstStyle/>
          <a:p>
            <a:r>
              <a:rPr lang="en-US" sz="3600" dirty="0"/>
              <a:t>Datetime Module format codes</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15</a:t>
            </a:fld>
            <a:endParaRPr lang="en-US" dirty="0"/>
          </a:p>
        </p:txBody>
      </p:sp>
      <p:graphicFrame>
        <p:nvGraphicFramePr>
          <p:cNvPr id="2" name="Table 1">
            <a:extLst>
              <a:ext uri="{FF2B5EF4-FFF2-40B4-BE49-F238E27FC236}">
                <a16:creationId xmlns:a16="http://schemas.microsoft.com/office/drawing/2014/main" id="{70685A88-71F7-479B-AADF-C5570FA0E085}"/>
              </a:ext>
            </a:extLst>
          </p:cNvPr>
          <p:cNvGraphicFramePr>
            <a:graphicFrameLocks noGrp="1"/>
          </p:cNvGraphicFramePr>
          <p:nvPr>
            <p:extLst>
              <p:ext uri="{D42A27DB-BD31-4B8C-83A1-F6EECF244321}">
                <p14:modId xmlns:p14="http://schemas.microsoft.com/office/powerpoint/2010/main" val="4015913211"/>
              </p:ext>
            </p:extLst>
          </p:nvPr>
        </p:nvGraphicFramePr>
        <p:xfrm>
          <a:off x="1488596" y="2484232"/>
          <a:ext cx="8689075" cy="4076554"/>
        </p:xfrm>
        <a:graphic>
          <a:graphicData uri="http://schemas.openxmlformats.org/drawingml/2006/table">
            <a:tbl>
              <a:tblPr/>
              <a:tblGrid>
                <a:gridCol w="1771439">
                  <a:extLst>
                    <a:ext uri="{9D8B030D-6E8A-4147-A177-3AD203B41FA5}">
                      <a16:colId xmlns:a16="http://schemas.microsoft.com/office/drawing/2014/main" val="1505393220"/>
                    </a:ext>
                  </a:extLst>
                </a:gridCol>
                <a:gridCol w="3843130">
                  <a:extLst>
                    <a:ext uri="{9D8B030D-6E8A-4147-A177-3AD203B41FA5}">
                      <a16:colId xmlns:a16="http://schemas.microsoft.com/office/drawing/2014/main" val="1968395104"/>
                    </a:ext>
                  </a:extLst>
                </a:gridCol>
                <a:gridCol w="3074506">
                  <a:extLst>
                    <a:ext uri="{9D8B030D-6E8A-4147-A177-3AD203B41FA5}">
                      <a16:colId xmlns:a16="http://schemas.microsoft.com/office/drawing/2014/main" val="683944321"/>
                    </a:ext>
                  </a:extLst>
                </a:gridCol>
              </a:tblGrid>
              <a:tr h="287300">
                <a:tc>
                  <a:txBody>
                    <a:bodyPr/>
                    <a:lstStyle/>
                    <a:p>
                      <a:pPr algn="l" fontAlgn="t"/>
                      <a:r>
                        <a:rPr lang="en-US" sz="1800" b="1" dirty="0">
                          <a:solidFill>
                            <a:srgbClr val="C00000"/>
                          </a:solidFill>
                          <a:effectLst/>
                        </a:rPr>
                        <a:t>Directive</a:t>
                      </a:r>
                    </a:p>
                  </a:txBody>
                  <a:tcPr marL="97054"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b="1" dirty="0">
                          <a:solidFill>
                            <a:srgbClr val="C00000"/>
                          </a:solidFill>
                          <a:effectLst/>
                        </a:rPr>
                        <a:t>Description</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b="1" dirty="0">
                          <a:solidFill>
                            <a:srgbClr val="C00000"/>
                          </a:solidFill>
                          <a:effectLst/>
                        </a:rPr>
                        <a:t>Example</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486288773"/>
                  </a:ext>
                </a:extLst>
              </a:tr>
              <a:tr h="287300">
                <a:tc>
                  <a:txBody>
                    <a:bodyPr/>
                    <a:lstStyle/>
                    <a:p>
                      <a:pPr algn="l" fontAlgn="t"/>
                      <a:r>
                        <a:rPr lang="en-US" sz="1600" b="1" dirty="0">
                          <a:solidFill>
                            <a:srgbClr val="002060"/>
                          </a:solidFill>
                          <a:effectLst/>
                        </a:rPr>
                        <a:t>%a</a:t>
                      </a:r>
                    </a:p>
                  </a:txBody>
                  <a:tcPr marL="97054"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600" dirty="0">
                          <a:effectLst/>
                        </a:rPr>
                        <a:t>Weekday, short version</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600" dirty="0">
                          <a:effectLst/>
                        </a:rPr>
                        <a:t>Wed</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720008666"/>
                  </a:ext>
                </a:extLst>
              </a:tr>
              <a:tr h="287300">
                <a:tc>
                  <a:txBody>
                    <a:bodyPr/>
                    <a:lstStyle/>
                    <a:p>
                      <a:pPr algn="l" fontAlgn="t"/>
                      <a:r>
                        <a:rPr lang="en-US" sz="1600" b="1" dirty="0">
                          <a:solidFill>
                            <a:srgbClr val="002060"/>
                          </a:solidFill>
                          <a:effectLst/>
                        </a:rPr>
                        <a:t>%A</a:t>
                      </a:r>
                    </a:p>
                  </a:txBody>
                  <a:tcPr marL="97054"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rPr>
                        <a:t>Weekday, full version</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rPr>
                        <a:t>Wednesday</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416384331"/>
                  </a:ext>
                </a:extLst>
              </a:tr>
              <a:tr h="471992">
                <a:tc>
                  <a:txBody>
                    <a:bodyPr/>
                    <a:lstStyle/>
                    <a:p>
                      <a:pPr algn="l" fontAlgn="t"/>
                      <a:r>
                        <a:rPr lang="en-US" sz="1600" b="1" dirty="0">
                          <a:solidFill>
                            <a:srgbClr val="002060"/>
                          </a:solidFill>
                          <a:effectLst/>
                        </a:rPr>
                        <a:t>%w</a:t>
                      </a:r>
                    </a:p>
                  </a:txBody>
                  <a:tcPr marL="97054"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600" dirty="0">
                          <a:effectLst/>
                        </a:rPr>
                        <a:t>Weekday as a number 0-6, 0 is Sunday</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600" dirty="0">
                          <a:effectLst/>
                        </a:rPr>
                        <a:t>3</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140794384"/>
                  </a:ext>
                </a:extLst>
              </a:tr>
              <a:tr h="287300">
                <a:tc>
                  <a:txBody>
                    <a:bodyPr/>
                    <a:lstStyle/>
                    <a:p>
                      <a:pPr algn="l" fontAlgn="t"/>
                      <a:r>
                        <a:rPr lang="en-US" sz="1600" b="1" dirty="0">
                          <a:solidFill>
                            <a:srgbClr val="002060"/>
                          </a:solidFill>
                          <a:effectLst/>
                        </a:rPr>
                        <a:t>%d</a:t>
                      </a:r>
                    </a:p>
                  </a:txBody>
                  <a:tcPr marL="97054"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rPr>
                        <a:t>Day of month 01-31</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dirty="0">
                          <a:effectLst/>
                        </a:rPr>
                        <a:t>31</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575098493"/>
                  </a:ext>
                </a:extLst>
              </a:tr>
              <a:tr h="471992">
                <a:tc>
                  <a:txBody>
                    <a:bodyPr/>
                    <a:lstStyle/>
                    <a:p>
                      <a:pPr algn="l" fontAlgn="t"/>
                      <a:r>
                        <a:rPr lang="en-US" sz="1600" b="1" dirty="0">
                          <a:solidFill>
                            <a:srgbClr val="002060"/>
                          </a:solidFill>
                          <a:effectLst/>
                        </a:rPr>
                        <a:t>%b</a:t>
                      </a:r>
                    </a:p>
                  </a:txBody>
                  <a:tcPr marL="97054"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600">
                          <a:effectLst/>
                        </a:rPr>
                        <a:t>Month name, short version</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600" dirty="0">
                          <a:effectLst/>
                        </a:rPr>
                        <a:t>Dec</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583684744"/>
                  </a:ext>
                </a:extLst>
              </a:tr>
              <a:tr h="287300">
                <a:tc>
                  <a:txBody>
                    <a:bodyPr/>
                    <a:lstStyle/>
                    <a:p>
                      <a:pPr algn="l" fontAlgn="t"/>
                      <a:r>
                        <a:rPr lang="en-US" sz="1600" b="1" dirty="0">
                          <a:solidFill>
                            <a:srgbClr val="002060"/>
                          </a:solidFill>
                          <a:effectLst/>
                        </a:rPr>
                        <a:t>%B</a:t>
                      </a:r>
                    </a:p>
                  </a:txBody>
                  <a:tcPr marL="97054"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dirty="0">
                          <a:effectLst/>
                        </a:rPr>
                        <a:t>Month name, full version</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dirty="0">
                          <a:effectLst/>
                        </a:rPr>
                        <a:t>December</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122219851"/>
                  </a:ext>
                </a:extLst>
              </a:tr>
              <a:tr h="471992">
                <a:tc>
                  <a:txBody>
                    <a:bodyPr/>
                    <a:lstStyle/>
                    <a:p>
                      <a:pPr algn="l" fontAlgn="t"/>
                      <a:r>
                        <a:rPr lang="en-US" sz="1600" b="1" dirty="0">
                          <a:solidFill>
                            <a:srgbClr val="002060"/>
                          </a:solidFill>
                          <a:effectLst/>
                        </a:rPr>
                        <a:t>%m</a:t>
                      </a:r>
                    </a:p>
                  </a:txBody>
                  <a:tcPr marL="97054"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600">
                          <a:effectLst/>
                        </a:rPr>
                        <a:t>Month as a number 01-12</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600" dirty="0">
                          <a:effectLst/>
                        </a:rPr>
                        <a:t>12</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220759360"/>
                  </a:ext>
                </a:extLst>
              </a:tr>
              <a:tr h="471992">
                <a:tc>
                  <a:txBody>
                    <a:bodyPr/>
                    <a:lstStyle/>
                    <a:p>
                      <a:pPr algn="l" fontAlgn="t"/>
                      <a:r>
                        <a:rPr lang="en-US" sz="1600" b="1" dirty="0">
                          <a:solidFill>
                            <a:srgbClr val="002060"/>
                          </a:solidFill>
                          <a:effectLst/>
                        </a:rPr>
                        <a:t>%y</a:t>
                      </a:r>
                    </a:p>
                  </a:txBody>
                  <a:tcPr marL="97054"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rPr>
                        <a:t>Year, short version, without century</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dirty="0">
                          <a:effectLst/>
                        </a:rPr>
                        <a:t>18</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744860181"/>
                  </a:ext>
                </a:extLst>
              </a:tr>
              <a:tr h="287300">
                <a:tc>
                  <a:txBody>
                    <a:bodyPr/>
                    <a:lstStyle/>
                    <a:p>
                      <a:pPr algn="l" fontAlgn="t"/>
                      <a:r>
                        <a:rPr lang="en-US" sz="1600" b="1" dirty="0">
                          <a:solidFill>
                            <a:srgbClr val="002060"/>
                          </a:solidFill>
                          <a:effectLst/>
                        </a:rPr>
                        <a:t>%Y</a:t>
                      </a:r>
                    </a:p>
                  </a:txBody>
                  <a:tcPr marL="97054"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US" sz="1600">
                          <a:effectLst/>
                        </a:rPr>
                        <a:t>Year, full version</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US" sz="1600" dirty="0">
                          <a:effectLst/>
                        </a:rPr>
                        <a:t>2018</a:t>
                      </a:r>
                    </a:p>
                  </a:txBody>
                  <a:tcPr marL="48527" marR="48527" marT="48527" marB="4852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extLst>
                  <a:ext uri="{0D108BD9-81ED-4DB2-BD59-A6C34878D82A}">
                    <a16:rowId xmlns:a16="http://schemas.microsoft.com/office/drawing/2014/main" val="21773749"/>
                  </a:ext>
                </a:extLst>
              </a:tr>
            </a:tbl>
          </a:graphicData>
        </a:graphic>
      </p:graphicFrame>
    </p:spTree>
    <p:extLst>
      <p:ext uri="{BB962C8B-B14F-4D97-AF65-F5344CB8AC3E}">
        <p14:creationId xmlns:p14="http://schemas.microsoft.com/office/powerpoint/2010/main" val="4229251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ctrTitle"/>
          </p:nvPr>
        </p:nvSpPr>
        <p:spPr>
          <a:xfrm>
            <a:off x="1872877" y="3068781"/>
            <a:ext cx="8446245" cy="720438"/>
          </a:xfrm>
        </p:spPr>
        <p:txBody>
          <a:bodyPr>
            <a:noAutofit/>
          </a:bodyPr>
          <a:lstStyle/>
          <a:p>
            <a:pPr algn="ctr"/>
            <a:r>
              <a:rPr lang="en-US" sz="4400" dirty="0"/>
              <a:t>Math Module in Python</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16</a:t>
            </a:fld>
            <a:endParaRPr lang="en-US" dirty="0"/>
          </a:p>
        </p:txBody>
      </p:sp>
    </p:spTree>
    <p:extLst>
      <p:ext uri="{BB962C8B-B14F-4D97-AF65-F5344CB8AC3E}">
        <p14:creationId xmlns:p14="http://schemas.microsoft.com/office/powerpoint/2010/main" val="29401143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9022718" cy="767686"/>
          </a:xfrm>
        </p:spPr>
        <p:txBody>
          <a:bodyPr>
            <a:normAutofit/>
          </a:bodyPr>
          <a:lstStyle/>
          <a:p>
            <a:r>
              <a:rPr lang="en-US" sz="3600" dirty="0"/>
              <a:t>Math Module in Python</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17</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1154954" y="2294174"/>
            <a:ext cx="10035786" cy="1418786"/>
          </a:xfrm>
          <a:prstGeom prst="rect">
            <a:avLst/>
          </a:prstGeom>
          <a:no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sz="2000" dirty="0">
                <a:solidFill>
                  <a:schemeClr val="bg2">
                    <a:lumMod val="10000"/>
                  </a:schemeClr>
                </a:solidFill>
              </a:rPr>
              <a:t>Python has a set of built-in math functions, including an extensive math module, that allows you to perform mathematical tasks on numbers.</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000" dirty="0">
                <a:solidFill>
                  <a:schemeClr val="bg2">
                    <a:lumMod val="10000"/>
                  </a:schemeClr>
                </a:solidFill>
              </a:rPr>
              <a:t>Using </a:t>
            </a:r>
            <a:r>
              <a:rPr lang="en-US" altLang="en-US" sz="2000" b="1" dirty="0">
                <a:solidFill>
                  <a:schemeClr val="bg2">
                    <a:lumMod val="10000"/>
                  </a:schemeClr>
                </a:solidFill>
              </a:rPr>
              <a:t>min</a:t>
            </a:r>
            <a:r>
              <a:rPr lang="en-US" altLang="en-US" sz="2000" dirty="0">
                <a:solidFill>
                  <a:schemeClr val="bg2">
                    <a:lumMod val="10000"/>
                  </a:schemeClr>
                </a:solidFill>
              </a:rPr>
              <a:t>(), </a:t>
            </a:r>
            <a:r>
              <a:rPr lang="en-US" altLang="en-US" sz="2000" b="1" dirty="0">
                <a:solidFill>
                  <a:schemeClr val="bg2">
                    <a:lumMod val="10000"/>
                  </a:schemeClr>
                </a:solidFill>
              </a:rPr>
              <a:t>abs</a:t>
            </a:r>
            <a:r>
              <a:rPr lang="en-US" altLang="en-US" sz="2000" dirty="0">
                <a:solidFill>
                  <a:schemeClr val="bg2">
                    <a:lumMod val="10000"/>
                  </a:schemeClr>
                </a:solidFill>
              </a:rPr>
              <a:t>(), </a:t>
            </a:r>
            <a:r>
              <a:rPr lang="en-US" altLang="en-US" sz="2000" b="1" dirty="0">
                <a:solidFill>
                  <a:schemeClr val="bg2">
                    <a:lumMod val="10000"/>
                  </a:schemeClr>
                </a:solidFill>
              </a:rPr>
              <a:t>pow</a:t>
            </a:r>
            <a:r>
              <a:rPr lang="en-US" altLang="en-US" sz="2000" dirty="0">
                <a:solidFill>
                  <a:schemeClr val="bg2">
                    <a:lumMod val="10000"/>
                  </a:schemeClr>
                </a:solidFill>
              </a:rPr>
              <a:t>() and </a:t>
            </a:r>
            <a:r>
              <a:rPr lang="en-US" altLang="en-US" sz="2000" b="1" dirty="0">
                <a:solidFill>
                  <a:schemeClr val="bg2">
                    <a:lumMod val="10000"/>
                  </a:schemeClr>
                </a:solidFill>
              </a:rPr>
              <a:t>max</a:t>
            </a:r>
            <a:r>
              <a:rPr lang="en-US" altLang="en-US" sz="2000" dirty="0">
                <a:solidFill>
                  <a:schemeClr val="bg2">
                    <a:lumMod val="10000"/>
                  </a:schemeClr>
                </a:solidFill>
              </a:rPr>
              <a:t>() function.</a:t>
            </a:r>
          </a:p>
        </p:txBody>
      </p:sp>
      <p:sp>
        <p:nvSpPr>
          <p:cNvPr id="10" name="TextBox 9">
            <a:extLst>
              <a:ext uri="{FF2B5EF4-FFF2-40B4-BE49-F238E27FC236}">
                <a16:creationId xmlns:a16="http://schemas.microsoft.com/office/drawing/2014/main" id="{2361F62B-DBD1-43FD-89F8-6DBFC1634E75}"/>
              </a:ext>
            </a:extLst>
          </p:cNvPr>
          <p:cNvSpPr txBox="1"/>
          <p:nvPr/>
        </p:nvSpPr>
        <p:spPr>
          <a:xfrm>
            <a:off x="1238083" y="3823938"/>
            <a:ext cx="9693153" cy="2800767"/>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sz="1600" b="0" dirty="0">
                <a:solidFill>
                  <a:srgbClr val="6A9955"/>
                </a:solidFill>
                <a:effectLst/>
                <a:latin typeface="Consolas" panose="020B0609020204030204" pitchFamily="49" charset="0"/>
              </a:rPr>
              <a:t># find the maximum number of a numbers</a:t>
            </a:r>
            <a:endParaRPr lang="en-US" sz="1600" b="0" dirty="0">
              <a:solidFill>
                <a:srgbClr val="D4D4D4"/>
              </a:solidFill>
              <a:effectLst/>
              <a:latin typeface="Consolas" panose="020B0609020204030204" pitchFamily="49" charset="0"/>
            </a:endParaRPr>
          </a:p>
          <a:p>
            <a:r>
              <a:rPr lang="en-US" sz="1600" b="0" dirty="0">
                <a:solidFill>
                  <a:srgbClr val="9CDCFE"/>
                </a:solidFill>
                <a:effectLst/>
                <a:latin typeface="Consolas" panose="020B0609020204030204" pitchFamily="49" charset="0"/>
              </a:rPr>
              <a:t>x</a:t>
            </a:r>
            <a:r>
              <a:rPr lang="en-US" sz="1600" b="0" dirty="0">
                <a:solidFill>
                  <a:srgbClr val="D4D4D4"/>
                </a:solidFill>
                <a:effectLst/>
                <a:latin typeface="Consolas" panose="020B0609020204030204" pitchFamily="49" charset="0"/>
              </a:rPr>
              <a:t> = </a:t>
            </a:r>
            <a:r>
              <a:rPr lang="en-US" sz="1600" b="0" dirty="0">
                <a:solidFill>
                  <a:srgbClr val="DCDCAA"/>
                </a:solidFill>
                <a:effectLst/>
                <a:latin typeface="Consolas" panose="020B0609020204030204" pitchFamily="49" charset="0"/>
              </a:rPr>
              <a:t>max</a:t>
            </a:r>
            <a:r>
              <a:rPr lang="en-US" sz="1600" b="0" dirty="0">
                <a:solidFill>
                  <a:srgbClr val="D4D4D4"/>
                </a:solidFill>
                <a:effectLst/>
                <a:latin typeface="Consolas" panose="020B0609020204030204" pitchFamily="49" charset="0"/>
              </a:rPr>
              <a:t>(</a:t>
            </a:r>
            <a:r>
              <a:rPr lang="en-US" sz="1600" b="0" dirty="0">
                <a:solidFill>
                  <a:srgbClr val="B5CEA8"/>
                </a:solidFill>
                <a:effectLst/>
                <a:latin typeface="Consolas" panose="020B0609020204030204" pitchFamily="49" charset="0"/>
              </a:rPr>
              <a:t>39</a:t>
            </a:r>
            <a:r>
              <a:rPr lang="en-US" sz="1600" b="0" dirty="0">
                <a:solidFill>
                  <a:srgbClr val="D4D4D4"/>
                </a:solidFill>
                <a:effectLst/>
                <a:latin typeface="Consolas" panose="020B0609020204030204" pitchFamily="49" charset="0"/>
              </a:rPr>
              <a:t>, </a:t>
            </a:r>
            <a:r>
              <a:rPr lang="en-US" sz="1600" b="0" dirty="0">
                <a:solidFill>
                  <a:srgbClr val="B5CEA8"/>
                </a:solidFill>
                <a:effectLst/>
                <a:latin typeface="Consolas" panose="020B0609020204030204" pitchFamily="49" charset="0"/>
              </a:rPr>
              <a:t>56</a:t>
            </a:r>
            <a:r>
              <a:rPr lang="en-US" sz="1600" b="0" dirty="0">
                <a:solidFill>
                  <a:srgbClr val="D4D4D4"/>
                </a:solidFill>
                <a:effectLst/>
                <a:latin typeface="Consolas" panose="020B0609020204030204" pitchFamily="49" charset="0"/>
              </a:rPr>
              <a:t>, </a:t>
            </a:r>
            <a:r>
              <a:rPr lang="en-US" sz="1600" b="0" dirty="0">
                <a:solidFill>
                  <a:srgbClr val="B5CEA8"/>
                </a:solidFill>
                <a:effectLst/>
                <a:latin typeface="Consolas" panose="020B0609020204030204" pitchFamily="49" charset="0"/>
              </a:rPr>
              <a:t>34</a:t>
            </a:r>
            <a:r>
              <a:rPr lang="en-US" sz="1600" b="0" dirty="0">
                <a:solidFill>
                  <a:srgbClr val="D4D4D4"/>
                </a:solidFill>
                <a:effectLst/>
                <a:latin typeface="Consolas" panose="020B0609020204030204" pitchFamily="49" charset="0"/>
              </a:rPr>
              <a:t>, </a:t>
            </a:r>
            <a:r>
              <a:rPr lang="en-US" sz="1600" b="0" dirty="0">
                <a:solidFill>
                  <a:srgbClr val="B5CEA8"/>
                </a:solidFill>
                <a:effectLst/>
                <a:latin typeface="Consolas" panose="020B0609020204030204" pitchFamily="49" charset="0"/>
              </a:rPr>
              <a:t>67</a:t>
            </a:r>
            <a:r>
              <a:rPr lang="en-US" sz="1600" b="0" dirty="0">
                <a:solidFill>
                  <a:srgbClr val="D4D4D4"/>
                </a:solidFill>
                <a:effectLst/>
                <a:latin typeface="Consolas" panose="020B0609020204030204" pitchFamily="49" charset="0"/>
              </a:rPr>
              <a:t>)</a:t>
            </a:r>
          </a:p>
          <a:p>
            <a:br>
              <a:rPr lang="en-US" sz="1600" b="0" dirty="0">
                <a:solidFill>
                  <a:srgbClr val="D4D4D4"/>
                </a:solidFill>
                <a:effectLst/>
                <a:latin typeface="Consolas" panose="020B0609020204030204" pitchFamily="49" charset="0"/>
              </a:rPr>
            </a:br>
            <a:r>
              <a:rPr lang="en-US" sz="1600" b="0" dirty="0">
                <a:solidFill>
                  <a:srgbClr val="6A9955"/>
                </a:solidFill>
                <a:effectLst/>
                <a:latin typeface="Consolas" panose="020B0609020204030204" pitchFamily="49" charset="0"/>
              </a:rPr>
              <a:t># find the minimum number of a numbers</a:t>
            </a:r>
            <a:endParaRPr lang="en-US" sz="1600" b="0" dirty="0">
              <a:solidFill>
                <a:srgbClr val="D4D4D4"/>
              </a:solidFill>
              <a:effectLst/>
              <a:latin typeface="Consolas" panose="020B0609020204030204" pitchFamily="49" charset="0"/>
            </a:endParaRPr>
          </a:p>
          <a:p>
            <a:r>
              <a:rPr lang="en-US" sz="1600" b="0" dirty="0">
                <a:solidFill>
                  <a:srgbClr val="9CDCFE"/>
                </a:solidFill>
                <a:effectLst/>
                <a:latin typeface="Consolas" panose="020B0609020204030204" pitchFamily="49" charset="0"/>
              </a:rPr>
              <a:t>y</a:t>
            </a:r>
            <a:r>
              <a:rPr lang="en-US" sz="1600" b="0" dirty="0">
                <a:solidFill>
                  <a:srgbClr val="D4D4D4"/>
                </a:solidFill>
                <a:effectLst/>
                <a:latin typeface="Consolas" panose="020B0609020204030204" pitchFamily="49" charset="0"/>
              </a:rPr>
              <a:t> = </a:t>
            </a:r>
            <a:r>
              <a:rPr lang="en-US" sz="1600" b="0" dirty="0">
                <a:solidFill>
                  <a:srgbClr val="DCDCAA"/>
                </a:solidFill>
                <a:effectLst/>
                <a:latin typeface="Consolas" panose="020B0609020204030204" pitchFamily="49" charset="0"/>
              </a:rPr>
              <a:t>min</a:t>
            </a:r>
            <a:r>
              <a:rPr lang="en-US" sz="1600" b="0" dirty="0">
                <a:solidFill>
                  <a:srgbClr val="D4D4D4"/>
                </a:solidFill>
                <a:effectLst/>
                <a:latin typeface="Consolas" panose="020B0609020204030204" pitchFamily="49" charset="0"/>
              </a:rPr>
              <a:t>(</a:t>
            </a:r>
            <a:r>
              <a:rPr lang="en-US" sz="1600" b="0" dirty="0">
                <a:solidFill>
                  <a:srgbClr val="B5CEA8"/>
                </a:solidFill>
                <a:effectLst/>
                <a:latin typeface="Consolas" panose="020B0609020204030204" pitchFamily="49" charset="0"/>
              </a:rPr>
              <a:t>39</a:t>
            </a:r>
            <a:r>
              <a:rPr lang="en-US" sz="1600" b="0" dirty="0">
                <a:solidFill>
                  <a:srgbClr val="D4D4D4"/>
                </a:solidFill>
                <a:effectLst/>
                <a:latin typeface="Consolas" panose="020B0609020204030204" pitchFamily="49" charset="0"/>
              </a:rPr>
              <a:t>, </a:t>
            </a:r>
            <a:r>
              <a:rPr lang="en-US" sz="1600" b="0" dirty="0">
                <a:solidFill>
                  <a:srgbClr val="B5CEA8"/>
                </a:solidFill>
                <a:effectLst/>
                <a:latin typeface="Consolas" panose="020B0609020204030204" pitchFamily="49" charset="0"/>
              </a:rPr>
              <a:t>56</a:t>
            </a:r>
            <a:r>
              <a:rPr lang="en-US" sz="1600" b="0" dirty="0">
                <a:solidFill>
                  <a:srgbClr val="D4D4D4"/>
                </a:solidFill>
                <a:effectLst/>
                <a:latin typeface="Consolas" panose="020B0609020204030204" pitchFamily="49" charset="0"/>
              </a:rPr>
              <a:t>, </a:t>
            </a:r>
            <a:r>
              <a:rPr lang="en-US" sz="1600" b="0" dirty="0">
                <a:solidFill>
                  <a:srgbClr val="B5CEA8"/>
                </a:solidFill>
                <a:effectLst/>
                <a:latin typeface="Consolas" panose="020B0609020204030204" pitchFamily="49" charset="0"/>
              </a:rPr>
              <a:t>34</a:t>
            </a:r>
            <a:r>
              <a:rPr lang="en-US" sz="1600" b="0" dirty="0">
                <a:solidFill>
                  <a:srgbClr val="D4D4D4"/>
                </a:solidFill>
                <a:effectLst/>
                <a:latin typeface="Consolas" panose="020B0609020204030204" pitchFamily="49" charset="0"/>
              </a:rPr>
              <a:t>, </a:t>
            </a:r>
            <a:r>
              <a:rPr lang="en-US" sz="1600" b="0" dirty="0">
                <a:solidFill>
                  <a:srgbClr val="B5CEA8"/>
                </a:solidFill>
                <a:effectLst/>
                <a:latin typeface="Consolas" panose="020B0609020204030204" pitchFamily="49" charset="0"/>
              </a:rPr>
              <a:t>67</a:t>
            </a:r>
            <a:r>
              <a:rPr lang="en-US" sz="1600" b="0" dirty="0">
                <a:solidFill>
                  <a:srgbClr val="D4D4D4"/>
                </a:solidFill>
                <a:effectLst/>
                <a:latin typeface="Consolas" panose="020B0609020204030204" pitchFamily="49" charset="0"/>
              </a:rPr>
              <a:t>)</a:t>
            </a:r>
          </a:p>
          <a:p>
            <a:endParaRPr lang="en-US" sz="1600" dirty="0">
              <a:solidFill>
                <a:srgbClr val="D4D4D4"/>
              </a:solidFill>
              <a:latin typeface="Consolas" panose="020B0609020204030204" pitchFamily="49" charset="0"/>
            </a:endParaRPr>
          </a:p>
          <a:p>
            <a:r>
              <a:rPr lang="en-US" sz="1600" b="0" dirty="0">
                <a:solidFill>
                  <a:srgbClr val="6A9955"/>
                </a:solidFill>
                <a:effectLst/>
                <a:latin typeface="Consolas" panose="020B0609020204030204" pitchFamily="49" charset="0"/>
              </a:rPr>
              <a:t># The abs() function returns the absolute (positive) value of the specified number:</a:t>
            </a:r>
            <a:endParaRPr lang="en-US" sz="1600" b="0" dirty="0">
              <a:solidFill>
                <a:srgbClr val="D4D4D4"/>
              </a:solidFill>
              <a:effectLst/>
              <a:latin typeface="Consolas" panose="020B0609020204030204" pitchFamily="49" charset="0"/>
            </a:endParaRPr>
          </a:p>
          <a:p>
            <a:r>
              <a:rPr lang="en-US" sz="1600" b="0" dirty="0">
                <a:solidFill>
                  <a:srgbClr val="9CDCFE"/>
                </a:solidFill>
                <a:effectLst/>
                <a:latin typeface="Consolas" panose="020B0609020204030204" pitchFamily="49" charset="0"/>
              </a:rPr>
              <a:t>x</a:t>
            </a:r>
            <a:r>
              <a:rPr lang="en-US" sz="1600" b="0" dirty="0">
                <a:solidFill>
                  <a:srgbClr val="D4D4D4"/>
                </a:solidFill>
                <a:effectLst/>
                <a:latin typeface="Consolas" panose="020B0609020204030204" pitchFamily="49" charset="0"/>
              </a:rPr>
              <a:t> = </a:t>
            </a:r>
            <a:r>
              <a:rPr lang="en-US" sz="1600" b="0" dirty="0">
                <a:solidFill>
                  <a:srgbClr val="DCDCAA"/>
                </a:solidFill>
                <a:effectLst/>
                <a:latin typeface="Consolas" panose="020B0609020204030204" pitchFamily="49" charset="0"/>
              </a:rPr>
              <a:t>abs</a:t>
            </a:r>
            <a:r>
              <a:rPr lang="en-US" sz="1600" b="0" dirty="0">
                <a:solidFill>
                  <a:srgbClr val="D4D4D4"/>
                </a:solidFill>
                <a:effectLst/>
                <a:latin typeface="Consolas" panose="020B0609020204030204" pitchFamily="49" charset="0"/>
              </a:rPr>
              <a:t>(-</a:t>
            </a:r>
            <a:r>
              <a:rPr lang="en-US" sz="1600" b="0" dirty="0">
                <a:solidFill>
                  <a:srgbClr val="B5CEA8"/>
                </a:solidFill>
                <a:effectLst/>
                <a:latin typeface="Consolas" panose="020B0609020204030204" pitchFamily="49" charset="0"/>
              </a:rPr>
              <a:t>90.56</a:t>
            </a:r>
            <a:r>
              <a:rPr lang="en-US" sz="1600" b="0" dirty="0">
                <a:solidFill>
                  <a:srgbClr val="D4D4D4"/>
                </a:solidFill>
                <a:effectLst/>
                <a:latin typeface="Consolas" panose="020B0609020204030204" pitchFamily="49" charset="0"/>
              </a:rPr>
              <a:t>)</a:t>
            </a:r>
          </a:p>
          <a:p>
            <a:br>
              <a:rPr lang="en-US" sz="1600" b="0" dirty="0">
                <a:solidFill>
                  <a:srgbClr val="D4D4D4"/>
                </a:solidFill>
                <a:effectLst/>
                <a:latin typeface="Consolas" panose="020B0609020204030204" pitchFamily="49" charset="0"/>
              </a:rPr>
            </a:br>
            <a:r>
              <a:rPr lang="en-US" sz="1600" b="0" dirty="0">
                <a:solidFill>
                  <a:srgbClr val="6A9955"/>
                </a:solidFill>
                <a:effectLst/>
                <a:latin typeface="Consolas" panose="020B0609020204030204" pitchFamily="49" charset="0"/>
              </a:rPr>
              <a:t># The pow(x, y) function returns the value of x to the power of y (</a:t>
            </a:r>
            <a:r>
              <a:rPr lang="en-US" sz="1600" b="0" dirty="0" err="1">
                <a:solidFill>
                  <a:srgbClr val="6A9955"/>
                </a:solidFill>
                <a:effectLst/>
                <a:latin typeface="Consolas" panose="020B0609020204030204" pitchFamily="49" charset="0"/>
              </a:rPr>
              <a:t>xy</a:t>
            </a:r>
            <a:r>
              <a:rPr lang="en-US" sz="1600" b="0" dirty="0">
                <a:solidFill>
                  <a:srgbClr val="6A9955"/>
                </a:solidFill>
                <a:effectLst/>
                <a:latin typeface="Consolas" panose="020B0609020204030204" pitchFamily="49" charset="0"/>
              </a:rPr>
              <a:t>).</a:t>
            </a:r>
            <a:endParaRPr lang="en-US" sz="1600" b="0" dirty="0">
              <a:solidFill>
                <a:srgbClr val="D4D4D4"/>
              </a:solidFill>
              <a:effectLst/>
              <a:latin typeface="Consolas" panose="020B0609020204030204" pitchFamily="49" charset="0"/>
            </a:endParaRPr>
          </a:p>
          <a:p>
            <a:r>
              <a:rPr lang="en-US" sz="1600" b="0" dirty="0">
                <a:solidFill>
                  <a:srgbClr val="9CDCFE"/>
                </a:solidFill>
                <a:effectLst/>
                <a:latin typeface="Consolas" panose="020B0609020204030204" pitchFamily="49" charset="0"/>
              </a:rPr>
              <a:t>x</a:t>
            </a:r>
            <a:r>
              <a:rPr lang="en-US" sz="1600" b="0" dirty="0">
                <a:solidFill>
                  <a:srgbClr val="D4D4D4"/>
                </a:solidFill>
                <a:effectLst/>
                <a:latin typeface="Consolas" panose="020B0609020204030204" pitchFamily="49" charset="0"/>
              </a:rPr>
              <a:t> = </a:t>
            </a:r>
            <a:r>
              <a:rPr lang="en-US" sz="1600" b="0" dirty="0">
                <a:solidFill>
                  <a:srgbClr val="DCDCAA"/>
                </a:solidFill>
                <a:effectLst/>
                <a:latin typeface="Consolas" panose="020B0609020204030204" pitchFamily="49" charset="0"/>
              </a:rPr>
              <a:t>pow</a:t>
            </a:r>
            <a:r>
              <a:rPr lang="en-US" sz="1600" b="0" dirty="0">
                <a:solidFill>
                  <a:srgbClr val="D4D4D4"/>
                </a:solidFill>
                <a:effectLst/>
                <a:latin typeface="Consolas" panose="020B0609020204030204" pitchFamily="49" charset="0"/>
              </a:rPr>
              <a:t>(</a:t>
            </a:r>
            <a:r>
              <a:rPr lang="en-US" sz="1600" b="0" dirty="0">
                <a:solidFill>
                  <a:srgbClr val="B5CEA8"/>
                </a:solidFill>
                <a:effectLst/>
                <a:latin typeface="Consolas" panose="020B0609020204030204" pitchFamily="49" charset="0"/>
              </a:rPr>
              <a:t>4</a:t>
            </a:r>
            <a:r>
              <a:rPr lang="en-US" sz="1600" b="0" dirty="0">
                <a:solidFill>
                  <a:srgbClr val="D4D4D4"/>
                </a:solidFill>
                <a:effectLst/>
                <a:latin typeface="Consolas" panose="020B0609020204030204" pitchFamily="49" charset="0"/>
              </a:rPr>
              <a:t>, </a:t>
            </a:r>
            <a:r>
              <a:rPr lang="en-US" sz="1600" b="0" dirty="0">
                <a:solidFill>
                  <a:srgbClr val="B5CEA8"/>
                </a:solidFill>
                <a:effectLst/>
                <a:latin typeface="Consolas" panose="020B0609020204030204" pitchFamily="49" charset="0"/>
              </a:rPr>
              <a:t>2</a:t>
            </a:r>
            <a:r>
              <a:rPr lang="en-US" sz="16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683156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9022718" cy="767686"/>
          </a:xfrm>
        </p:spPr>
        <p:txBody>
          <a:bodyPr>
            <a:normAutofit/>
          </a:bodyPr>
          <a:lstStyle/>
          <a:p>
            <a:r>
              <a:rPr lang="en-US" dirty="0"/>
              <a:t>How to import the Math Module</a:t>
            </a:r>
            <a:endParaRPr lang="en-US" sz="3600" dirty="0"/>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18</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1154953" y="2294174"/>
            <a:ext cx="9513047" cy="1418786"/>
          </a:xfrm>
          <a:prstGeom prst="rect">
            <a:avLst/>
          </a:prstGeom>
          <a:no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altLang="en-US" sz="2000" dirty="0">
                <a:solidFill>
                  <a:schemeClr val="bg2">
                    <a:lumMod val="10000"/>
                  </a:schemeClr>
                </a:solidFill>
              </a:rPr>
              <a:t>Python has also a built-in module called math, which extends the list of mathematical functions.</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000" dirty="0">
                <a:solidFill>
                  <a:schemeClr val="bg2">
                    <a:lumMod val="10000"/>
                  </a:schemeClr>
                </a:solidFill>
              </a:rPr>
              <a:t>To use it, you must import the math module:</a:t>
            </a:r>
          </a:p>
        </p:txBody>
      </p:sp>
      <p:sp>
        <p:nvSpPr>
          <p:cNvPr id="10" name="TextBox 9">
            <a:extLst>
              <a:ext uri="{FF2B5EF4-FFF2-40B4-BE49-F238E27FC236}">
                <a16:creationId xmlns:a16="http://schemas.microsoft.com/office/drawing/2014/main" id="{2361F62B-DBD1-43FD-89F8-6DBFC1634E75}"/>
              </a:ext>
            </a:extLst>
          </p:cNvPr>
          <p:cNvSpPr txBox="1"/>
          <p:nvPr/>
        </p:nvSpPr>
        <p:spPr>
          <a:xfrm>
            <a:off x="1238083" y="3823938"/>
            <a:ext cx="7337881" cy="2554545"/>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sz="1600" b="0" dirty="0">
                <a:solidFill>
                  <a:srgbClr val="6A9955"/>
                </a:solidFill>
                <a:effectLst/>
                <a:latin typeface="Consolas" panose="020B0609020204030204" pitchFamily="49" charset="0"/>
              </a:rPr>
              <a:t>#Import math library</a:t>
            </a:r>
            <a:endParaRPr lang="en-US" sz="1600" b="0" dirty="0">
              <a:solidFill>
                <a:srgbClr val="D4D4D4"/>
              </a:solidFill>
              <a:effectLst/>
              <a:latin typeface="Consolas" panose="020B0609020204030204" pitchFamily="49" charset="0"/>
            </a:endParaRPr>
          </a:p>
          <a:p>
            <a:r>
              <a:rPr lang="en-US" sz="1600" b="0" dirty="0">
                <a:solidFill>
                  <a:srgbClr val="C586C0"/>
                </a:solidFill>
                <a:effectLst/>
                <a:latin typeface="Consolas" panose="020B0609020204030204" pitchFamily="49" charset="0"/>
              </a:rPr>
              <a:t>import</a:t>
            </a:r>
            <a:r>
              <a:rPr lang="en-US" sz="1600" b="0" dirty="0">
                <a:solidFill>
                  <a:srgbClr val="D4D4D4"/>
                </a:solidFill>
                <a:effectLst/>
                <a:latin typeface="Consolas" panose="020B0609020204030204" pitchFamily="49" charset="0"/>
              </a:rPr>
              <a:t> </a:t>
            </a:r>
            <a:r>
              <a:rPr lang="en-US" sz="1600" b="0" dirty="0">
                <a:solidFill>
                  <a:srgbClr val="4EC9B0"/>
                </a:solidFill>
                <a:effectLst/>
                <a:latin typeface="Consolas" panose="020B0609020204030204" pitchFamily="49" charset="0"/>
              </a:rPr>
              <a:t>math</a:t>
            </a:r>
            <a:endParaRPr lang="en-US" sz="1600" b="0" dirty="0">
              <a:solidFill>
                <a:srgbClr val="D4D4D4"/>
              </a:solidFill>
              <a:effectLst/>
              <a:latin typeface="Consolas" panose="020B0609020204030204" pitchFamily="49" charset="0"/>
            </a:endParaRPr>
          </a:p>
          <a:p>
            <a:br>
              <a:rPr lang="en-US" sz="1600" b="0" dirty="0">
                <a:solidFill>
                  <a:srgbClr val="D4D4D4"/>
                </a:solidFill>
                <a:effectLst/>
                <a:latin typeface="Consolas" panose="020B0609020204030204" pitchFamily="49" charset="0"/>
              </a:rPr>
            </a:br>
            <a:r>
              <a:rPr lang="en-US" sz="1600" b="0" dirty="0">
                <a:solidFill>
                  <a:srgbClr val="9CDCFE"/>
                </a:solidFill>
                <a:effectLst/>
                <a:latin typeface="Consolas" panose="020B0609020204030204" pitchFamily="49" charset="0"/>
              </a:rPr>
              <a:t>x</a:t>
            </a:r>
            <a:r>
              <a:rPr lang="en-US" sz="1600" b="0" dirty="0">
                <a:solidFill>
                  <a:srgbClr val="D4D4D4"/>
                </a:solidFill>
                <a:effectLst/>
                <a:latin typeface="Consolas" panose="020B0609020204030204" pitchFamily="49" charset="0"/>
              </a:rPr>
              <a:t> = </a:t>
            </a:r>
            <a:r>
              <a:rPr lang="en-US" sz="1600" b="0" dirty="0" err="1">
                <a:solidFill>
                  <a:srgbClr val="4EC9B0"/>
                </a:solidFill>
                <a:effectLst/>
                <a:latin typeface="Consolas" panose="020B0609020204030204" pitchFamily="49" charset="0"/>
              </a:rPr>
              <a:t>math</a:t>
            </a:r>
            <a:r>
              <a:rPr lang="en-US" sz="1600" b="0" dirty="0" err="1">
                <a:solidFill>
                  <a:srgbClr val="D4D4D4"/>
                </a:solidFill>
                <a:effectLst/>
                <a:latin typeface="Consolas" panose="020B0609020204030204" pitchFamily="49" charset="0"/>
              </a:rPr>
              <a:t>.</a:t>
            </a:r>
            <a:r>
              <a:rPr lang="en-US" sz="1600" b="0" dirty="0" err="1">
                <a:solidFill>
                  <a:srgbClr val="DCDCAA"/>
                </a:solidFill>
                <a:effectLst/>
                <a:latin typeface="Consolas" panose="020B0609020204030204" pitchFamily="49" charset="0"/>
              </a:rPr>
              <a:t>sqrt</a:t>
            </a:r>
            <a:r>
              <a:rPr lang="en-US" sz="1600" b="0" dirty="0">
                <a:solidFill>
                  <a:srgbClr val="D4D4D4"/>
                </a:solidFill>
                <a:effectLst/>
                <a:latin typeface="Consolas" panose="020B0609020204030204" pitchFamily="49" charset="0"/>
              </a:rPr>
              <a:t>(</a:t>
            </a:r>
            <a:r>
              <a:rPr lang="en-US" sz="1600" b="0" dirty="0">
                <a:solidFill>
                  <a:srgbClr val="B5CEA8"/>
                </a:solidFill>
                <a:effectLst/>
                <a:latin typeface="Consolas" panose="020B0609020204030204" pitchFamily="49" charset="0"/>
              </a:rPr>
              <a:t>16</a:t>
            </a:r>
            <a:r>
              <a:rPr lang="en-US" sz="1600" b="0" dirty="0">
                <a:solidFill>
                  <a:srgbClr val="D4D4D4"/>
                </a:solidFill>
                <a:effectLst/>
                <a:latin typeface="Consolas" panose="020B0609020204030204" pitchFamily="49" charset="0"/>
              </a:rPr>
              <a:t>)</a:t>
            </a:r>
          </a:p>
          <a:p>
            <a:br>
              <a:rPr lang="en-US" sz="1600" b="0" dirty="0">
                <a:solidFill>
                  <a:srgbClr val="D4D4D4"/>
                </a:solidFill>
                <a:effectLst/>
                <a:latin typeface="Consolas" panose="020B0609020204030204" pitchFamily="49" charset="0"/>
              </a:rPr>
            </a:br>
            <a:r>
              <a:rPr lang="en-US" sz="1600" b="0" dirty="0">
                <a:solidFill>
                  <a:srgbClr val="6A9955"/>
                </a:solidFill>
                <a:effectLst/>
                <a:latin typeface="Consolas" panose="020B0609020204030204" pitchFamily="49" charset="0"/>
              </a:rPr>
              <a:t>#Round a number upward to its nearest integer</a:t>
            </a:r>
            <a:endParaRPr lang="en-US" sz="1600" b="0" dirty="0">
              <a:solidFill>
                <a:srgbClr val="D4D4D4"/>
              </a:solidFill>
              <a:effectLst/>
              <a:latin typeface="Consolas" panose="020B0609020204030204" pitchFamily="49" charset="0"/>
            </a:endParaRPr>
          </a:p>
          <a:p>
            <a:r>
              <a:rPr lang="en-US" sz="1600" b="0" dirty="0">
                <a:solidFill>
                  <a:srgbClr val="9CDCFE"/>
                </a:solidFill>
                <a:effectLst/>
                <a:latin typeface="Consolas" panose="020B0609020204030204" pitchFamily="49" charset="0"/>
              </a:rPr>
              <a:t>x</a:t>
            </a:r>
            <a:r>
              <a:rPr lang="en-US" sz="1600" b="0" dirty="0">
                <a:solidFill>
                  <a:srgbClr val="D4D4D4"/>
                </a:solidFill>
                <a:effectLst/>
                <a:latin typeface="Consolas" panose="020B0609020204030204" pitchFamily="49" charset="0"/>
              </a:rPr>
              <a:t> = </a:t>
            </a:r>
            <a:r>
              <a:rPr lang="en-US" sz="1600" b="0" dirty="0" err="1">
                <a:solidFill>
                  <a:srgbClr val="4EC9B0"/>
                </a:solidFill>
                <a:effectLst/>
                <a:latin typeface="Consolas" panose="020B0609020204030204" pitchFamily="49" charset="0"/>
              </a:rPr>
              <a:t>math</a:t>
            </a:r>
            <a:r>
              <a:rPr lang="en-US" sz="1600" b="0" dirty="0" err="1">
                <a:solidFill>
                  <a:srgbClr val="D4D4D4"/>
                </a:solidFill>
                <a:effectLst/>
                <a:latin typeface="Consolas" panose="020B0609020204030204" pitchFamily="49" charset="0"/>
              </a:rPr>
              <a:t>.</a:t>
            </a:r>
            <a:r>
              <a:rPr lang="en-US" sz="1600" b="0" dirty="0" err="1">
                <a:solidFill>
                  <a:srgbClr val="DCDCAA"/>
                </a:solidFill>
                <a:effectLst/>
                <a:latin typeface="Consolas" panose="020B0609020204030204" pitchFamily="49" charset="0"/>
              </a:rPr>
              <a:t>ceil</a:t>
            </a:r>
            <a:r>
              <a:rPr lang="en-US" sz="1600" b="0" dirty="0">
                <a:solidFill>
                  <a:srgbClr val="D4D4D4"/>
                </a:solidFill>
                <a:effectLst/>
                <a:latin typeface="Consolas" panose="020B0609020204030204" pitchFamily="49" charset="0"/>
              </a:rPr>
              <a:t>(</a:t>
            </a:r>
            <a:r>
              <a:rPr lang="en-US" sz="1600" b="0" dirty="0">
                <a:solidFill>
                  <a:srgbClr val="B5CEA8"/>
                </a:solidFill>
                <a:effectLst/>
                <a:latin typeface="Consolas" panose="020B0609020204030204" pitchFamily="49" charset="0"/>
              </a:rPr>
              <a:t>1.4</a:t>
            </a:r>
            <a:r>
              <a:rPr lang="en-US" sz="1600" b="0" dirty="0">
                <a:solidFill>
                  <a:srgbClr val="D4D4D4"/>
                </a:solidFill>
                <a:effectLst/>
                <a:latin typeface="Consolas" panose="020B0609020204030204" pitchFamily="49" charset="0"/>
              </a:rPr>
              <a:t>)</a:t>
            </a:r>
          </a:p>
          <a:p>
            <a:br>
              <a:rPr lang="en-US" sz="1600" b="0" dirty="0">
                <a:solidFill>
                  <a:srgbClr val="D4D4D4"/>
                </a:solidFill>
                <a:effectLst/>
                <a:latin typeface="Consolas" panose="020B0609020204030204" pitchFamily="49" charset="0"/>
              </a:rPr>
            </a:br>
            <a:r>
              <a:rPr lang="en-US" sz="1600" b="0" dirty="0">
                <a:solidFill>
                  <a:srgbClr val="6A9955"/>
                </a:solidFill>
                <a:effectLst/>
                <a:latin typeface="Consolas" panose="020B0609020204030204" pitchFamily="49" charset="0"/>
              </a:rPr>
              <a:t>#Round a number downward to its nearest integer</a:t>
            </a:r>
            <a:endParaRPr lang="en-US" sz="1600" b="0" dirty="0">
              <a:solidFill>
                <a:srgbClr val="D4D4D4"/>
              </a:solidFill>
              <a:effectLst/>
              <a:latin typeface="Consolas" panose="020B0609020204030204" pitchFamily="49" charset="0"/>
            </a:endParaRPr>
          </a:p>
          <a:p>
            <a:r>
              <a:rPr lang="en-US" sz="1600" b="0" dirty="0">
                <a:solidFill>
                  <a:srgbClr val="9CDCFE"/>
                </a:solidFill>
                <a:effectLst/>
                <a:latin typeface="Consolas" panose="020B0609020204030204" pitchFamily="49" charset="0"/>
              </a:rPr>
              <a:t>y</a:t>
            </a:r>
            <a:r>
              <a:rPr lang="en-US" sz="1600" b="0" dirty="0">
                <a:solidFill>
                  <a:srgbClr val="D4D4D4"/>
                </a:solidFill>
                <a:effectLst/>
                <a:latin typeface="Consolas" panose="020B0609020204030204" pitchFamily="49" charset="0"/>
              </a:rPr>
              <a:t> = </a:t>
            </a:r>
            <a:r>
              <a:rPr lang="en-US" sz="1600" b="0" dirty="0" err="1">
                <a:solidFill>
                  <a:srgbClr val="4EC9B0"/>
                </a:solidFill>
                <a:effectLst/>
                <a:latin typeface="Consolas" panose="020B0609020204030204" pitchFamily="49" charset="0"/>
              </a:rPr>
              <a:t>math</a:t>
            </a:r>
            <a:r>
              <a:rPr lang="en-US" sz="1600" b="0" dirty="0" err="1">
                <a:solidFill>
                  <a:srgbClr val="D4D4D4"/>
                </a:solidFill>
                <a:effectLst/>
                <a:latin typeface="Consolas" panose="020B0609020204030204" pitchFamily="49" charset="0"/>
              </a:rPr>
              <a:t>.</a:t>
            </a:r>
            <a:r>
              <a:rPr lang="en-US" sz="1600" b="0" dirty="0" err="1">
                <a:solidFill>
                  <a:srgbClr val="DCDCAA"/>
                </a:solidFill>
                <a:effectLst/>
                <a:latin typeface="Consolas" panose="020B0609020204030204" pitchFamily="49" charset="0"/>
              </a:rPr>
              <a:t>floor</a:t>
            </a:r>
            <a:r>
              <a:rPr lang="en-US" sz="1600" b="0" dirty="0">
                <a:solidFill>
                  <a:srgbClr val="D4D4D4"/>
                </a:solidFill>
                <a:effectLst/>
                <a:latin typeface="Consolas" panose="020B0609020204030204" pitchFamily="49" charset="0"/>
              </a:rPr>
              <a:t>(</a:t>
            </a:r>
            <a:r>
              <a:rPr lang="en-US" sz="1600" b="0" dirty="0">
                <a:solidFill>
                  <a:srgbClr val="B5CEA8"/>
                </a:solidFill>
                <a:effectLst/>
                <a:latin typeface="Consolas" panose="020B0609020204030204" pitchFamily="49" charset="0"/>
              </a:rPr>
              <a:t>1.4</a:t>
            </a:r>
            <a:r>
              <a:rPr lang="en-US" sz="16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7313720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82DE0D62-AAD7-4D50-AD06-F7CC05D96117}"/>
              </a:ext>
            </a:extLst>
          </p:cNvPr>
          <p:cNvSpPr>
            <a:spLocks noGrp="1"/>
          </p:cNvSpPr>
          <p:nvPr>
            <p:ph type="ctrTitle"/>
          </p:nvPr>
        </p:nvSpPr>
        <p:spPr>
          <a:xfrm>
            <a:off x="1762912" y="2862483"/>
            <a:ext cx="8666175" cy="1133033"/>
          </a:xfrm>
        </p:spPr>
        <p:txBody>
          <a:bodyPr/>
          <a:lstStyle/>
          <a:p>
            <a:pPr algn="ctr"/>
            <a:r>
              <a:rPr lang="en-US" sz="7200" dirty="0"/>
              <a:t>Thanks for Reading</a:t>
            </a:r>
          </a:p>
        </p:txBody>
      </p:sp>
      <p:sp>
        <p:nvSpPr>
          <p:cNvPr id="2" name="Slide Number Placeholder 1">
            <a:extLst>
              <a:ext uri="{FF2B5EF4-FFF2-40B4-BE49-F238E27FC236}">
                <a16:creationId xmlns:a16="http://schemas.microsoft.com/office/drawing/2014/main" id="{DE991412-8677-443B-AE2D-B256FF39888A}"/>
              </a:ext>
            </a:extLst>
          </p:cNvPr>
          <p:cNvSpPr>
            <a:spLocks noGrp="1"/>
          </p:cNvSpPr>
          <p:nvPr>
            <p:ph type="sldNum" sz="quarter" idx="12"/>
          </p:nvPr>
        </p:nvSpPr>
        <p:spPr/>
        <p:txBody>
          <a:bodyPr/>
          <a:lstStyle/>
          <a:p>
            <a:fld id="{0D6F892B-1791-4F93-8AFD-83813F10F54D}" type="slidenum">
              <a:rPr lang="en-US" smtClean="0"/>
              <a:t>19</a:t>
            </a:fld>
            <a:endParaRPr lang="en-US" dirty="0"/>
          </a:p>
        </p:txBody>
      </p:sp>
    </p:spTree>
    <p:extLst>
      <p:ext uri="{BB962C8B-B14F-4D97-AF65-F5344CB8AC3E}">
        <p14:creationId xmlns:p14="http://schemas.microsoft.com/office/powerpoint/2010/main" val="23344601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1562</TotalTime>
  <Words>1266</Words>
  <Application>Microsoft Office PowerPoint</Application>
  <PresentationFormat>Widescreen</PresentationFormat>
  <Paragraphs>185</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Arial Rounded MT Bold</vt:lpstr>
      <vt:lpstr>Calibri</vt:lpstr>
      <vt:lpstr>Century Gothic</vt:lpstr>
      <vt:lpstr>Consolas</vt:lpstr>
      <vt:lpstr>Wingdings</vt:lpstr>
      <vt:lpstr>Wingdings 3</vt:lpstr>
      <vt:lpstr>Ion Boardroom</vt:lpstr>
      <vt:lpstr>Part 13  Module in Python</vt:lpstr>
      <vt:lpstr>What is Module in Python?</vt:lpstr>
      <vt:lpstr>How to create User-defined Module?</vt:lpstr>
      <vt:lpstr>How to use a user-defined Module?</vt:lpstr>
      <vt:lpstr>Re-naming a Module</vt:lpstr>
      <vt:lpstr>Import From Modules</vt:lpstr>
      <vt:lpstr>Built-in Modules</vt:lpstr>
      <vt:lpstr>Datetime Module in Python</vt:lpstr>
      <vt:lpstr>Python Dates Module</vt:lpstr>
      <vt:lpstr>How to import Datetime Module</vt:lpstr>
      <vt:lpstr>How to Return the year &amp; name of Day</vt:lpstr>
      <vt:lpstr>Creating Date Objects</vt:lpstr>
      <vt:lpstr>How to Subtract Dates</vt:lpstr>
      <vt:lpstr>The “strftime()” method</vt:lpstr>
      <vt:lpstr>Datetime Module format codes</vt:lpstr>
      <vt:lpstr>Math Module in Python</vt:lpstr>
      <vt:lpstr>Math Module in Python</vt:lpstr>
      <vt:lpstr>How to import the Math Module</vt:lpstr>
      <vt:lpstr>Thanks for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Babar Ali</dc:creator>
  <cp:lastModifiedBy>Babar Ali</cp:lastModifiedBy>
  <cp:revision>1137</cp:revision>
  <dcterms:created xsi:type="dcterms:W3CDTF">2021-12-18T06:39:36Z</dcterms:created>
  <dcterms:modified xsi:type="dcterms:W3CDTF">2022-01-13T17:21:55Z</dcterms:modified>
</cp:coreProperties>
</file>