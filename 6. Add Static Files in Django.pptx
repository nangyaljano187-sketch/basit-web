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1"/>
  </p:notesMasterIdLst>
  <p:sldIdLst>
    <p:sldId id="282" r:id="rId2"/>
    <p:sldId id="294" r:id="rId3"/>
    <p:sldId id="292" r:id="rId4"/>
    <p:sldId id="295" r:id="rId5"/>
    <p:sldId id="296" r:id="rId6"/>
    <p:sldId id="297" r:id="rId7"/>
    <p:sldId id="299" r:id="rId8"/>
    <p:sldId id="298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8" r:id="rId17"/>
    <p:sldId id="307" r:id="rId18"/>
    <p:sldId id="309" r:id="rId19"/>
    <p:sldId id="26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D997C-CE91-4065-908A-4318139CC39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3A179-9DAE-450C-94FB-53E8C3C8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9AD8DC4-9FCB-4680-8247-A1F2DD620E87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FCE9-F346-45F2-95F3-D39EB8912A8E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9353-8DFC-4AFC-8102-BB3206AC82E4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6F6F-EFC7-4394-B794-6FEFAD4A2775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EFFB-8FA1-4BAD-8702-24A1B778342B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FCFB-0973-4BE5-A859-4170D928D8A3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DD2A-877B-43B0-98EA-C76E15752D21}" type="datetime1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38C0-D298-452E-A775-F9C3ABDD9B03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2E0F-9C3A-4973-BBAB-3C5251441671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7575-E71E-408B-9FE6-154DAA6F36DB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20C-8832-452D-9FF1-71979E732660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BA3F-BB0C-4DF8-8BA6-0E0E8FC1FDBD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5AB0-8512-4124-AE2E-E4C01A7204EE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7D4B-1D92-4D5E-ADE0-3DD7D11B9830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FB43-B33F-4404-924E-BF1382461569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A79FE78-6215-42F7-99B6-4FC1EC025E5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76C977E-DD79-4C45-AEC9-D11E698B9896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B0B7CF-E385-4015-BBAF-6B02779E05CB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jangoproject.com/en/4.0/ref/contrib/staticfiles/#module-django.contrib.staticfiles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84115"/>
            <a:ext cx="10035784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6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Static Files &amp; HTTP</a:t>
            </a:r>
            <a:endParaRPr lang="en-US" sz="60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4287049"/>
            <a:ext cx="10035783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4.0.1</a:t>
            </a:r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6802583" y="5727684"/>
            <a:ext cx="4668900" cy="430725"/>
          </a:xfrm>
          <a:prstGeom prst="rect">
            <a:avLst/>
          </a:prstGeom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Written and design by: Babar </a:t>
            </a:r>
            <a:r>
              <a:rPr lang="en-US" sz="2000" b="1" dirty="0" err="1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016D5-09FF-4268-BF3D-93E15637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809" y="973668"/>
            <a:ext cx="8761413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Static Files?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25462-BB4E-4870-99C8-B29DCA328304}"/>
              </a:ext>
            </a:extLst>
          </p:cNvPr>
          <p:cNvSpPr txBox="1"/>
          <p:nvPr/>
        </p:nvSpPr>
        <p:spPr>
          <a:xfrm>
            <a:off x="1715293" y="2364708"/>
            <a:ext cx="8761414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Websites generally need to serve additional files such as </a:t>
            </a:r>
            <a:r>
              <a:rPr lang="en-US" altLang="en-US" b="1" dirty="0"/>
              <a:t>images</a:t>
            </a:r>
            <a:r>
              <a:rPr lang="en-US" altLang="en-US" dirty="0"/>
              <a:t>, </a:t>
            </a:r>
            <a:r>
              <a:rPr lang="en-US" altLang="en-US" b="1" dirty="0"/>
              <a:t>JavaScript</a:t>
            </a:r>
            <a:r>
              <a:rPr lang="en-US" altLang="en-US" dirty="0"/>
              <a:t>, or </a:t>
            </a:r>
            <a:r>
              <a:rPr lang="en-US" altLang="en-US" b="1" dirty="0"/>
              <a:t>CSS</a:t>
            </a:r>
            <a:r>
              <a:rPr lang="en-US" altLang="en-US" dirty="0"/>
              <a:t>. In Django, we refer to these files as “</a:t>
            </a:r>
            <a:r>
              <a:rPr lang="en-US" altLang="en-US" b="1" dirty="0"/>
              <a:t>static</a:t>
            </a:r>
            <a:r>
              <a:rPr lang="en-US" altLang="en-US" dirty="0"/>
              <a:t> </a:t>
            </a:r>
            <a:r>
              <a:rPr lang="en-US" altLang="en-US" b="1" dirty="0"/>
              <a:t>files</a:t>
            </a:r>
            <a:r>
              <a:rPr lang="en-US" altLang="en-US" dirty="0"/>
              <a:t>”. Django provides </a:t>
            </a:r>
            <a:r>
              <a:rPr lang="en-US" altLang="en-US" b="1" dirty="0" err="1">
                <a:hlinkClick r:id="rId2" tooltip="django.contrib.staticfiles: An app for handling static files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django</a:t>
            </a:r>
            <a:r>
              <a:rPr lang="en-US" altLang="en-US" dirty="0" err="1">
                <a:hlinkClick r:id="rId2" tooltip="django.contrib.staticfiles: An app for handling static files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altLang="en-US" b="1" dirty="0" err="1">
                <a:hlinkClick r:id="rId2" tooltip="django.contrib.staticfiles: An app for handling static files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contrib</a:t>
            </a:r>
            <a:r>
              <a:rPr lang="en-US" altLang="en-US" dirty="0" err="1">
                <a:hlinkClick r:id="rId2" tooltip="django.contrib.staticfiles: An app for handling static files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altLang="en-US" b="1" dirty="0" err="1">
                <a:hlinkClick r:id="rId2" tooltip="django.contrib.staticfiles: An app for handling static files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staticfiles</a:t>
            </a:r>
            <a:r>
              <a:rPr lang="en-US" altLang="en-US" dirty="0"/>
              <a:t> to help you manage them.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B791D4-B64F-418E-80C1-0D8BE0B7D2EB}"/>
              </a:ext>
            </a:extLst>
          </p:cNvPr>
          <p:cNvSpPr/>
          <p:nvPr/>
        </p:nvSpPr>
        <p:spPr>
          <a:xfrm>
            <a:off x="3435914" y="4124806"/>
            <a:ext cx="1413163" cy="181494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Static Files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A0A8E8-D87E-41C3-AC63-2BBA3B15164C}"/>
              </a:ext>
            </a:extLst>
          </p:cNvPr>
          <p:cNvCxnSpPr/>
          <p:nvPr/>
        </p:nvCxnSpPr>
        <p:spPr>
          <a:xfrm>
            <a:off x="4849077" y="5032279"/>
            <a:ext cx="12053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29214E-6C7F-4563-A6F9-34A79C2A9BDD}"/>
              </a:ext>
            </a:extLst>
          </p:cNvPr>
          <p:cNvCxnSpPr>
            <a:cxnSpLocks/>
          </p:cNvCxnSpPr>
          <p:nvPr/>
        </p:nvCxnSpPr>
        <p:spPr>
          <a:xfrm flipV="1">
            <a:off x="5964367" y="4552534"/>
            <a:ext cx="976747" cy="465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237A86-6C3E-4CDA-9CBB-DAAAEB6964FB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5964367" y="5016981"/>
            <a:ext cx="976747" cy="1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C8A562-3D0A-4307-B6A3-C1B95385F9CC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5964367" y="5018424"/>
            <a:ext cx="976746" cy="504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89713F4-F270-4942-9C9D-481239087AE5}"/>
              </a:ext>
            </a:extLst>
          </p:cNvPr>
          <p:cNvSpPr txBox="1"/>
          <p:nvPr/>
        </p:nvSpPr>
        <p:spPr>
          <a:xfrm>
            <a:off x="6941114" y="4322776"/>
            <a:ext cx="1427017" cy="376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Files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BD5FDF-1AFE-4588-9ADD-0EFECB27BFF3}"/>
              </a:ext>
            </a:extLst>
          </p:cNvPr>
          <p:cNvSpPr txBox="1"/>
          <p:nvPr/>
        </p:nvSpPr>
        <p:spPr>
          <a:xfrm>
            <a:off x="6941114" y="4828564"/>
            <a:ext cx="1427016" cy="376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Files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BF1154-507B-42A3-A62A-0C0A91C62C90}"/>
              </a:ext>
            </a:extLst>
          </p:cNvPr>
          <p:cNvSpPr txBox="1"/>
          <p:nvPr/>
        </p:nvSpPr>
        <p:spPr>
          <a:xfrm>
            <a:off x="6941113" y="5334352"/>
            <a:ext cx="1427016" cy="376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JavaScirpt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313277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How to add static files in Django project?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CB1016-2825-431E-80D7-8190A6EDE97D}"/>
              </a:ext>
            </a:extLst>
          </p:cNvPr>
          <p:cNvSpPr txBox="1"/>
          <p:nvPr/>
        </p:nvSpPr>
        <p:spPr>
          <a:xfrm>
            <a:off x="1396213" y="2268502"/>
            <a:ext cx="1427017" cy="45807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No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12026C-143A-4028-920F-7EF12C93BF14}"/>
              </a:ext>
            </a:extLst>
          </p:cNvPr>
          <p:cNvSpPr txBox="1"/>
          <p:nvPr/>
        </p:nvSpPr>
        <p:spPr>
          <a:xfrm>
            <a:off x="1354648" y="2884962"/>
            <a:ext cx="8561719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Create a Folder in your Django project name as “</a:t>
            </a:r>
            <a:r>
              <a:rPr lang="en-US" sz="1800" b="1" dirty="0"/>
              <a:t>static</a:t>
            </a:r>
            <a:r>
              <a:rPr lang="en-US" sz="1800" dirty="0"/>
              <a:t>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E14257-1AAA-4414-B07F-B7D57483EF19}"/>
              </a:ext>
            </a:extLst>
          </p:cNvPr>
          <p:cNvSpPr txBox="1"/>
          <p:nvPr/>
        </p:nvSpPr>
        <p:spPr>
          <a:xfrm>
            <a:off x="1413911" y="3474468"/>
            <a:ext cx="1427017" cy="45807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No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73E1F6-8932-4181-98F4-0432E58ED698}"/>
              </a:ext>
            </a:extLst>
          </p:cNvPr>
          <p:cNvSpPr txBox="1"/>
          <p:nvPr/>
        </p:nvSpPr>
        <p:spPr>
          <a:xfrm>
            <a:off x="1372346" y="4090928"/>
            <a:ext cx="9216370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Copy all the files like </a:t>
            </a:r>
            <a:r>
              <a:rPr lang="en-US" sz="1800" b="1" dirty="0"/>
              <a:t>images</a:t>
            </a:r>
            <a:r>
              <a:rPr lang="en-US" sz="1800" dirty="0"/>
              <a:t>, </a:t>
            </a:r>
            <a:r>
              <a:rPr lang="en-US" sz="1800" b="1" dirty="0" err="1"/>
              <a:t>js</a:t>
            </a:r>
            <a:r>
              <a:rPr lang="en-US" sz="1800" dirty="0"/>
              <a:t>, </a:t>
            </a:r>
            <a:r>
              <a:rPr lang="en-US" sz="1800" b="1" dirty="0"/>
              <a:t>plugins</a:t>
            </a:r>
            <a:r>
              <a:rPr lang="en-US" sz="1800" dirty="0"/>
              <a:t>, </a:t>
            </a:r>
            <a:r>
              <a:rPr lang="en-US" sz="1800" b="1" dirty="0"/>
              <a:t>styles</a:t>
            </a:r>
            <a:r>
              <a:rPr lang="en-US" sz="1800" dirty="0"/>
              <a:t> and paste in your </a:t>
            </a:r>
            <a:r>
              <a:rPr lang="en-US" sz="1800" b="1" dirty="0"/>
              <a:t>static</a:t>
            </a:r>
            <a:r>
              <a:rPr lang="en-US" sz="1800" dirty="0"/>
              <a:t> folder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E31D1-FB34-42D0-BAA7-49A663BB7EF1}"/>
              </a:ext>
            </a:extLst>
          </p:cNvPr>
          <p:cNvSpPr txBox="1"/>
          <p:nvPr/>
        </p:nvSpPr>
        <p:spPr>
          <a:xfrm>
            <a:off x="1396213" y="4680434"/>
            <a:ext cx="1427017" cy="45807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No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514F50-AA55-4879-AE60-FCD50C1C5E8A}"/>
              </a:ext>
            </a:extLst>
          </p:cNvPr>
          <p:cNvSpPr txBox="1"/>
          <p:nvPr/>
        </p:nvSpPr>
        <p:spPr>
          <a:xfrm>
            <a:off x="1354648" y="5269184"/>
            <a:ext cx="9216370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Go to “</a:t>
            </a:r>
            <a:r>
              <a:rPr lang="en-US" sz="1800" b="1" dirty="0"/>
              <a:t>settings.py</a:t>
            </a:r>
            <a:r>
              <a:rPr lang="en-US" sz="1800" dirty="0"/>
              <a:t>” and write the following code:</a:t>
            </a:r>
          </a:p>
        </p:txBody>
      </p:sp>
    </p:spTree>
    <p:extLst>
      <p:ext uri="{BB962C8B-B14F-4D97-AF65-F5344CB8AC3E}">
        <p14:creationId xmlns:p14="http://schemas.microsoft.com/office/powerpoint/2010/main" val="74215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Static files continue…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BC9C12-F91E-492B-AA61-D05F4751A0A8}"/>
              </a:ext>
            </a:extLst>
          </p:cNvPr>
          <p:cNvSpPr txBox="1"/>
          <p:nvPr/>
        </p:nvSpPr>
        <p:spPr>
          <a:xfrm>
            <a:off x="1432044" y="2872083"/>
            <a:ext cx="6686719" cy="15300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STATICFILES_DIRS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pPr>
              <a:lnSpc>
                <a:spcPct val="150000"/>
              </a:lnSpc>
            </a:pP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BASE_DIR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'static'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STATIC_ROOT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BASE_DIR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'assets'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B16AB9-F20D-45F3-83A5-6D9ED9CD3A52}"/>
              </a:ext>
            </a:extLst>
          </p:cNvPr>
          <p:cNvSpPr txBox="1"/>
          <p:nvPr/>
        </p:nvSpPr>
        <p:spPr>
          <a:xfrm>
            <a:off x="1432044" y="2411517"/>
            <a:ext cx="6686719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Settings.py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4FD81-353C-437A-B4BB-F2F4D710444C}"/>
              </a:ext>
            </a:extLst>
          </p:cNvPr>
          <p:cNvSpPr txBox="1"/>
          <p:nvPr/>
        </p:nvSpPr>
        <p:spPr>
          <a:xfrm>
            <a:off x="1396213" y="4721999"/>
            <a:ext cx="1427017" cy="45807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No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A4C4DB-3747-4C48-BC91-5FDB6181EF2B}"/>
              </a:ext>
            </a:extLst>
          </p:cNvPr>
          <p:cNvSpPr txBox="1"/>
          <p:nvPr/>
        </p:nvSpPr>
        <p:spPr>
          <a:xfrm>
            <a:off x="1354648" y="5269184"/>
            <a:ext cx="6686719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Write the following command: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CB3D9D-85DF-4B16-9FDF-336F35ABEFC9}"/>
              </a:ext>
            </a:extLst>
          </p:cNvPr>
          <p:cNvSpPr txBox="1"/>
          <p:nvPr/>
        </p:nvSpPr>
        <p:spPr>
          <a:xfrm>
            <a:off x="1445899" y="5856622"/>
            <a:ext cx="5301265" cy="42210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python manage.py </a:t>
            </a:r>
            <a:r>
              <a:rPr lang="en-US" sz="16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collectstatic</a:t>
            </a:r>
            <a:endParaRPr lang="en-US" sz="16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269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How to use static files in HTML page?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A4C4DB-3747-4C48-BC91-5FDB6181EF2B}"/>
              </a:ext>
            </a:extLst>
          </p:cNvPr>
          <p:cNvSpPr txBox="1"/>
          <p:nvPr/>
        </p:nvSpPr>
        <p:spPr>
          <a:xfrm>
            <a:off x="1290986" y="2415149"/>
            <a:ext cx="9610028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Go to your web page and write in the first line “</a:t>
            </a:r>
            <a:r>
              <a:rPr lang="en-US" sz="1800" b="1" dirty="0"/>
              <a:t>{% load static %}</a:t>
            </a:r>
            <a:r>
              <a:rPr lang="en-US" sz="1800" dirty="0"/>
              <a:t>”.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T</a:t>
            </a:r>
            <a:r>
              <a:rPr lang="en-US" sz="1800" dirty="0"/>
              <a:t>hen change your links with the given below method.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60E1F-2DB8-42EE-A8CB-84964BA5B47D}"/>
              </a:ext>
            </a:extLst>
          </p:cNvPr>
          <p:cNvSpPr txBox="1"/>
          <p:nvPr/>
        </p:nvSpPr>
        <p:spPr>
          <a:xfrm>
            <a:off x="1695285" y="4025731"/>
            <a:ext cx="6686719" cy="18158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{%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static %}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{% static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'my_style.css'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%}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{% static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'frame.js'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%}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EBD95D-2533-431D-90F1-74BE122A9B17}"/>
              </a:ext>
            </a:extLst>
          </p:cNvPr>
          <p:cNvSpPr txBox="1"/>
          <p:nvPr/>
        </p:nvSpPr>
        <p:spPr>
          <a:xfrm>
            <a:off x="1695285" y="3565165"/>
            <a:ext cx="6686719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 err="1">
                <a:solidFill>
                  <a:srgbClr val="002060"/>
                </a:solidFill>
              </a:rPr>
              <a:t>my_site</a:t>
            </a:r>
            <a:r>
              <a:rPr lang="en-US" b="1" dirty="0">
                <a:solidFill>
                  <a:srgbClr val="002060"/>
                </a:solidFill>
              </a:rPr>
              <a:t>/template/home.html</a:t>
            </a:r>
          </a:p>
        </p:txBody>
      </p:sp>
    </p:spTree>
    <p:extLst>
      <p:ext uri="{BB962C8B-B14F-4D97-AF65-F5344CB8AC3E}">
        <p14:creationId xmlns:p14="http://schemas.microsoft.com/office/powerpoint/2010/main" val="39585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How to add two numbers using Django?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A4C4DB-3747-4C48-BC91-5FDB6181EF2B}"/>
              </a:ext>
            </a:extLst>
          </p:cNvPr>
          <p:cNvSpPr txBox="1"/>
          <p:nvPr/>
        </p:nvSpPr>
        <p:spPr>
          <a:xfrm>
            <a:off x="1290986" y="2553696"/>
            <a:ext cx="9610028" cy="2116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To add two number first of all: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</a:t>
            </a:r>
            <a:r>
              <a:rPr lang="en-US" b="1" dirty="0"/>
              <a:t>function</a:t>
            </a:r>
            <a:r>
              <a:rPr lang="en-US" dirty="0"/>
              <a:t> to view the input filed for user.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Then create a second </a:t>
            </a:r>
            <a:r>
              <a:rPr lang="en-US" b="1" dirty="0"/>
              <a:t>function</a:t>
            </a:r>
            <a:r>
              <a:rPr lang="en-US" dirty="0"/>
              <a:t> to create calculation.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two HTML file for </a:t>
            </a:r>
            <a:r>
              <a:rPr lang="en-US" b="1" dirty="0"/>
              <a:t>function 1</a:t>
            </a:r>
            <a:r>
              <a:rPr lang="en-US" dirty="0"/>
              <a:t> and </a:t>
            </a:r>
            <a:r>
              <a:rPr lang="en-US" b="1" dirty="0"/>
              <a:t>function 2.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Then create a </a:t>
            </a:r>
            <a:r>
              <a:rPr lang="en-US" b="1" dirty="0"/>
              <a:t>URL</a:t>
            </a:r>
            <a:r>
              <a:rPr lang="en-US" dirty="0"/>
              <a:t> for both function. </a:t>
            </a:r>
          </a:p>
        </p:txBody>
      </p:sp>
    </p:spTree>
    <p:extLst>
      <p:ext uri="{BB962C8B-B14F-4D97-AF65-F5344CB8AC3E}">
        <p14:creationId xmlns:p14="http://schemas.microsoft.com/office/powerpoint/2010/main" val="331836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Create Function For Addition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A4C4DB-3747-4C48-BC91-5FDB6181EF2B}"/>
              </a:ext>
            </a:extLst>
          </p:cNvPr>
          <p:cNvSpPr txBox="1"/>
          <p:nvPr/>
        </p:nvSpPr>
        <p:spPr>
          <a:xfrm>
            <a:off x="1290986" y="2442857"/>
            <a:ext cx="9610028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First of you must create URL for your IP’s to access the function.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27EAA-33C6-46F1-8E31-F4354AA380A0}"/>
              </a:ext>
            </a:extLst>
          </p:cNvPr>
          <p:cNvSpPr txBox="1"/>
          <p:nvPr/>
        </p:nvSpPr>
        <p:spPr>
          <a:xfrm>
            <a:off x="1695285" y="3568522"/>
            <a:ext cx="6229515" cy="2893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shortcuts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your views here.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home_page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'home.html'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add_number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'num1'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'num2'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'add_num.html'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'answer'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1EF64-26A7-428A-A514-C5D9AAB8D64C}"/>
              </a:ext>
            </a:extLst>
          </p:cNvPr>
          <p:cNvSpPr txBox="1"/>
          <p:nvPr/>
        </p:nvSpPr>
        <p:spPr>
          <a:xfrm>
            <a:off x="1695285" y="3107956"/>
            <a:ext cx="6229515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my_site/first_app/urls.py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9121E3-F894-47C1-966C-D8E0C1B8C23A}"/>
              </a:ext>
            </a:extLst>
          </p:cNvPr>
          <p:cNvCxnSpPr>
            <a:cxnSpLocks/>
          </p:cNvCxnSpPr>
          <p:nvPr/>
        </p:nvCxnSpPr>
        <p:spPr>
          <a:xfrm>
            <a:off x="4837044" y="5563385"/>
            <a:ext cx="35780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8A084D9-557B-49BE-A28E-E60F9BAF71A5}"/>
              </a:ext>
            </a:extLst>
          </p:cNvPr>
          <p:cNvSpPr txBox="1"/>
          <p:nvPr/>
        </p:nvSpPr>
        <p:spPr>
          <a:xfrm>
            <a:off x="8415130" y="5224011"/>
            <a:ext cx="3047999" cy="697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The “</a:t>
            </a:r>
            <a:r>
              <a:rPr lang="en-US" sz="1400" b="1" dirty="0"/>
              <a:t>name1</a:t>
            </a:r>
            <a:r>
              <a:rPr lang="en-US" sz="1400" dirty="0"/>
              <a:t>” &amp; “</a:t>
            </a:r>
            <a:r>
              <a:rPr lang="en-US" sz="1400" b="1" dirty="0"/>
              <a:t>name2</a:t>
            </a:r>
            <a:r>
              <a:rPr lang="en-US" sz="1400" dirty="0"/>
              <a:t>” is the input filed name to get the data.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8442AA-13C2-41F5-B20B-8A0582E82FD3}"/>
              </a:ext>
            </a:extLst>
          </p:cNvPr>
          <p:cNvCxnSpPr/>
          <p:nvPr/>
        </p:nvCxnSpPr>
        <p:spPr>
          <a:xfrm>
            <a:off x="4837044" y="5367130"/>
            <a:ext cx="0" cy="41145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1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Create URL For Addition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A4C4DB-3747-4C48-BC91-5FDB6181EF2B}"/>
              </a:ext>
            </a:extLst>
          </p:cNvPr>
          <p:cNvSpPr txBox="1"/>
          <p:nvPr/>
        </p:nvSpPr>
        <p:spPr>
          <a:xfrm>
            <a:off x="1290986" y="2442857"/>
            <a:ext cx="9610028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First of you must create URL for your IP’s to access the function.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27EAA-33C6-46F1-8E31-F4354AA380A0}"/>
              </a:ext>
            </a:extLst>
          </p:cNvPr>
          <p:cNvSpPr txBox="1"/>
          <p:nvPr/>
        </p:nvSpPr>
        <p:spPr>
          <a:xfrm>
            <a:off x="1695285" y="3651651"/>
            <a:ext cx="6686719" cy="18158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urlpatterns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home_page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add_number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1EF64-26A7-428A-A514-C5D9AAB8D64C}"/>
              </a:ext>
            </a:extLst>
          </p:cNvPr>
          <p:cNvSpPr txBox="1"/>
          <p:nvPr/>
        </p:nvSpPr>
        <p:spPr>
          <a:xfrm>
            <a:off x="1695285" y="3191085"/>
            <a:ext cx="6686719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my_site/first_app/urls.py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D50F60-10E3-45BA-B046-815910D332AB}"/>
              </a:ext>
            </a:extLst>
          </p:cNvPr>
          <p:cNvCxnSpPr>
            <a:cxnSpLocks/>
          </p:cNvCxnSpPr>
          <p:nvPr/>
        </p:nvCxnSpPr>
        <p:spPr>
          <a:xfrm>
            <a:off x="5579166" y="5160205"/>
            <a:ext cx="0" cy="630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610CA8B-0FAC-4E57-B975-265254A8170D}"/>
              </a:ext>
            </a:extLst>
          </p:cNvPr>
          <p:cNvSpPr txBox="1"/>
          <p:nvPr/>
        </p:nvSpPr>
        <p:spPr>
          <a:xfrm>
            <a:off x="4055166" y="5791200"/>
            <a:ext cx="3047999" cy="697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Function name used to access the Django function.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04E5F7-DB60-4EFD-BC53-770137918906}"/>
              </a:ext>
            </a:extLst>
          </p:cNvPr>
          <p:cNvCxnSpPr>
            <a:cxnSpLocks/>
          </p:cNvCxnSpPr>
          <p:nvPr/>
        </p:nvCxnSpPr>
        <p:spPr>
          <a:xfrm>
            <a:off x="4055166" y="4052653"/>
            <a:ext cx="45057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C5DA83-BBB0-4C7D-9932-4FC99DF839E2}"/>
              </a:ext>
            </a:extLst>
          </p:cNvPr>
          <p:cNvSpPr txBox="1"/>
          <p:nvPr/>
        </p:nvSpPr>
        <p:spPr>
          <a:xfrm>
            <a:off x="8560903" y="3713279"/>
            <a:ext cx="3047999" cy="697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Import the “</a:t>
            </a:r>
            <a:r>
              <a:rPr lang="en-US" sz="1400" b="1" dirty="0"/>
              <a:t>views</a:t>
            </a:r>
            <a:r>
              <a:rPr lang="en-US" sz="1400" dirty="0"/>
              <a:t>” file function with the help of “</a:t>
            </a:r>
            <a:r>
              <a:rPr lang="en-US" sz="1400" b="1" dirty="0"/>
              <a:t>from</a:t>
            </a:r>
            <a:r>
              <a:rPr lang="en-US" sz="1400" dirty="0"/>
              <a:t>” keyword</a:t>
            </a:r>
          </a:p>
        </p:txBody>
      </p:sp>
    </p:spTree>
    <p:extLst>
      <p:ext uri="{BB962C8B-B14F-4D97-AF65-F5344CB8AC3E}">
        <p14:creationId xmlns:p14="http://schemas.microsoft.com/office/powerpoint/2010/main" val="1796509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Create HTML file For Addition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A4C4DB-3747-4C48-BC91-5FDB6181EF2B}"/>
              </a:ext>
            </a:extLst>
          </p:cNvPr>
          <p:cNvSpPr txBox="1"/>
          <p:nvPr/>
        </p:nvSpPr>
        <p:spPr>
          <a:xfrm>
            <a:off x="707898" y="2482613"/>
            <a:ext cx="7985531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First of you must create URL for your IP’s to access the function.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27EAA-33C6-46F1-8E31-F4354AA380A0}"/>
              </a:ext>
            </a:extLst>
          </p:cNvPr>
          <p:cNvSpPr txBox="1"/>
          <p:nvPr/>
        </p:nvSpPr>
        <p:spPr>
          <a:xfrm>
            <a:off x="1112197" y="3608278"/>
            <a:ext cx="7647498" cy="22467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add_number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Enter First Number :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First Number"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"num1"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Enter First Number :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First Number"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"num2"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"Add Numbers"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1EF64-26A7-428A-A514-C5D9AAB8D64C}"/>
              </a:ext>
            </a:extLst>
          </p:cNvPr>
          <p:cNvSpPr txBox="1"/>
          <p:nvPr/>
        </p:nvSpPr>
        <p:spPr>
          <a:xfrm>
            <a:off x="1112197" y="3147712"/>
            <a:ext cx="7647498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my_site/first_app/urls.py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837922-D725-414A-818F-C7D5EBF4BD2F}"/>
              </a:ext>
            </a:extLst>
          </p:cNvPr>
          <p:cNvCxnSpPr/>
          <p:nvPr/>
        </p:nvCxnSpPr>
        <p:spPr>
          <a:xfrm>
            <a:off x="7779034" y="4280452"/>
            <a:ext cx="0" cy="41145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A1FE47-4E6B-414D-8A64-75F9538801BF}"/>
              </a:ext>
            </a:extLst>
          </p:cNvPr>
          <p:cNvCxnSpPr>
            <a:cxnSpLocks/>
          </p:cNvCxnSpPr>
          <p:nvPr/>
        </p:nvCxnSpPr>
        <p:spPr>
          <a:xfrm flipH="1">
            <a:off x="7341713" y="4280452"/>
            <a:ext cx="10071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E18C57-8541-4DD1-8CDD-7AFA47FE42C6}"/>
              </a:ext>
            </a:extLst>
          </p:cNvPr>
          <p:cNvCxnSpPr>
            <a:cxnSpLocks/>
          </p:cNvCxnSpPr>
          <p:nvPr/>
        </p:nvCxnSpPr>
        <p:spPr>
          <a:xfrm flipH="1">
            <a:off x="7341713" y="4691906"/>
            <a:ext cx="10071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972234-67CF-4DB2-AB7C-3F628A417DA3}"/>
              </a:ext>
            </a:extLst>
          </p:cNvPr>
          <p:cNvCxnSpPr>
            <a:cxnSpLocks/>
          </p:cNvCxnSpPr>
          <p:nvPr/>
        </p:nvCxnSpPr>
        <p:spPr>
          <a:xfrm>
            <a:off x="7779034" y="4486179"/>
            <a:ext cx="13914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C7C1DD-E669-4AE1-85D1-7320D2D02105}"/>
              </a:ext>
            </a:extLst>
          </p:cNvPr>
          <p:cNvSpPr txBox="1"/>
          <p:nvPr/>
        </p:nvSpPr>
        <p:spPr>
          <a:xfrm>
            <a:off x="9170504" y="4486179"/>
            <a:ext cx="2513066" cy="10208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The name attribute is used to get the data of input field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5194BB-4584-43D9-B80D-D073E05291EC}"/>
              </a:ext>
            </a:extLst>
          </p:cNvPr>
          <p:cNvCxnSpPr>
            <a:cxnSpLocks/>
          </p:cNvCxnSpPr>
          <p:nvPr/>
        </p:nvCxnSpPr>
        <p:spPr>
          <a:xfrm>
            <a:off x="4472612" y="3779193"/>
            <a:ext cx="4697892" cy="66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47BB1CC-B9EC-47BF-8A10-E56DF90873D0}"/>
              </a:ext>
            </a:extLst>
          </p:cNvPr>
          <p:cNvSpPr txBox="1"/>
          <p:nvPr/>
        </p:nvSpPr>
        <p:spPr>
          <a:xfrm>
            <a:off x="9175352" y="2847618"/>
            <a:ext cx="2513066" cy="10208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If you click the submit Button the “</a:t>
            </a:r>
            <a:r>
              <a:rPr lang="en-US" sz="1400" dirty="0" err="1"/>
              <a:t>add_number</a:t>
            </a:r>
            <a:r>
              <a:rPr lang="en-US" sz="1400" dirty="0"/>
              <a:t>” function is called</a:t>
            </a:r>
          </a:p>
        </p:txBody>
      </p:sp>
    </p:spTree>
    <p:extLst>
      <p:ext uri="{BB962C8B-B14F-4D97-AF65-F5344CB8AC3E}">
        <p14:creationId xmlns:p14="http://schemas.microsoft.com/office/powerpoint/2010/main" val="241997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The Result is Looks Like This 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8AEE9A-DCDE-4B3A-856C-7F53D49F0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248" y="2872429"/>
            <a:ext cx="3703603" cy="28669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4D5A02-C830-4A1F-A78C-B908075A1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167" y="3700995"/>
            <a:ext cx="4372585" cy="12098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0504B973-AEA4-4E5E-938C-A4762D3F4555}"/>
              </a:ext>
            </a:extLst>
          </p:cNvPr>
          <p:cNvSpPr/>
          <p:nvPr/>
        </p:nvSpPr>
        <p:spPr>
          <a:xfrm>
            <a:off x="5236174" y="4080630"/>
            <a:ext cx="1050670" cy="450574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75D15A-9F4F-49AF-A1DA-2A79F81ABD9E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8719932" y="3404311"/>
            <a:ext cx="0" cy="469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A4ECF63-5F8B-4B46-BC29-0DB1C47A7292}"/>
              </a:ext>
            </a:extLst>
          </p:cNvPr>
          <p:cNvSpPr txBox="1"/>
          <p:nvPr/>
        </p:nvSpPr>
        <p:spPr>
          <a:xfrm>
            <a:off x="7195932" y="2383454"/>
            <a:ext cx="3047999" cy="10208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You can see the URL the add function is called and get the values of “num1” and “num2”.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7A0274-818C-4419-83E1-1CB9D1DCCDF2}"/>
              </a:ext>
            </a:extLst>
          </p:cNvPr>
          <p:cNvCxnSpPr>
            <a:cxnSpLocks/>
          </p:cNvCxnSpPr>
          <p:nvPr/>
        </p:nvCxnSpPr>
        <p:spPr>
          <a:xfrm>
            <a:off x="1948071" y="5605670"/>
            <a:ext cx="0" cy="4244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A549F6C-DE97-4B1F-BEB8-E88E155E4CB0}"/>
              </a:ext>
            </a:extLst>
          </p:cNvPr>
          <p:cNvSpPr txBox="1"/>
          <p:nvPr/>
        </p:nvSpPr>
        <p:spPr>
          <a:xfrm>
            <a:off x="1948071" y="6030106"/>
            <a:ext cx="3703603" cy="3745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Click the “Add Number” to see the result</a:t>
            </a:r>
          </a:p>
        </p:txBody>
      </p:sp>
    </p:spTree>
    <p:extLst>
      <p:ext uri="{BB962C8B-B14F-4D97-AF65-F5344CB8AC3E}">
        <p14:creationId xmlns:p14="http://schemas.microsoft.com/office/powerpoint/2010/main" val="4083253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What is HTTP?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6D0EB-0522-46C9-A2FE-5BEA5D0ECDCD}"/>
              </a:ext>
            </a:extLst>
          </p:cNvPr>
          <p:cNvSpPr txBox="1"/>
          <p:nvPr/>
        </p:nvSpPr>
        <p:spPr>
          <a:xfrm>
            <a:off x="1172631" y="2469361"/>
            <a:ext cx="9846737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The </a:t>
            </a:r>
            <a:r>
              <a:rPr lang="en-US" sz="1800" b="1" dirty="0"/>
              <a:t>Hypertext</a:t>
            </a:r>
            <a:r>
              <a:rPr lang="en-US" sz="1800" dirty="0"/>
              <a:t> </a:t>
            </a:r>
            <a:r>
              <a:rPr lang="en-US" sz="1800" b="1" dirty="0"/>
              <a:t>transfer</a:t>
            </a:r>
            <a:r>
              <a:rPr lang="en-US" sz="1800" dirty="0"/>
              <a:t> </a:t>
            </a:r>
            <a:r>
              <a:rPr lang="en-US" sz="1800" b="1" dirty="0"/>
              <a:t>protocol</a:t>
            </a:r>
            <a:r>
              <a:rPr lang="en-US" sz="1800" dirty="0"/>
              <a:t> (HTTP) is designed to  enable communication between </a:t>
            </a:r>
            <a:r>
              <a:rPr lang="en-US" sz="1800" b="1" dirty="0"/>
              <a:t>clients</a:t>
            </a:r>
            <a:r>
              <a:rPr lang="en-US" sz="1800" dirty="0"/>
              <a:t> and </a:t>
            </a:r>
            <a:r>
              <a:rPr lang="en-US" sz="1800" b="1" dirty="0"/>
              <a:t>servers</a:t>
            </a:r>
            <a:r>
              <a:rPr lang="en-US" sz="1800" dirty="0"/>
              <a:t>. HTTP works as a </a:t>
            </a:r>
            <a:r>
              <a:rPr lang="en-US" sz="1800" b="1" dirty="0"/>
              <a:t>request-response</a:t>
            </a:r>
            <a:r>
              <a:rPr lang="en-US" sz="1800" dirty="0"/>
              <a:t> protocol between a </a:t>
            </a:r>
            <a:r>
              <a:rPr lang="en-US" sz="1800" b="1" dirty="0"/>
              <a:t>client</a:t>
            </a:r>
            <a:r>
              <a:rPr lang="en-US" sz="1800" dirty="0"/>
              <a:t> and </a:t>
            </a:r>
            <a:r>
              <a:rPr lang="en-US" sz="1800" b="1" dirty="0"/>
              <a:t>server</a:t>
            </a:r>
            <a:r>
              <a:rPr lang="en-US" sz="18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8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Example: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 client (browser) sends an HTTP </a:t>
            </a:r>
            <a:r>
              <a:rPr lang="en-US" b="1" dirty="0"/>
              <a:t>request</a:t>
            </a:r>
            <a:r>
              <a:rPr lang="en-US" dirty="0"/>
              <a:t> to the server then the server returns a </a:t>
            </a:r>
            <a:r>
              <a:rPr lang="en-US" b="1" dirty="0"/>
              <a:t>response</a:t>
            </a:r>
            <a:r>
              <a:rPr lang="en-US" dirty="0"/>
              <a:t> to the client.</a:t>
            </a:r>
          </a:p>
        </p:txBody>
      </p:sp>
    </p:spTree>
    <p:extLst>
      <p:ext uri="{BB962C8B-B14F-4D97-AF65-F5344CB8AC3E}">
        <p14:creationId xmlns:p14="http://schemas.microsoft.com/office/powerpoint/2010/main" val="370590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How HTTP works?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6D0EB-0522-46C9-A2FE-5BEA5D0ECDCD}"/>
              </a:ext>
            </a:extLst>
          </p:cNvPr>
          <p:cNvSpPr txBox="1"/>
          <p:nvPr/>
        </p:nvSpPr>
        <p:spPr>
          <a:xfrm>
            <a:off x="1172632" y="2469361"/>
            <a:ext cx="9548378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The following diagram show how the HTTP works in website development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8233D-B955-45E1-AB5C-A095C04163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10" b="10657"/>
          <a:stretch/>
        </p:blipFill>
        <p:spPr>
          <a:xfrm>
            <a:off x="1609310" y="3269976"/>
            <a:ext cx="6689345" cy="29983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97255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2641-0A56-41E2-A767-29C02B5E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Tag in Django?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9F1148-4495-4F39-A7B8-FD81D065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10CDC-1C28-44B3-8327-768FD620740F}"/>
              </a:ext>
            </a:extLst>
          </p:cNvPr>
          <p:cNvSpPr txBox="1"/>
          <p:nvPr/>
        </p:nvSpPr>
        <p:spPr>
          <a:xfrm>
            <a:off x="997528" y="2399437"/>
            <a:ext cx="10193211" cy="2296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3C26"/>
                </a:solidFill>
                <a:effectLst/>
                <a:latin typeface="Roboto" panose="02000000000000000000" pitchFamily="2" charset="0"/>
              </a:rPr>
              <a:t>Tags provide arbitrary logic in the rendering process.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3C26"/>
                </a:solidFill>
                <a:effectLst/>
                <a:latin typeface="Roboto" panose="02000000000000000000" pitchFamily="2" charset="0"/>
              </a:rPr>
              <a:t>This definition is deliberately vague. For example, a tag can output content, serve as a control structure e.g. an “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C3C26"/>
                </a:solidFill>
                <a:effectLst/>
                <a:latin typeface="Roboto" panose="02000000000000000000" pitchFamily="2" charset="0"/>
              </a:rPr>
              <a:t>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3C26"/>
                </a:solidFill>
                <a:effectLst/>
                <a:latin typeface="Roboto" panose="02000000000000000000" pitchFamily="2" charset="0"/>
              </a:rPr>
              <a:t>” statement or a “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C3C26"/>
                </a:solidFill>
                <a:effectLst/>
                <a:latin typeface="Roboto" panose="02000000000000000000" pitchFamily="2" charset="0"/>
              </a:rPr>
              <a:t>for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3C26"/>
                </a:solidFill>
                <a:effectLst/>
                <a:latin typeface="Roboto" panose="02000000000000000000" pitchFamily="2" charset="0"/>
              </a:rPr>
              <a:t>” loop, grab content from a database, or even enable access to other template tags.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3C26"/>
                </a:solidFill>
                <a:effectLst/>
                <a:latin typeface="Roboto" panose="02000000000000000000" pitchFamily="2" charset="0"/>
              </a:rPr>
              <a:t>Tags are surrounded by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{%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C3C26"/>
                </a:solidFill>
                <a:effectLst/>
                <a:latin typeface="Roboto" panose="02000000000000000000" pitchFamily="2" charset="0"/>
              </a:rPr>
              <a:t> and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%}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3C26"/>
                </a:solidFill>
                <a:effectLst/>
                <a:latin typeface="Roboto" panose="02000000000000000000" pitchFamily="2" charset="0"/>
              </a:rPr>
              <a:t> like this: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74C66-1B80-4B44-AF37-D7987DA50C19}"/>
              </a:ext>
            </a:extLst>
          </p:cNvPr>
          <p:cNvSpPr txBox="1"/>
          <p:nvPr/>
        </p:nvSpPr>
        <p:spPr>
          <a:xfrm>
            <a:off x="997528" y="4953103"/>
            <a:ext cx="3158836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{%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Fira Mono" panose="020B0509050000020004" pitchFamily="49" charset="0"/>
              </a:rPr>
              <a:t>csrf_token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%}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9BC304-A40E-45A7-B8F3-326E1673BAC8}"/>
              </a:ext>
            </a:extLst>
          </p:cNvPr>
          <p:cNvSpPr txBox="1"/>
          <p:nvPr/>
        </p:nvSpPr>
        <p:spPr>
          <a:xfrm>
            <a:off x="997528" y="5671908"/>
            <a:ext cx="9610028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{%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9177C"/>
                </a:solidFill>
                <a:effectLst/>
                <a:latin typeface="Fira Mono" panose="020B0509050000020004" pitchFamily="49" charset="0"/>
              </a:rPr>
              <a:t>user.is_authenticated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%}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Hello,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{{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9177C"/>
                </a:solidFill>
                <a:effectLst/>
                <a:latin typeface="Fira Mono" panose="020B0509050000020004" pitchFamily="49" charset="0"/>
              </a:rPr>
              <a:t>user.username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}}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{%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Fira Mono" panose="020B0509050000020004" pitchFamily="49" charset="0"/>
              </a:rPr>
              <a:t>endif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%}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017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CE0F-7D1B-4BFE-B029-4A2D34041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Template inheritance using Jinja Format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A89B6D-6342-456E-8206-C7343B52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63382-935F-44D3-824E-356FA21EA7EF}"/>
              </a:ext>
            </a:extLst>
          </p:cNvPr>
          <p:cNvSpPr txBox="1"/>
          <p:nvPr/>
        </p:nvSpPr>
        <p:spPr>
          <a:xfrm>
            <a:off x="1296506" y="2514820"/>
            <a:ext cx="9598988" cy="336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292929"/>
                </a:solidFill>
                <a:latin typeface="charter"/>
              </a:rPr>
              <a:t>“</a:t>
            </a:r>
            <a:r>
              <a:rPr lang="en-US" sz="1600" dirty="0"/>
              <a:t>Template inheritance allows you to build a base “</a:t>
            </a:r>
            <a:r>
              <a:rPr lang="en-US" sz="1600" b="1" dirty="0"/>
              <a:t>skeleton</a:t>
            </a:r>
            <a:r>
              <a:rPr lang="en-US" sz="1600" dirty="0"/>
              <a:t>” template that contains all the common elements of your site and defines blocks that child templates can override.”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The </a:t>
            </a:r>
            <a:r>
              <a:rPr lang="en-US" sz="1600" b="1" dirty="0"/>
              <a:t>{% block content %}</a:t>
            </a:r>
            <a:r>
              <a:rPr lang="en-US" sz="1600" dirty="0"/>
              <a:t> acts as a placeholder for whatever components we want to display between header and footer.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The </a:t>
            </a:r>
            <a:r>
              <a:rPr lang="en-US" sz="1600" b="1" dirty="0"/>
              <a:t>{% extends “base.html” %}</a:t>
            </a:r>
            <a:r>
              <a:rPr lang="en-US" sz="1600" dirty="0"/>
              <a:t> inherits everything from the base template. Code between the </a:t>
            </a:r>
            <a:r>
              <a:rPr lang="en-US" sz="1600" b="1" dirty="0"/>
              <a:t>{% block %}</a:t>
            </a:r>
            <a:r>
              <a:rPr lang="en-US" sz="1600" dirty="0"/>
              <a:t> tags above is placed inside </a:t>
            </a:r>
            <a:r>
              <a:rPr lang="en-US" sz="1600" b="1" dirty="0"/>
              <a:t>{% block %}</a:t>
            </a:r>
            <a:r>
              <a:rPr lang="en-US" sz="1600" dirty="0"/>
              <a:t> tag in the base html, so when Django processes the template, this is how the home page is rendered:</a:t>
            </a:r>
          </a:p>
        </p:txBody>
      </p:sp>
    </p:spTree>
    <p:extLst>
      <p:ext uri="{BB962C8B-B14F-4D97-AF65-F5344CB8AC3E}">
        <p14:creationId xmlns:p14="http://schemas.microsoft.com/office/powerpoint/2010/main" val="954380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2550-7BDF-45E8-B06F-1C4436CA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EA0052-32F4-4F8E-8250-8953BE94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15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357D81-0D4E-43A7-8D73-AC95383EA047}"/>
              </a:ext>
            </a:extLst>
          </p:cNvPr>
          <p:cNvSpPr/>
          <p:nvPr/>
        </p:nvSpPr>
        <p:spPr>
          <a:xfrm>
            <a:off x="1759527" y="2798622"/>
            <a:ext cx="3172691" cy="36021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F40FB8-FA85-403A-9613-47D23FD8076D}"/>
              </a:ext>
            </a:extLst>
          </p:cNvPr>
          <p:cNvSpPr/>
          <p:nvPr/>
        </p:nvSpPr>
        <p:spPr>
          <a:xfrm>
            <a:off x="1759527" y="2798622"/>
            <a:ext cx="3172691" cy="42949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Menu Bar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FA46F-F52F-4783-879F-6F0CB6F19B28}"/>
              </a:ext>
            </a:extLst>
          </p:cNvPr>
          <p:cNvSpPr/>
          <p:nvPr/>
        </p:nvSpPr>
        <p:spPr>
          <a:xfrm>
            <a:off x="1759528" y="3325095"/>
            <a:ext cx="3172690" cy="25492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2060"/>
                </a:solidFill>
              </a:rPr>
              <a:t>{% block content %}</a:t>
            </a:r>
          </a:p>
          <a:p>
            <a:pPr algn="ctr"/>
            <a:endParaRPr lang="en-US" dirty="0"/>
          </a:p>
          <a:p>
            <a:pPr algn="ctr"/>
            <a:endParaRPr lang="en-US" sz="1600" b="1" dirty="0">
              <a:solidFill>
                <a:srgbClr val="00B050"/>
              </a:solidFill>
            </a:endParaRPr>
          </a:p>
          <a:p>
            <a:pPr algn="ctr"/>
            <a:endParaRPr lang="en-US" sz="1600" b="1" dirty="0">
              <a:solidFill>
                <a:srgbClr val="00B050"/>
              </a:solidFill>
            </a:endParaRPr>
          </a:p>
          <a:p>
            <a:pPr algn="ctr"/>
            <a:r>
              <a:rPr lang="en-US" sz="1600" b="1" dirty="0">
                <a:solidFill>
                  <a:srgbClr val="00B050"/>
                </a:solidFill>
              </a:rPr>
              <a:t>HTML Coding</a:t>
            </a:r>
            <a:endParaRPr lang="en-US" b="1" dirty="0">
              <a:solidFill>
                <a:srgbClr val="00B050"/>
              </a:solidFill>
            </a:endParaRPr>
          </a:p>
          <a:p>
            <a:pPr algn="ctr"/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{% </a:t>
            </a:r>
            <a:r>
              <a:rPr lang="en-US" dirty="0" err="1">
                <a:solidFill>
                  <a:srgbClr val="002060"/>
                </a:solidFill>
              </a:rPr>
              <a:t>endblock</a:t>
            </a:r>
            <a:r>
              <a:rPr lang="en-US" dirty="0">
                <a:solidFill>
                  <a:srgbClr val="002060"/>
                </a:solidFill>
              </a:rPr>
              <a:t> %}</a:t>
            </a:r>
          </a:p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9F3E4B-132D-4D20-A71B-F08ABFBE8743}"/>
              </a:ext>
            </a:extLst>
          </p:cNvPr>
          <p:cNvSpPr/>
          <p:nvPr/>
        </p:nvSpPr>
        <p:spPr>
          <a:xfrm>
            <a:off x="1759526" y="6004025"/>
            <a:ext cx="3172691" cy="42949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144AA4-CA37-4019-A21A-308C69643AE4}"/>
              </a:ext>
            </a:extLst>
          </p:cNvPr>
          <p:cNvSpPr/>
          <p:nvPr/>
        </p:nvSpPr>
        <p:spPr>
          <a:xfrm>
            <a:off x="7259785" y="2798622"/>
            <a:ext cx="3172691" cy="36021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CDC69-1D9C-4738-B404-C098B34145C9}"/>
              </a:ext>
            </a:extLst>
          </p:cNvPr>
          <p:cNvSpPr/>
          <p:nvPr/>
        </p:nvSpPr>
        <p:spPr>
          <a:xfrm>
            <a:off x="7259786" y="2798622"/>
            <a:ext cx="3172690" cy="360218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C00000"/>
                </a:solidFill>
              </a:rPr>
              <a:t>{% extends ‘basic.html’ %}</a:t>
            </a:r>
          </a:p>
          <a:p>
            <a:pPr algn="ctr"/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{% block content %}</a:t>
            </a:r>
          </a:p>
          <a:p>
            <a:pPr algn="ctr"/>
            <a:endParaRPr lang="en-US" dirty="0"/>
          </a:p>
          <a:p>
            <a:pPr algn="ctr"/>
            <a:endParaRPr lang="en-US" sz="1600" b="1" dirty="0">
              <a:solidFill>
                <a:srgbClr val="00B050"/>
              </a:solidFill>
            </a:endParaRPr>
          </a:p>
          <a:p>
            <a:pPr algn="ctr"/>
            <a:endParaRPr lang="en-US" sz="1600" b="1" dirty="0">
              <a:solidFill>
                <a:srgbClr val="00B050"/>
              </a:solidFill>
            </a:endParaRPr>
          </a:p>
          <a:p>
            <a:pPr algn="ctr"/>
            <a:r>
              <a:rPr lang="en-US" sz="1600" b="1" dirty="0">
                <a:solidFill>
                  <a:srgbClr val="00B050"/>
                </a:solidFill>
              </a:rPr>
              <a:t>Home page coding</a:t>
            </a:r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{% </a:t>
            </a:r>
            <a:r>
              <a:rPr lang="en-US" dirty="0" err="1">
                <a:solidFill>
                  <a:srgbClr val="002060"/>
                </a:solidFill>
              </a:rPr>
              <a:t>endblock</a:t>
            </a:r>
            <a:r>
              <a:rPr lang="en-US" dirty="0">
                <a:solidFill>
                  <a:srgbClr val="002060"/>
                </a:solidFill>
              </a:rPr>
              <a:t> %}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BCCE843-B3E9-4526-B259-E48723DC3493}"/>
              </a:ext>
            </a:extLst>
          </p:cNvPr>
          <p:cNvSpPr/>
          <p:nvPr/>
        </p:nvSpPr>
        <p:spPr>
          <a:xfrm>
            <a:off x="5070764" y="4045532"/>
            <a:ext cx="1981199" cy="706964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57A093-CFEC-4D8D-B564-741731961E2F}"/>
              </a:ext>
            </a:extLst>
          </p:cNvPr>
          <p:cNvSpPr txBox="1"/>
          <p:nvPr/>
        </p:nvSpPr>
        <p:spPr>
          <a:xfrm>
            <a:off x="2673925" y="2364443"/>
            <a:ext cx="1343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Basic.html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E59E5D-3CF6-4B36-84CA-F28C3A446E4B}"/>
              </a:ext>
            </a:extLst>
          </p:cNvPr>
          <p:cNvSpPr txBox="1"/>
          <p:nvPr/>
        </p:nvSpPr>
        <p:spPr>
          <a:xfrm>
            <a:off x="7975038" y="2364443"/>
            <a:ext cx="174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Home.html</a:t>
            </a:r>
          </a:p>
        </p:txBody>
      </p:sp>
    </p:spTree>
    <p:extLst>
      <p:ext uri="{BB962C8B-B14F-4D97-AF65-F5344CB8AC3E}">
        <p14:creationId xmlns:p14="http://schemas.microsoft.com/office/powerpoint/2010/main" val="3712437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2114-AAB5-46FA-8281-18170CFB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inheritance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764BBE-0387-4A04-A76F-704B15F16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AFD88-A032-44D2-8C5A-75BA5E641071}"/>
              </a:ext>
            </a:extLst>
          </p:cNvPr>
          <p:cNvSpPr txBox="1"/>
          <p:nvPr/>
        </p:nvSpPr>
        <p:spPr>
          <a:xfrm>
            <a:off x="1336963" y="2443092"/>
            <a:ext cx="9518073" cy="870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When you want to add a page using jinja format used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{% include ‘</a:t>
            </a:r>
            <a:r>
              <a:rPr lang="en-US" b="1" dirty="0" err="1"/>
              <a:t>template_name</a:t>
            </a:r>
            <a:r>
              <a:rPr lang="en-US" b="1" dirty="0"/>
              <a:t>’ %} :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718B9-786E-496F-9249-1DB87DE9A235}"/>
              </a:ext>
            </a:extLst>
          </p:cNvPr>
          <p:cNvSpPr txBox="1"/>
          <p:nvPr/>
        </p:nvSpPr>
        <p:spPr>
          <a:xfrm>
            <a:off x="1336963" y="3743532"/>
            <a:ext cx="6096000" cy="129400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{%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Fira Mono" panose="020B0509050000020004" pitchFamily="49" charset="0"/>
              </a:rPr>
              <a:t>include</a:t>
            </a:r>
            <a:r>
              <a:rPr lang="en-US" altLang="en-US" b="1" dirty="0">
                <a:solidFill>
                  <a:srgbClr val="008000"/>
                </a:solidFill>
                <a:latin typeface="Fira Mono" panose="020B0509050000020004" pitchFamily="49" charset="0"/>
              </a:rPr>
              <a:t> ‘navbar.html’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%}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{%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Fira Mono" panose="020B0509050000020004" pitchFamily="49" charset="0"/>
              </a:rPr>
              <a:t>include</a:t>
            </a:r>
            <a:r>
              <a:rPr lang="en-US" altLang="en-US" b="1" dirty="0">
                <a:solidFill>
                  <a:srgbClr val="008000"/>
                </a:solidFill>
                <a:latin typeface="Fira Mono" panose="020B0509050000020004" pitchFamily="49" charset="0"/>
              </a:rPr>
              <a:t> ‘contact.html’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%}</a:t>
            </a:r>
            <a:endParaRPr lang="en-US" altLang="en-US" sz="1400" dirty="0">
              <a:solidFill>
                <a:srgbClr val="BC7A00"/>
              </a:solidFill>
              <a:latin typeface="Fira Mono" panose="020B050905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{%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Fira Mono" panose="020B0509050000020004" pitchFamily="49" charset="0"/>
              </a:rPr>
              <a:t>include</a:t>
            </a:r>
            <a:r>
              <a:rPr lang="en-US" altLang="en-US" b="1" dirty="0">
                <a:solidFill>
                  <a:srgbClr val="008000"/>
                </a:solidFill>
                <a:latin typeface="Fira Mono" panose="020B0509050000020004" pitchFamily="49" charset="0"/>
              </a:rPr>
              <a:t> ‘about.html’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4B33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7A00"/>
                </a:solidFill>
                <a:effectLst/>
                <a:latin typeface="Fira Mono" panose="020B0509050000020004" pitchFamily="49" charset="0"/>
              </a:rPr>
              <a:t>%}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665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40F4-F235-4602-BF60-6D5D078E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D61116-FAC3-499E-BC2C-5BDAAA9A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F74118-77FC-42E9-954D-1FFAA8C51E4D}"/>
              </a:ext>
            </a:extLst>
          </p:cNvPr>
          <p:cNvSpPr/>
          <p:nvPr/>
        </p:nvSpPr>
        <p:spPr>
          <a:xfrm>
            <a:off x="1967345" y="2590800"/>
            <a:ext cx="1316182" cy="15794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Basic.html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478ABD-3C86-44AC-B24F-4DB15360BFA7}"/>
              </a:ext>
            </a:extLst>
          </p:cNvPr>
          <p:cNvSpPr/>
          <p:nvPr/>
        </p:nvSpPr>
        <p:spPr>
          <a:xfrm>
            <a:off x="1967345" y="4745182"/>
            <a:ext cx="1316182" cy="15794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Home.html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8268A5-1498-45F0-9920-91ECD1B3A780}"/>
              </a:ext>
            </a:extLst>
          </p:cNvPr>
          <p:cNvSpPr/>
          <p:nvPr/>
        </p:nvSpPr>
        <p:spPr>
          <a:xfrm>
            <a:off x="4218708" y="2646218"/>
            <a:ext cx="1316182" cy="15794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About.html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07D82D-DB7B-4C07-913E-1EBE53488BB6}"/>
              </a:ext>
            </a:extLst>
          </p:cNvPr>
          <p:cNvSpPr/>
          <p:nvPr/>
        </p:nvSpPr>
        <p:spPr>
          <a:xfrm>
            <a:off x="4218708" y="4745182"/>
            <a:ext cx="1316182" cy="15794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Contact.html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0FDE2F-682D-401C-BAFA-37B1F4179DD6}"/>
              </a:ext>
            </a:extLst>
          </p:cNvPr>
          <p:cNvSpPr/>
          <p:nvPr/>
        </p:nvSpPr>
        <p:spPr>
          <a:xfrm>
            <a:off x="6965498" y="2646218"/>
            <a:ext cx="3885954" cy="358832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</a:rPr>
              <a:t>{% extends ‘basic.html’ %}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2060"/>
                </a:solidFill>
              </a:rPr>
              <a:t>{% block content %}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0000"/>
                </a:solidFill>
              </a:rPr>
              <a:t>{% include ‘about.html’ %}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0000"/>
                </a:solidFill>
              </a:rPr>
              <a:t>{% include ‘contact.html’ %}</a:t>
            </a:r>
          </a:p>
          <a:p>
            <a:pPr algn="ctr">
              <a:lnSpc>
                <a:spcPct val="150000"/>
              </a:lnSpc>
            </a:pPr>
            <a:endParaRPr lang="en-US" sz="1400" b="1" dirty="0">
              <a:solidFill>
                <a:srgbClr val="00B05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00B050"/>
                </a:solidFill>
              </a:rPr>
              <a:t>page coding</a:t>
            </a:r>
            <a:endParaRPr lang="en-US" sz="16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2060"/>
                </a:solidFill>
              </a:rPr>
              <a:t>{% </a:t>
            </a:r>
            <a:r>
              <a:rPr lang="en-US" sz="1600" dirty="0" err="1">
                <a:solidFill>
                  <a:srgbClr val="002060"/>
                </a:solidFill>
              </a:rPr>
              <a:t>endblock</a:t>
            </a:r>
            <a:r>
              <a:rPr lang="en-US" sz="1600" dirty="0">
                <a:solidFill>
                  <a:srgbClr val="002060"/>
                </a:solidFill>
              </a:rPr>
              <a:t> %}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00206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FA12DC-5FC7-4B1F-AC29-D2414259128A}"/>
              </a:ext>
            </a:extLst>
          </p:cNvPr>
          <p:cNvCxnSpPr>
            <a:stCxn id="6" idx="3"/>
          </p:cNvCxnSpPr>
          <p:nvPr/>
        </p:nvCxnSpPr>
        <p:spPr>
          <a:xfrm>
            <a:off x="5534890" y="3435927"/>
            <a:ext cx="1558637" cy="540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30FC1D-097C-4EF2-B610-B19B92C09D13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534890" y="4322618"/>
            <a:ext cx="1558637" cy="1212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902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63ADF-5FF5-4003-AF72-9466853A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Django Jinja Format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86AC6-31A1-4F49-8ECD-E3CA27AE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18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4CBF5B-DDCC-43A8-8032-A56B985D9D7E}"/>
              </a:ext>
            </a:extLst>
          </p:cNvPr>
          <p:cNvSpPr/>
          <p:nvPr/>
        </p:nvSpPr>
        <p:spPr>
          <a:xfrm>
            <a:off x="1777732" y="2519230"/>
            <a:ext cx="16241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Base.html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86920-EB7D-4E7C-BC76-326D8A4A7893}"/>
              </a:ext>
            </a:extLst>
          </p:cNvPr>
          <p:cNvSpPr txBox="1"/>
          <p:nvPr/>
        </p:nvSpPr>
        <p:spPr>
          <a:xfrm>
            <a:off x="1777732" y="2984301"/>
            <a:ext cx="4046251" cy="240065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&lt;body </a:t>
            </a:r>
            <a:r>
              <a:rPr lang="en-US" sz="2000" dirty="0" err="1">
                <a:solidFill>
                  <a:srgbClr val="002060"/>
                </a:solidFill>
              </a:rPr>
              <a:t>bgcolor</a:t>
            </a:r>
            <a:r>
              <a:rPr lang="en-US" sz="2000" dirty="0">
                <a:solidFill>
                  <a:srgbClr val="002060"/>
                </a:solidFill>
              </a:rPr>
              <a:t> = “blue”&gt;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{% block content %}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	</a:t>
            </a:r>
            <a:r>
              <a:rPr lang="en-US" sz="2000" dirty="0"/>
              <a:t>(code is here)</a:t>
            </a:r>
            <a:endParaRPr lang="en-US" sz="2000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{% </a:t>
            </a:r>
            <a:r>
              <a:rPr lang="en-US" sz="2000" dirty="0" err="1">
                <a:solidFill>
                  <a:srgbClr val="0070C0"/>
                </a:solidFill>
              </a:rPr>
              <a:t>endblock</a:t>
            </a:r>
            <a:r>
              <a:rPr lang="en-US" sz="2000" dirty="0">
                <a:solidFill>
                  <a:srgbClr val="0070C0"/>
                </a:solidFill>
              </a:rPr>
              <a:t> %}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 &lt;/body&gt;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72C9A-F5FB-4783-BA6D-3C9C557A340C}"/>
              </a:ext>
            </a:extLst>
          </p:cNvPr>
          <p:cNvSpPr/>
          <p:nvPr/>
        </p:nvSpPr>
        <p:spPr>
          <a:xfrm>
            <a:off x="6671704" y="2519230"/>
            <a:ext cx="18036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Home.html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4419B-314B-4633-9034-8710DB02E930}"/>
              </a:ext>
            </a:extLst>
          </p:cNvPr>
          <p:cNvSpPr txBox="1"/>
          <p:nvPr/>
        </p:nvSpPr>
        <p:spPr>
          <a:xfrm>
            <a:off x="6682437" y="2984301"/>
            <a:ext cx="4508302" cy="240065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{% extends ‘base.html’ %}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	{% block content %}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	 {% include  ‘header.html’ %}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		</a:t>
            </a:r>
            <a:r>
              <a:rPr lang="en-US" sz="2000" dirty="0">
                <a:solidFill>
                  <a:srgbClr val="7030A0"/>
                </a:solidFill>
              </a:rPr>
              <a:t>&lt;h1&gt; Hello World &lt;/h1&gt;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</a:rPr>
              <a:t>	{% </a:t>
            </a:r>
            <a:r>
              <a:rPr lang="en-US" sz="2000" dirty="0" err="1">
                <a:solidFill>
                  <a:srgbClr val="002060"/>
                </a:solidFill>
              </a:rPr>
              <a:t>endblock</a:t>
            </a:r>
            <a:r>
              <a:rPr lang="en-US" sz="2000" dirty="0">
                <a:solidFill>
                  <a:srgbClr val="002060"/>
                </a:solidFill>
              </a:rPr>
              <a:t> %}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05F37C-21B6-45D0-B55A-E4F98975E2D5}"/>
              </a:ext>
            </a:extLst>
          </p:cNvPr>
          <p:cNvSpPr txBox="1"/>
          <p:nvPr/>
        </p:nvSpPr>
        <p:spPr>
          <a:xfrm>
            <a:off x="1513637" y="5651089"/>
            <a:ext cx="9320280" cy="4997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The “</a:t>
            </a:r>
            <a:r>
              <a:rPr lang="en-US" sz="2000" b="1" dirty="0"/>
              <a:t>base.html</a:t>
            </a:r>
            <a:r>
              <a:rPr lang="en-US" sz="2000" dirty="0"/>
              <a:t>” style is used home.html page.</a:t>
            </a:r>
          </a:p>
        </p:txBody>
      </p:sp>
    </p:spTree>
    <p:extLst>
      <p:ext uri="{BB962C8B-B14F-4D97-AF65-F5344CB8AC3E}">
        <p14:creationId xmlns:p14="http://schemas.microsoft.com/office/powerpoint/2010/main" val="954915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E480B-C7EA-408E-8634-B1C2B470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1300</TotalTime>
  <Words>1359</Words>
  <Application>Microsoft Office PowerPoint</Application>
  <PresentationFormat>Widescreen</PresentationFormat>
  <Paragraphs>181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Arial Rounded MT Bold</vt:lpstr>
      <vt:lpstr>Calibri</vt:lpstr>
      <vt:lpstr>Century Gothic</vt:lpstr>
      <vt:lpstr>charter</vt:lpstr>
      <vt:lpstr>Consolas</vt:lpstr>
      <vt:lpstr>Fira Mono</vt:lpstr>
      <vt:lpstr>Roboto</vt:lpstr>
      <vt:lpstr>Times New Roman</vt:lpstr>
      <vt:lpstr>Wingdings</vt:lpstr>
      <vt:lpstr>Wingdings 3</vt:lpstr>
      <vt:lpstr>Ion Boardroom</vt:lpstr>
      <vt:lpstr>Part 6  Static Files &amp; HTTP</vt:lpstr>
      <vt:lpstr>What is Static Files?</vt:lpstr>
      <vt:lpstr>How to add static files in Django project?</vt:lpstr>
      <vt:lpstr>Static files continue…</vt:lpstr>
      <vt:lpstr>How to use static files in HTML page?</vt:lpstr>
      <vt:lpstr>How to add two numbers using Django?</vt:lpstr>
      <vt:lpstr>Create Function For Addition</vt:lpstr>
      <vt:lpstr>Create URL For Addition</vt:lpstr>
      <vt:lpstr>Create HTML file For Addition</vt:lpstr>
      <vt:lpstr>The Result is Looks Like This </vt:lpstr>
      <vt:lpstr>What is HTTP?</vt:lpstr>
      <vt:lpstr>How HTTP works?</vt:lpstr>
      <vt:lpstr>What is Tag in Django?</vt:lpstr>
      <vt:lpstr>Template inheritance using Jinja Format</vt:lpstr>
      <vt:lpstr>Example</vt:lpstr>
      <vt:lpstr>Template inheritance</vt:lpstr>
      <vt:lpstr>Example</vt:lpstr>
      <vt:lpstr>Django Jinja Format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</cp:lastModifiedBy>
  <cp:revision>827</cp:revision>
  <dcterms:created xsi:type="dcterms:W3CDTF">2021-12-18T06:39:36Z</dcterms:created>
  <dcterms:modified xsi:type="dcterms:W3CDTF">2025-12-30T10:04:16Z</dcterms:modified>
</cp:coreProperties>
</file>