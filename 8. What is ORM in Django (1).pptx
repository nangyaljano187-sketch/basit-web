
<file path=[Content_Types].xml><?xml version="1.0" encoding="utf-8"?>
<Types xmlns="http://schemas.openxmlformats.org/package/2006/content-types">
  <Default Extension="tmp"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39"/>
  </p:notesMasterIdLst>
  <p:sldIdLst>
    <p:sldId id="282" r:id="rId2"/>
    <p:sldId id="319" r:id="rId3"/>
    <p:sldId id="320" r:id="rId4"/>
    <p:sldId id="321" r:id="rId5"/>
    <p:sldId id="294" r:id="rId6"/>
    <p:sldId id="295" r:id="rId7"/>
    <p:sldId id="296" r:id="rId8"/>
    <p:sldId id="297" r:id="rId9"/>
    <p:sldId id="298" r:id="rId10"/>
    <p:sldId id="299" r:id="rId11"/>
    <p:sldId id="300" r:id="rId12"/>
    <p:sldId id="309" r:id="rId13"/>
    <p:sldId id="310" r:id="rId14"/>
    <p:sldId id="322" r:id="rId15"/>
    <p:sldId id="323" r:id="rId16"/>
    <p:sldId id="324" r:id="rId17"/>
    <p:sldId id="325" r:id="rId18"/>
    <p:sldId id="326" r:id="rId19"/>
    <p:sldId id="327" r:id="rId20"/>
    <p:sldId id="328" r:id="rId21"/>
    <p:sldId id="329" r:id="rId22"/>
    <p:sldId id="302" r:id="rId23"/>
    <p:sldId id="303" r:id="rId24"/>
    <p:sldId id="304" r:id="rId25"/>
    <p:sldId id="305" r:id="rId26"/>
    <p:sldId id="306" r:id="rId27"/>
    <p:sldId id="307" r:id="rId28"/>
    <p:sldId id="308" r:id="rId29"/>
    <p:sldId id="311" r:id="rId30"/>
    <p:sldId id="312" r:id="rId31"/>
    <p:sldId id="313" r:id="rId32"/>
    <p:sldId id="314" r:id="rId33"/>
    <p:sldId id="315" r:id="rId34"/>
    <p:sldId id="317" r:id="rId35"/>
    <p:sldId id="316" r:id="rId36"/>
    <p:sldId id="318" r:id="rId37"/>
    <p:sldId id="266" r:id="rId3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08D997C-CE91-4065-908A-4318139CC399}" type="datetimeFigureOut">
              <a:rPr lang="en-US" smtClean="0"/>
              <a:t>4/12/2022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133A179-9DAE-450C-94FB-53E8C3C87B1A}" type="slidenum">
              <a:rPr lang="en-US" smtClean="0"/>
              <a:t>‹#›</a:t>
            </a:fld>
            <a:endParaRPr lang="en-US"/>
          </a:p>
        </p:txBody>
      </p:sp>
    </p:spTree>
    <p:extLst>
      <p:ext uri="{BB962C8B-B14F-4D97-AF65-F5344CB8AC3E}">
        <p14:creationId xmlns:p14="http://schemas.microsoft.com/office/powerpoint/2010/main" val="21104686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79AD8DC4-9FCB-4680-8247-A1F2DD620E87}" type="datetime1">
              <a:rPr lang="en-US" smtClean="0"/>
              <a:t>4/12/2022</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8438122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439FCE9-F346-45F2-95F3-D39EB8912A8E}"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3425186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159353-8DFC-4AFC-8102-BB3206AC82E4}"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9856546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1376F6F-EFC7-4394-B794-6FEFAD4A2775}" type="datetime1">
              <a:rPr lang="en-US" smtClean="0"/>
              <a:t>4/12/2022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41012583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E3EFFB-8FA1-4BAD-8702-24A1B778342B}" type="datetime1">
              <a:rPr lang="en-US" smtClean="0"/>
              <a:t>4/12/2022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2364453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2A2FCFB-0973-4BE5-A859-4170D928D8A3}" type="datetime1">
              <a:rPr lang="en-US" smtClean="0"/>
              <a:t>4/12/2022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812416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69DD2A-877B-43B0-98EA-C76E15752D21}" type="datetime1">
              <a:rPr lang="en-US" smtClean="0"/>
              <a:t>4/12/2022</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944970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70E38C0-D298-452E-A775-F9C3ABDD9B03}" type="datetime1">
              <a:rPr lang="en-US" smtClean="0"/>
              <a:t>4/12/2022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1985875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7322E0F-9C3A-4973-BBAB-3C5251441671}" type="datetime1">
              <a:rPr lang="en-US" smtClean="0"/>
              <a:t>4/12/2022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2368208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86D7575-E71E-408B-9FE6-154DAA6F36DB}" type="datetime1">
              <a:rPr lang="en-US" smtClean="0"/>
              <a:t>4/12/2022</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5209964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280F320C-8832-452D-9FF1-71979E732660}"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38637932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EF55BA3F-BB0C-4DF8-8BA6-0E0E8FC1FDBD}"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9207058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BEA5AB0-8512-4124-AE2E-E4C01A7204EE}"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25033515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CA7A7D4B-1D92-4D5E-ADE0-3DD7D11B9830}" type="datetime1">
              <a:rPr lang="en-US" smtClean="0"/>
              <a:t>4/12/2022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3304060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B627FB43-B33F-4404-924E-BF1382461569}" type="datetime1">
              <a:rPr lang="en-US" smtClean="0"/>
              <a:t>4/12/2022</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103006093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AA79FE78-6215-42F7-99B6-4FC1EC025E5A}"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767021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776C977E-DD79-4C45-AEC9-D11E698B9896}" type="datetime1">
              <a:rPr lang="en-US" smtClean="0"/>
              <a:t>4/12/2022</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0D6F892B-1791-4F93-8AFD-83813F10F54D}" type="slidenum">
              <a:rPr lang="en-US" smtClean="0"/>
              <a:t>‹#›</a:t>
            </a:fld>
            <a:endParaRPr lang="en-US"/>
          </a:p>
        </p:txBody>
      </p:sp>
    </p:spTree>
    <p:extLst>
      <p:ext uri="{BB962C8B-B14F-4D97-AF65-F5344CB8AC3E}">
        <p14:creationId xmlns:p14="http://schemas.microsoft.com/office/powerpoint/2010/main" val="7600309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B9B0B7CF-E385-4015-BBAF-6B02779E05CB}" type="datetime1">
              <a:rPr lang="en-US" smtClean="0"/>
              <a:t>4/12/2022</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0D6F892B-1791-4F93-8AFD-83813F10F54D}" type="slidenum">
              <a:rPr lang="en-US" smtClean="0"/>
              <a:t>‹#›</a:t>
            </a:fld>
            <a:endParaRPr lang="en-US"/>
          </a:p>
        </p:txBody>
      </p:sp>
    </p:spTree>
    <p:extLst>
      <p:ext uri="{BB962C8B-B14F-4D97-AF65-F5344CB8AC3E}">
        <p14:creationId xmlns:p14="http://schemas.microsoft.com/office/powerpoint/2010/main" val="1196904090"/>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hyperlink" Target="https://docs.djangoproject.com/en/3.2/topics/db/models/#fields" TargetMode="Externa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2.tmp"/><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hyperlink" Target="https://django.fun/docs/django/en/4.0/ref/settings/#std-setting-INSTALLED_APPS" TargetMode="External"/><Relationship Id="rId2" Type="http://schemas.openxmlformats.org/officeDocument/2006/relationships/hyperlink" Target="https://django.fun/docs/django/en/4.0/ref/django-admin/#django-admin-migrate" TargetMode="Externa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tmp"/><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4.tmp"/><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hyperlink" Target="https://data-flair.training/blogs/python-libraries/" TargetMode="Externa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image" Target="../media/image5.tmp"/><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image" Target="../media/image6.tmp"/><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7.tmp"/><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image" Target="../media/image8.tmp"/><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image" Target="../media/image9.tmp"/><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10.tmp"/><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1.tmp"/><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hyperlink" Target="https://docs.djangoproject.com/en/3.2/ref/models/fields/#django.db.models.CharField.max_length" TargetMode="External"/><Relationship Id="rId2" Type="http://schemas.openxmlformats.org/officeDocument/2006/relationships/hyperlink" Target="https://docs.djangoproject.com/en/3.2/ref/models/fields/#django.db.models.CharField" TargetMode="External"/><Relationship Id="rId1" Type="http://schemas.openxmlformats.org/officeDocument/2006/relationships/slideLayout" Target="../slideLayouts/slideLayout6.xml"/><Relationship Id="rId5" Type="http://schemas.openxmlformats.org/officeDocument/2006/relationships/hyperlink" Target="https://docs.djangoproject.com/en/3.2/ref/models/fields/#django.db.models.Field.blank" TargetMode="External"/><Relationship Id="rId4" Type="http://schemas.openxmlformats.org/officeDocument/2006/relationships/hyperlink" Target="https://docs.djangoproject.com/en/3.2/ref/models/fields/#django.db.models.Field.null" TargetMode="External"/></Relationships>
</file>

<file path=ppt/slides/_rels/slide30.xml.rels><?xml version="1.0" encoding="UTF-8" standalone="yes"?>
<Relationships xmlns="http://schemas.openxmlformats.org/package/2006/relationships"><Relationship Id="rId3" Type="http://schemas.openxmlformats.org/officeDocument/2006/relationships/hyperlink" Target="https://django.fun/docs/django/en/4.0/ref/models/instances/#validating-objects" TargetMode="External"/><Relationship Id="rId2" Type="http://schemas.openxmlformats.org/officeDocument/2006/relationships/hyperlink" Target="https://docs.python.org/3/glossary.html#term-sequence" TargetMode="Externa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hyperlink" Target="https://django.fun/docs/django/en/4.0/ref/exceptions/#django.db.IntegrityError" TargetMode="External"/><Relationship Id="rId2" Type="http://schemas.openxmlformats.org/officeDocument/2006/relationships/hyperlink" Target="https://django.fun/docs/django/en/4.0/ref/models/fields/#django.db.models.Field.unique" TargetMode="External"/><Relationship Id="rId1" Type="http://schemas.openxmlformats.org/officeDocument/2006/relationships/slideLayout" Target="../slideLayouts/slideLayout6.xml"/><Relationship Id="rId6" Type="http://schemas.openxmlformats.org/officeDocument/2006/relationships/hyperlink" Target="https://django.fun/docs/django/en/4.0/ref/models/fields/#django.db.models.OneToOneField" TargetMode="External"/><Relationship Id="rId5" Type="http://schemas.openxmlformats.org/officeDocument/2006/relationships/hyperlink" Target="https://django.fun/docs/django/en/4.0/ref/models/fields/#django.db.models.ManyToManyField" TargetMode="External"/><Relationship Id="rId4" Type="http://schemas.openxmlformats.org/officeDocument/2006/relationships/hyperlink" Target="https://django.fun/docs/django/en/4.0/ref/models/instances/#django.db.models.Model.save" TargetMode="External"/></Relationships>
</file>

<file path=ppt/slides/_rels/slide34.xml.rels><?xml version="1.0" encoding="UTF-8" standalone="yes"?>
<Relationships xmlns="http://schemas.openxmlformats.org/package/2006/relationships"><Relationship Id="rId2" Type="http://schemas.openxmlformats.org/officeDocument/2006/relationships/image" Target="../media/image12.tmp"/><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hyperlink" Target="https://django.fun/docs/django/en/4.0/ref/models/fields/#django.db.models.ManyToManyField" TargetMode="External"/><Relationship Id="rId2" Type="http://schemas.openxmlformats.org/officeDocument/2006/relationships/hyperlink" Target="https://django.fun/docs/django/en/4.0/ref/models/fields/#django.db.models.ForeignKey" TargetMode="External"/><Relationship Id="rId1" Type="http://schemas.openxmlformats.org/officeDocument/2006/relationships/slideLayout" Target="../slideLayouts/slideLayout6.xml"/><Relationship Id="rId4" Type="http://schemas.openxmlformats.org/officeDocument/2006/relationships/hyperlink" Target="https://django.fun/docs/django/en/4.0/ref/models/fields/#django.db.models.OneToOneField" TargetMode="External"/></Relationships>
</file>

<file path=ppt/slides/_rels/slide36.xml.rels><?xml version="1.0" encoding="UTF-8" standalone="yes"?>
<Relationships xmlns="http://schemas.openxmlformats.org/package/2006/relationships"><Relationship Id="rId2" Type="http://schemas.openxmlformats.org/officeDocument/2006/relationships/image" Target="../media/image13.tmp"/><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21">
            <a:extLst>
              <a:ext uri="{FF2B5EF4-FFF2-40B4-BE49-F238E27FC236}">
                <a16:creationId xmlns:a16="http://schemas.microsoft.com/office/drawing/2014/main" id="{C75D2F71-C3D9-4A89-ADF7-43E4E7BE06D5}"/>
              </a:ext>
            </a:extLst>
          </p:cNvPr>
          <p:cNvSpPr>
            <a:spLocks noGrp="1"/>
          </p:cNvSpPr>
          <p:nvPr>
            <p:ph type="ctrTitle"/>
          </p:nvPr>
        </p:nvSpPr>
        <p:spPr>
          <a:xfrm>
            <a:off x="1154955" y="1384115"/>
            <a:ext cx="10035784" cy="2677648"/>
          </a:xfrm>
        </p:spPr>
        <p:txBody>
          <a:bodyPr/>
          <a:lstStyle/>
          <a:p>
            <a:r>
              <a:rPr lang="en-US" dirty="0">
                <a:latin typeface="Arial Rounded MT Bold" panose="020F0704030504030204" pitchFamily="34" charset="0"/>
              </a:rPr>
              <a:t>Part 8</a:t>
            </a:r>
            <a:br>
              <a:rPr lang="en-US" dirty="0">
                <a:latin typeface="Arial Rounded MT Bold" panose="020F0704030504030204" pitchFamily="34" charset="0"/>
              </a:rPr>
            </a:br>
            <a:br>
              <a:rPr lang="en-US" dirty="0">
                <a:latin typeface="Arial Rounded MT Bold" panose="020F0704030504030204" pitchFamily="34" charset="0"/>
              </a:rPr>
            </a:br>
            <a:r>
              <a:rPr lang="en-US" dirty="0">
                <a:latin typeface="Arial Rounded MT Bold" panose="020F0704030504030204" pitchFamily="34" charset="0"/>
              </a:rPr>
              <a:t>ORM in Django</a:t>
            </a:r>
            <a:endParaRPr lang="en-US" sz="6000" b="1" dirty="0"/>
          </a:p>
        </p:txBody>
      </p:sp>
      <p:sp>
        <p:nvSpPr>
          <p:cNvPr id="23" name="Subtitle 22">
            <a:extLst>
              <a:ext uri="{FF2B5EF4-FFF2-40B4-BE49-F238E27FC236}">
                <a16:creationId xmlns:a16="http://schemas.microsoft.com/office/drawing/2014/main" id="{7EAC1220-5808-4927-8A48-4FD19D7906DA}"/>
              </a:ext>
            </a:extLst>
          </p:cNvPr>
          <p:cNvSpPr>
            <a:spLocks noGrp="1"/>
          </p:cNvSpPr>
          <p:nvPr>
            <p:ph type="subTitle" idx="1"/>
          </p:nvPr>
        </p:nvSpPr>
        <p:spPr>
          <a:xfrm>
            <a:off x="1154955" y="4287049"/>
            <a:ext cx="8825658" cy="430725"/>
          </a:xfrm>
        </p:spPr>
        <p:txBody>
          <a:bodyPr>
            <a:normAutofit lnSpcReduction="10000"/>
          </a:bodyPr>
          <a:lstStyle/>
          <a:p>
            <a:r>
              <a:rPr lang="en-US" sz="2400" dirty="0"/>
              <a:t>Version: 4.0.1</a:t>
            </a:r>
          </a:p>
        </p:txBody>
      </p:sp>
      <p:sp>
        <p:nvSpPr>
          <p:cNvPr id="24" name="Subtitle 22">
            <a:extLst>
              <a:ext uri="{FF2B5EF4-FFF2-40B4-BE49-F238E27FC236}">
                <a16:creationId xmlns:a16="http://schemas.microsoft.com/office/drawing/2014/main" id="{EF647C65-2962-495E-8F1A-C5ABE3700C82}"/>
              </a:ext>
            </a:extLst>
          </p:cNvPr>
          <p:cNvSpPr txBox="1">
            <a:spLocks/>
          </p:cNvSpPr>
          <p:nvPr/>
        </p:nvSpPr>
        <p:spPr bwMode="gray">
          <a:xfrm>
            <a:off x="6802583" y="5727684"/>
            <a:ext cx="4668900" cy="430725"/>
          </a:xfrm>
          <a:prstGeom prst="rect">
            <a:avLst/>
          </a:prstGeom>
          <a:ln w="57150"/>
        </p:spPr>
        <p:style>
          <a:lnRef idx="1">
            <a:schemeClr val="accent2"/>
          </a:lnRef>
          <a:fillRef idx="3">
            <a:schemeClr val="accent2"/>
          </a:fillRef>
          <a:effectRef idx="2">
            <a:schemeClr val="accent2"/>
          </a:effectRef>
          <a:fontRef idx="minor">
            <a:schemeClr val="lt1"/>
          </a:fontRef>
        </p:style>
        <p:txBody>
          <a:bodyPr vert="horz" lIns="91440" tIns="45720" rIns="91440" bIns="45720" rtlCol="0" anchor="t">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1800" b="0" i="0" kern="1200" cap="all">
                <a:solidFill>
                  <a:schemeClr val="accent1">
                    <a:lumMod val="60000"/>
                    <a:lumOff val="4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b="0" i="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b="0" i="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b="0" i="0" kern="1200">
                <a:solidFill>
                  <a:schemeClr val="tx1">
                    <a:tint val="75000"/>
                  </a:schemeClr>
                </a:solidFill>
                <a:latin typeface="+mn-lt"/>
                <a:ea typeface="+mn-ea"/>
                <a:cs typeface="+mn-cs"/>
              </a:defRPr>
            </a:lvl9pPr>
          </a:lstStyle>
          <a:p>
            <a:r>
              <a:rPr lang="en-US" sz="2000" b="1" dirty="0">
                <a:solidFill>
                  <a:schemeClr val="bg1"/>
                </a:solidFill>
                <a:effectLst>
                  <a:innerShdw blurRad="63500" dist="50800" dir="13500000">
                    <a:prstClr val="black">
                      <a:alpha val="50000"/>
                    </a:prstClr>
                  </a:innerShdw>
                </a:effectLst>
                <a:latin typeface="+mj-lt"/>
              </a:rPr>
              <a:t>Written and design by: Babar </a:t>
            </a:r>
            <a:r>
              <a:rPr lang="en-US" sz="2000" b="1" dirty="0" err="1">
                <a:solidFill>
                  <a:schemeClr val="bg1"/>
                </a:solidFill>
                <a:effectLst>
                  <a:innerShdw blurRad="63500" dist="50800" dir="13500000">
                    <a:prstClr val="black">
                      <a:alpha val="50000"/>
                    </a:prstClr>
                  </a:innerShdw>
                </a:effectLst>
                <a:latin typeface="+mj-lt"/>
              </a:rPr>
              <a:t>ali</a:t>
            </a:r>
            <a:r>
              <a:rPr lang="en-US" sz="2000" b="1" dirty="0">
                <a:solidFill>
                  <a:schemeClr val="bg1"/>
                </a:solidFill>
                <a:effectLst>
                  <a:innerShdw blurRad="63500" dist="50800" dir="13500000">
                    <a:prstClr val="black">
                      <a:alpha val="50000"/>
                    </a:prstClr>
                  </a:innerShdw>
                </a:effectLst>
                <a:latin typeface="+mj-lt"/>
              </a:rPr>
              <a:t> </a:t>
            </a:r>
          </a:p>
        </p:txBody>
      </p:sp>
      <p:sp>
        <p:nvSpPr>
          <p:cNvPr id="2" name="Slide Number Placeholder 1">
            <a:extLst>
              <a:ext uri="{FF2B5EF4-FFF2-40B4-BE49-F238E27FC236}">
                <a16:creationId xmlns:a16="http://schemas.microsoft.com/office/drawing/2014/main" id="{F5A016D5-09FF-4268-BF3D-93E1563787B9}"/>
              </a:ext>
            </a:extLst>
          </p:cNvPr>
          <p:cNvSpPr>
            <a:spLocks noGrp="1"/>
          </p:cNvSpPr>
          <p:nvPr>
            <p:ph type="sldNum" sz="quarter" idx="12"/>
          </p:nvPr>
        </p:nvSpPr>
        <p:spPr/>
        <p:txBody>
          <a:bodyPr/>
          <a:lstStyle/>
          <a:p>
            <a:fld id="{0D6F892B-1791-4F93-8AFD-83813F10F54D}" type="slidenum">
              <a:rPr lang="en-US" smtClean="0"/>
              <a:t>1</a:t>
            </a:fld>
            <a:endParaRPr lang="en-US"/>
          </a:p>
        </p:txBody>
      </p:sp>
    </p:spTree>
    <p:extLst>
      <p:ext uri="{BB962C8B-B14F-4D97-AF65-F5344CB8AC3E}">
        <p14:creationId xmlns:p14="http://schemas.microsoft.com/office/powerpoint/2010/main" val="19159672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434005-E776-4EC0-BD87-BBC84FA86D10}"/>
              </a:ext>
            </a:extLst>
          </p:cNvPr>
          <p:cNvSpPr>
            <a:spLocks noGrp="1"/>
          </p:cNvSpPr>
          <p:nvPr>
            <p:ph type="title"/>
          </p:nvPr>
        </p:nvSpPr>
        <p:spPr/>
        <p:txBody>
          <a:bodyPr/>
          <a:lstStyle/>
          <a:p>
            <a:r>
              <a:rPr lang="en-US" dirty="0"/>
              <a:t>What is ORM?</a:t>
            </a:r>
          </a:p>
        </p:txBody>
      </p:sp>
      <p:sp>
        <p:nvSpPr>
          <p:cNvPr id="3" name="Slide Number Placeholder 2">
            <a:extLst>
              <a:ext uri="{FF2B5EF4-FFF2-40B4-BE49-F238E27FC236}">
                <a16:creationId xmlns:a16="http://schemas.microsoft.com/office/drawing/2014/main" id="{9525C9F4-C526-4609-AD62-6481583394EF}"/>
              </a:ext>
            </a:extLst>
          </p:cNvPr>
          <p:cNvSpPr>
            <a:spLocks noGrp="1"/>
          </p:cNvSpPr>
          <p:nvPr>
            <p:ph type="sldNum" sz="quarter" idx="12"/>
          </p:nvPr>
        </p:nvSpPr>
        <p:spPr/>
        <p:txBody>
          <a:bodyPr/>
          <a:lstStyle/>
          <a:p>
            <a:fld id="{0D6F892B-1791-4F93-8AFD-83813F10F54D}" type="slidenum">
              <a:rPr lang="en-US" smtClean="0"/>
              <a:t>2</a:t>
            </a:fld>
            <a:endParaRPr lang="en-US"/>
          </a:p>
        </p:txBody>
      </p:sp>
      <p:sp>
        <p:nvSpPr>
          <p:cNvPr id="4" name="Rectangle 3">
            <a:extLst>
              <a:ext uri="{FF2B5EF4-FFF2-40B4-BE49-F238E27FC236}">
                <a16:creationId xmlns:a16="http://schemas.microsoft.com/office/drawing/2014/main" id="{D56E8FE8-F1AC-4F98-8173-72FA16E7B25B}"/>
              </a:ext>
            </a:extLst>
          </p:cNvPr>
          <p:cNvSpPr/>
          <p:nvPr/>
        </p:nvSpPr>
        <p:spPr>
          <a:xfrm>
            <a:off x="871691" y="2392811"/>
            <a:ext cx="10657700" cy="3363678"/>
          </a:xfrm>
          <a:prstGeom prst="rect">
            <a:avLst/>
          </a:prstGeom>
        </p:spPr>
        <p:txBody>
          <a:bodyPr wrap="square">
            <a:spAutoFit/>
          </a:bodyPr>
          <a:lstStyle/>
          <a:p>
            <a:pPr algn="just">
              <a:lnSpc>
                <a:spcPct val="150000"/>
              </a:lnSpc>
            </a:pPr>
            <a:r>
              <a:rPr lang="en-US" dirty="0"/>
              <a:t>One of the most powerful features of Django is its </a:t>
            </a:r>
            <a:r>
              <a:rPr lang="en-US" b="1" dirty="0"/>
              <a:t>Object-Relational</a:t>
            </a:r>
            <a:r>
              <a:rPr lang="en-US" dirty="0"/>
              <a:t> </a:t>
            </a:r>
            <a:r>
              <a:rPr lang="en-US" b="1" dirty="0"/>
              <a:t>Mapper</a:t>
            </a:r>
            <a:r>
              <a:rPr lang="en-US" dirty="0"/>
              <a:t> (</a:t>
            </a:r>
            <a:r>
              <a:rPr lang="en-US" b="1" dirty="0"/>
              <a:t>ORM</a:t>
            </a:r>
            <a:r>
              <a:rPr lang="en-US" dirty="0"/>
              <a:t>), which enables you to interact with your database, like you would with SQL. In fact, Django's </a:t>
            </a:r>
            <a:r>
              <a:rPr lang="en-US" b="1" dirty="0"/>
              <a:t>ORM</a:t>
            </a:r>
            <a:r>
              <a:rPr lang="en-US" dirty="0"/>
              <a:t> is just a </a:t>
            </a:r>
            <a:r>
              <a:rPr lang="en-US" b="1" dirty="0" err="1"/>
              <a:t>Pythonical</a:t>
            </a:r>
            <a:r>
              <a:rPr lang="en-US" dirty="0"/>
              <a:t> way to create </a:t>
            </a:r>
            <a:r>
              <a:rPr lang="en-US" b="1" dirty="0"/>
              <a:t>SQL</a:t>
            </a:r>
            <a:r>
              <a:rPr lang="en-US" dirty="0"/>
              <a:t> to query and manipulate your </a:t>
            </a:r>
            <a:r>
              <a:rPr lang="en-US" b="1" dirty="0"/>
              <a:t>database</a:t>
            </a:r>
            <a:r>
              <a:rPr lang="en-US" dirty="0"/>
              <a:t> and get results in a </a:t>
            </a:r>
            <a:r>
              <a:rPr lang="en-US" b="1" dirty="0"/>
              <a:t>Pythonic</a:t>
            </a:r>
            <a:r>
              <a:rPr lang="en-US" dirty="0"/>
              <a:t> fashion. </a:t>
            </a:r>
          </a:p>
          <a:p>
            <a:pPr algn="just">
              <a:lnSpc>
                <a:spcPct val="150000"/>
              </a:lnSpc>
            </a:pPr>
            <a:endParaRPr lang="en-US" dirty="0"/>
          </a:p>
          <a:p>
            <a:pPr algn="just">
              <a:lnSpc>
                <a:spcPct val="150000"/>
              </a:lnSpc>
            </a:pPr>
            <a:r>
              <a:rPr lang="en-US" dirty="0"/>
              <a:t>The </a:t>
            </a:r>
            <a:r>
              <a:rPr lang="en-US" b="1" dirty="0"/>
              <a:t>ORM’s</a:t>
            </a:r>
            <a:r>
              <a:rPr lang="en-US" dirty="0"/>
              <a:t> main goal is to transmit data between a relational database and application model. The ORM automates this transmission, such that the developer need not write any </a:t>
            </a:r>
            <a:r>
              <a:rPr lang="en-US" b="1" dirty="0"/>
              <a:t>SQL</a:t>
            </a:r>
            <a:r>
              <a:rPr lang="en-US" dirty="0"/>
              <a:t>.</a:t>
            </a:r>
            <a:endParaRPr lang="en-US" b="1" dirty="0"/>
          </a:p>
          <a:p>
            <a:pPr fontAlgn="base">
              <a:lnSpc>
                <a:spcPct val="150000"/>
              </a:lnSpc>
            </a:pPr>
            <a:r>
              <a:rPr lang="en-US" dirty="0"/>
              <a:t>This makes the whole development process fast and error-free.</a:t>
            </a:r>
          </a:p>
        </p:txBody>
      </p:sp>
    </p:spTree>
    <p:extLst>
      <p:ext uri="{BB962C8B-B14F-4D97-AF65-F5344CB8AC3E}">
        <p14:creationId xmlns:p14="http://schemas.microsoft.com/office/powerpoint/2010/main" val="42641003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490FD-7E8B-4299-9D08-DE855D5EFD13}"/>
              </a:ext>
            </a:extLst>
          </p:cNvPr>
          <p:cNvSpPr>
            <a:spLocks noGrp="1"/>
          </p:cNvSpPr>
          <p:nvPr>
            <p:ph type="title"/>
          </p:nvPr>
        </p:nvSpPr>
        <p:spPr/>
        <p:txBody>
          <a:bodyPr/>
          <a:lstStyle/>
          <a:p>
            <a:r>
              <a:rPr lang="en-US" dirty="0"/>
              <a:t>The Problem Solved by ORM</a:t>
            </a:r>
          </a:p>
        </p:txBody>
      </p:sp>
      <p:sp>
        <p:nvSpPr>
          <p:cNvPr id="3" name="Slide Number Placeholder 2">
            <a:extLst>
              <a:ext uri="{FF2B5EF4-FFF2-40B4-BE49-F238E27FC236}">
                <a16:creationId xmlns:a16="http://schemas.microsoft.com/office/drawing/2014/main" id="{7E4AA122-DB2D-4F0A-8FB1-EE8B87EE18E9}"/>
              </a:ext>
            </a:extLst>
          </p:cNvPr>
          <p:cNvSpPr>
            <a:spLocks noGrp="1"/>
          </p:cNvSpPr>
          <p:nvPr>
            <p:ph type="sldNum" sz="quarter" idx="12"/>
          </p:nvPr>
        </p:nvSpPr>
        <p:spPr/>
        <p:txBody>
          <a:bodyPr/>
          <a:lstStyle/>
          <a:p>
            <a:fld id="{0D6F892B-1791-4F93-8AFD-83813F10F54D}" type="slidenum">
              <a:rPr lang="en-US" smtClean="0"/>
              <a:t>3</a:t>
            </a:fld>
            <a:endParaRPr lang="en-US"/>
          </a:p>
        </p:txBody>
      </p:sp>
      <p:sp>
        <p:nvSpPr>
          <p:cNvPr id="4" name="Rectangle 3">
            <a:extLst>
              <a:ext uri="{FF2B5EF4-FFF2-40B4-BE49-F238E27FC236}">
                <a16:creationId xmlns:a16="http://schemas.microsoft.com/office/drawing/2014/main" id="{F94D26AF-C135-49C6-A75F-3FFEEC18501F}"/>
              </a:ext>
            </a:extLst>
          </p:cNvPr>
          <p:cNvSpPr/>
          <p:nvPr/>
        </p:nvSpPr>
        <p:spPr>
          <a:xfrm>
            <a:off x="1140694" y="2419315"/>
            <a:ext cx="9910611" cy="1288366"/>
          </a:xfrm>
          <a:prstGeom prst="rect">
            <a:avLst/>
          </a:prstGeom>
        </p:spPr>
        <p:txBody>
          <a:bodyPr wrap="square">
            <a:spAutoFit/>
          </a:bodyPr>
          <a:lstStyle/>
          <a:p>
            <a:pPr algn="just" fontAlgn="base">
              <a:lnSpc>
                <a:spcPct val="150000"/>
              </a:lnSpc>
            </a:pPr>
            <a:r>
              <a:rPr lang="en-US" b="1" dirty="0"/>
              <a:t>ORMs</a:t>
            </a:r>
            <a:r>
              <a:rPr lang="en-US" dirty="0"/>
              <a:t> have certain benefits over the traditional approach. The main advantage </a:t>
            </a:r>
            <a:r>
              <a:rPr lang="en-US" b="1" dirty="0"/>
              <a:t>ORMs</a:t>
            </a:r>
            <a:r>
              <a:rPr lang="en-US" dirty="0"/>
              <a:t> provide is rapid development. </a:t>
            </a:r>
            <a:r>
              <a:rPr lang="en-US" b="1" dirty="0"/>
              <a:t>ORMs</a:t>
            </a:r>
            <a:r>
              <a:rPr lang="en-US" dirty="0"/>
              <a:t> make project more portable. It is easier to change the database if we use </a:t>
            </a:r>
            <a:r>
              <a:rPr lang="en-US" b="1" dirty="0"/>
              <a:t>ORMs</a:t>
            </a:r>
            <a:r>
              <a:rPr lang="en-US" dirty="0"/>
              <a:t>.</a:t>
            </a:r>
            <a:endParaRPr lang="en-US" dirty="0">
              <a:solidFill>
                <a:srgbClr val="444444"/>
              </a:solidFill>
              <a:latin typeface="Georgia" panose="02040502050405020303" pitchFamily="18" charset="0"/>
            </a:endParaRPr>
          </a:p>
        </p:txBody>
      </p:sp>
      <p:sp>
        <p:nvSpPr>
          <p:cNvPr id="5" name="Rectangle 4">
            <a:extLst>
              <a:ext uri="{FF2B5EF4-FFF2-40B4-BE49-F238E27FC236}">
                <a16:creationId xmlns:a16="http://schemas.microsoft.com/office/drawing/2014/main" id="{3E866A06-9483-4DFE-92CA-23117DF200BC}"/>
              </a:ext>
            </a:extLst>
          </p:cNvPr>
          <p:cNvSpPr/>
          <p:nvPr/>
        </p:nvSpPr>
        <p:spPr>
          <a:xfrm>
            <a:off x="1140694" y="3909418"/>
            <a:ext cx="9980328" cy="2118913"/>
          </a:xfrm>
          <a:prstGeom prst="rect">
            <a:avLst/>
          </a:prstGeom>
        </p:spPr>
        <p:txBody>
          <a:bodyPr wrap="square">
            <a:spAutoFit/>
          </a:bodyPr>
          <a:lstStyle/>
          <a:p>
            <a:pPr algn="just">
              <a:lnSpc>
                <a:spcPct val="150000"/>
              </a:lnSpc>
            </a:pPr>
            <a:r>
              <a:rPr lang="en-US" dirty="0"/>
              <a:t>In the past, web developers needed to have knowledge of databases too. A database has been an important component from the start. The programming languages used for web development use classes and object for data-interpretation. The class is used to a defined data structure in web-applications. Then the same database schema is created in the database. This task requires skill and knowledge of </a:t>
            </a:r>
            <a:r>
              <a:rPr lang="en-US" b="1" dirty="0"/>
              <a:t>SQL</a:t>
            </a:r>
            <a:r>
              <a:rPr lang="en-US" dirty="0"/>
              <a:t>.</a:t>
            </a:r>
          </a:p>
        </p:txBody>
      </p:sp>
    </p:spTree>
    <p:extLst>
      <p:ext uri="{BB962C8B-B14F-4D97-AF65-F5344CB8AC3E}">
        <p14:creationId xmlns:p14="http://schemas.microsoft.com/office/powerpoint/2010/main" val="21730707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6F6AD-DA1A-4D30-A32A-C8F0477DF0E9}"/>
              </a:ext>
            </a:extLst>
          </p:cNvPr>
          <p:cNvSpPr>
            <a:spLocks noGrp="1"/>
          </p:cNvSpPr>
          <p:nvPr>
            <p:ph type="title"/>
          </p:nvPr>
        </p:nvSpPr>
        <p:spPr/>
        <p:txBody>
          <a:bodyPr/>
          <a:lstStyle/>
          <a:p>
            <a:r>
              <a:rPr lang="en-US" dirty="0" err="1"/>
              <a:t>Queryset</a:t>
            </a:r>
            <a:r>
              <a:rPr lang="en-US" dirty="0"/>
              <a:t> in Django</a:t>
            </a:r>
          </a:p>
        </p:txBody>
      </p:sp>
      <p:sp>
        <p:nvSpPr>
          <p:cNvPr id="3" name="Slide Number Placeholder 2">
            <a:extLst>
              <a:ext uri="{FF2B5EF4-FFF2-40B4-BE49-F238E27FC236}">
                <a16:creationId xmlns:a16="http://schemas.microsoft.com/office/drawing/2014/main" id="{F890F502-3956-4A6A-B3DE-E9EA2F25D4A1}"/>
              </a:ext>
            </a:extLst>
          </p:cNvPr>
          <p:cNvSpPr>
            <a:spLocks noGrp="1"/>
          </p:cNvSpPr>
          <p:nvPr>
            <p:ph type="sldNum" sz="quarter" idx="12"/>
          </p:nvPr>
        </p:nvSpPr>
        <p:spPr/>
        <p:txBody>
          <a:bodyPr/>
          <a:lstStyle/>
          <a:p>
            <a:fld id="{0D6F892B-1791-4F93-8AFD-83813F10F54D}" type="slidenum">
              <a:rPr lang="en-US" smtClean="0"/>
              <a:t>4</a:t>
            </a:fld>
            <a:endParaRPr lang="en-US"/>
          </a:p>
        </p:txBody>
      </p:sp>
      <p:sp>
        <p:nvSpPr>
          <p:cNvPr id="4" name="Rectangle 3">
            <a:extLst>
              <a:ext uri="{FF2B5EF4-FFF2-40B4-BE49-F238E27FC236}">
                <a16:creationId xmlns:a16="http://schemas.microsoft.com/office/drawing/2014/main" id="{03BEA057-0D57-4C82-BD0F-2DD815F424F6}"/>
              </a:ext>
            </a:extLst>
          </p:cNvPr>
          <p:cNvSpPr/>
          <p:nvPr/>
        </p:nvSpPr>
        <p:spPr>
          <a:xfrm>
            <a:off x="901147" y="2472324"/>
            <a:ext cx="10389705" cy="2117183"/>
          </a:xfrm>
          <a:prstGeom prst="rect">
            <a:avLst/>
          </a:prstGeom>
        </p:spPr>
        <p:txBody>
          <a:bodyPr wrap="square">
            <a:spAutoFit/>
          </a:bodyPr>
          <a:lstStyle/>
          <a:p>
            <a:pPr marL="285750" indent="-285750" algn="just" fontAlgn="base">
              <a:lnSpc>
                <a:spcPct val="150000"/>
              </a:lnSpc>
              <a:buFont typeface="Wingdings" panose="05000000000000000000" pitchFamily="2" charset="2"/>
              <a:buChar char="ü"/>
            </a:pPr>
            <a:r>
              <a:rPr lang="en-US" dirty="0"/>
              <a:t>We all use queries to retrieve data from the database. </a:t>
            </a:r>
            <a:r>
              <a:rPr lang="en-US" b="1" dirty="0" err="1"/>
              <a:t>Querysets</a:t>
            </a:r>
            <a:r>
              <a:rPr lang="en-US" dirty="0"/>
              <a:t> are Django’s way to retrieve data from the database. The Django ORM lets us use </a:t>
            </a:r>
            <a:r>
              <a:rPr lang="en-US" b="1" dirty="0" err="1"/>
              <a:t>Querysets</a:t>
            </a:r>
            <a:r>
              <a:rPr lang="en-US" dirty="0"/>
              <a:t>.</a:t>
            </a:r>
          </a:p>
          <a:p>
            <a:pPr marL="285750" indent="-285750" algn="just" fontAlgn="base">
              <a:lnSpc>
                <a:spcPct val="150000"/>
              </a:lnSpc>
              <a:buFont typeface="Wingdings" panose="05000000000000000000" pitchFamily="2" charset="2"/>
              <a:buChar char="ü"/>
            </a:pPr>
            <a:endParaRPr lang="en-US" dirty="0"/>
          </a:p>
          <a:p>
            <a:pPr marL="285750" indent="-285750" algn="just" fontAlgn="base">
              <a:lnSpc>
                <a:spcPct val="150000"/>
              </a:lnSpc>
              <a:buFont typeface="Wingdings" panose="05000000000000000000" pitchFamily="2" charset="2"/>
              <a:buChar char="ü"/>
            </a:pPr>
            <a:r>
              <a:rPr lang="en-US" dirty="0"/>
              <a:t>A </a:t>
            </a:r>
            <a:r>
              <a:rPr lang="en-US" b="1" dirty="0" err="1"/>
              <a:t>Queryset</a:t>
            </a:r>
            <a:r>
              <a:rPr lang="en-US" dirty="0"/>
              <a:t> is a list of objects of a model. We use </a:t>
            </a:r>
            <a:r>
              <a:rPr lang="en-US" b="1" dirty="0" err="1"/>
              <a:t>Querysets</a:t>
            </a:r>
            <a:r>
              <a:rPr lang="en-US" dirty="0"/>
              <a:t> to filter and arrange our data. These make our work as a Python developer easier.</a:t>
            </a:r>
          </a:p>
        </p:txBody>
      </p:sp>
    </p:spTree>
    <p:extLst>
      <p:ext uri="{BB962C8B-B14F-4D97-AF65-F5344CB8AC3E}">
        <p14:creationId xmlns:p14="http://schemas.microsoft.com/office/powerpoint/2010/main" val="16554979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68809" y="973668"/>
            <a:ext cx="8761413" cy="706964"/>
          </a:xfrm>
        </p:spPr>
        <p:txBody>
          <a:bodyPr/>
          <a:lstStyle/>
          <a:p>
            <a:r>
              <a:rPr lang="en-US" dirty="0">
                <a:latin typeface="Arial Rounded MT Bold" panose="020F0704030504030204" pitchFamily="34" charset="0"/>
              </a:rPr>
              <a:t>What is Model in Django?</a:t>
            </a:r>
            <a:endParaRPr lang="en-US"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5</a:t>
            </a:fld>
            <a:endParaRPr lang="en-US"/>
          </a:p>
        </p:txBody>
      </p:sp>
      <p:sp>
        <p:nvSpPr>
          <p:cNvPr id="9" name="TextBox 8">
            <a:extLst>
              <a:ext uri="{FF2B5EF4-FFF2-40B4-BE49-F238E27FC236}">
                <a16:creationId xmlns:a16="http://schemas.microsoft.com/office/drawing/2014/main" id="{53825462-BB4E-4870-99C8-B29DCA328304}"/>
              </a:ext>
            </a:extLst>
          </p:cNvPr>
          <p:cNvSpPr txBox="1"/>
          <p:nvPr/>
        </p:nvSpPr>
        <p:spPr>
          <a:xfrm>
            <a:off x="1085994" y="2479352"/>
            <a:ext cx="10020011" cy="3086679"/>
          </a:xfrm>
          <a:prstGeom prst="rect">
            <a:avLst/>
          </a:prstGeom>
          <a:noFill/>
        </p:spPr>
        <p:txBody>
          <a:bodyPr wrap="square">
            <a:spAutoFit/>
          </a:bodyPr>
          <a:lstStyle/>
          <a:p>
            <a:pPr marL="285750" indent="-285750" algn="just">
              <a:lnSpc>
                <a:spcPct val="150000"/>
              </a:lnSpc>
              <a:buFont typeface="Wingdings" panose="05000000000000000000" pitchFamily="2" charset="2"/>
              <a:buChar char="ü"/>
            </a:pPr>
            <a:r>
              <a:rPr lang="en-US" dirty="0"/>
              <a:t>A model is a built-in feature that Django uses to create tables, their fields, and various constraints. In short, Django model is the SQL of Database one uses with Django.</a:t>
            </a:r>
          </a:p>
          <a:p>
            <a:pPr marL="285750" indent="-285750" algn="just">
              <a:buFont typeface="Wingdings" panose="05000000000000000000" pitchFamily="2" charset="2"/>
              <a:buChar char="ü"/>
            </a:pPr>
            <a:endParaRPr lang="en-US" dirty="0"/>
          </a:p>
          <a:p>
            <a:pPr marL="285750" indent="-285750" algn="just">
              <a:lnSpc>
                <a:spcPct val="150000"/>
              </a:lnSpc>
              <a:buFont typeface="Wingdings" panose="05000000000000000000" pitchFamily="2" charset="2"/>
              <a:buChar char="ü"/>
            </a:pPr>
            <a:r>
              <a:rPr lang="en-US" dirty="0"/>
              <a:t>SQL (Structured Query Language) is complex and involves a lot of different queries for creating, deleting, updating or any other stuff related to database. </a:t>
            </a:r>
          </a:p>
          <a:p>
            <a:pPr marL="285750" indent="-285750" algn="just">
              <a:buFont typeface="Wingdings" panose="05000000000000000000" pitchFamily="2" charset="2"/>
              <a:buChar char="ü"/>
            </a:pPr>
            <a:endParaRPr lang="en-US" dirty="0"/>
          </a:p>
          <a:p>
            <a:pPr marL="285750" indent="-285750" algn="just">
              <a:lnSpc>
                <a:spcPct val="150000"/>
              </a:lnSpc>
              <a:buFont typeface="Wingdings" panose="05000000000000000000" pitchFamily="2" charset="2"/>
              <a:buChar char="ü"/>
            </a:pPr>
            <a:r>
              <a:rPr lang="en-US" dirty="0"/>
              <a:t>Django Models simplify the tasks and organize tables into models. Generally, each model maps to a single database table.</a:t>
            </a:r>
          </a:p>
        </p:txBody>
      </p:sp>
    </p:spTree>
    <p:extLst>
      <p:ext uri="{BB962C8B-B14F-4D97-AF65-F5344CB8AC3E}">
        <p14:creationId xmlns:p14="http://schemas.microsoft.com/office/powerpoint/2010/main" val="31327786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0C6C4-EC1F-4378-BB0B-F00CDD1F677F}"/>
              </a:ext>
            </a:extLst>
          </p:cNvPr>
          <p:cNvSpPr>
            <a:spLocks noGrp="1"/>
          </p:cNvSpPr>
          <p:nvPr>
            <p:ph type="title"/>
          </p:nvPr>
        </p:nvSpPr>
        <p:spPr/>
        <p:txBody>
          <a:bodyPr/>
          <a:lstStyle/>
          <a:p>
            <a:r>
              <a:rPr lang="en-US" dirty="0"/>
              <a:t>Django Model</a:t>
            </a:r>
          </a:p>
        </p:txBody>
      </p:sp>
      <p:sp>
        <p:nvSpPr>
          <p:cNvPr id="3" name="Slide Number Placeholder 2">
            <a:extLst>
              <a:ext uri="{FF2B5EF4-FFF2-40B4-BE49-F238E27FC236}">
                <a16:creationId xmlns:a16="http://schemas.microsoft.com/office/drawing/2014/main" id="{9A3CE890-AA80-4B1A-809B-A5DB3312E4B5}"/>
              </a:ext>
            </a:extLst>
          </p:cNvPr>
          <p:cNvSpPr>
            <a:spLocks noGrp="1"/>
          </p:cNvSpPr>
          <p:nvPr>
            <p:ph type="sldNum" sz="quarter" idx="12"/>
          </p:nvPr>
        </p:nvSpPr>
        <p:spPr/>
        <p:txBody>
          <a:bodyPr/>
          <a:lstStyle/>
          <a:p>
            <a:fld id="{0D6F892B-1791-4F93-8AFD-83813F10F54D}" type="slidenum">
              <a:rPr lang="en-US" smtClean="0"/>
              <a:t>6</a:t>
            </a:fld>
            <a:endParaRPr lang="en-US"/>
          </a:p>
        </p:txBody>
      </p:sp>
      <p:sp>
        <p:nvSpPr>
          <p:cNvPr id="6" name="TextBox 5">
            <a:extLst>
              <a:ext uri="{FF2B5EF4-FFF2-40B4-BE49-F238E27FC236}">
                <a16:creationId xmlns:a16="http://schemas.microsoft.com/office/drawing/2014/main" id="{136D3910-45C9-4984-A7CD-35818BA24D69}"/>
              </a:ext>
            </a:extLst>
          </p:cNvPr>
          <p:cNvSpPr txBox="1"/>
          <p:nvPr/>
        </p:nvSpPr>
        <p:spPr>
          <a:xfrm>
            <a:off x="1059872" y="2447698"/>
            <a:ext cx="10072255" cy="1286186"/>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Each model is a Python class that subclasses </a:t>
            </a:r>
            <a:r>
              <a:rPr lang="en-US" b="1" dirty="0" err="1">
                <a:solidFill>
                  <a:srgbClr val="C00000"/>
                </a:solidFill>
              </a:rPr>
              <a:t>django.db.models.Model</a:t>
            </a:r>
            <a:r>
              <a:rPr lang="en-US" dirty="0"/>
              <a:t>.</a:t>
            </a:r>
          </a:p>
          <a:p>
            <a:pPr marL="285750" indent="-285750">
              <a:lnSpc>
                <a:spcPct val="150000"/>
              </a:lnSpc>
              <a:buFont typeface="Wingdings" panose="05000000000000000000" pitchFamily="2" charset="2"/>
              <a:buChar char="ü"/>
            </a:pPr>
            <a:r>
              <a:rPr lang="en-US" dirty="0"/>
              <a:t>Each attribute of the model represents a database field.</a:t>
            </a:r>
          </a:p>
          <a:p>
            <a:pPr marL="285750" indent="-285750">
              <a:lnSpc>
                <a:spcPct val="150000"/>
              </a:lnSpc>
              <a:buFont typeface="Wingdings" panose="05000000000000000000" pitchFamily="2" charset="2"/>
              <a:buChar char="ü"/>
            </a:pPr>
            <a:r>
              <a:rPr lang="en-US" dirty="0"/>
              <a:t>With all of this, Django gives you an automatically-generated database access API.</a:t>
            </a:r>
          </a:p>
        </p:txBody>
      </p:sp>
      <p:graphicFrame>
        <p:nvGraphicFramePr>
          <p:cNvPr id="4" name="Table 3">
            <a:extLst>
              <a:ext uri="{FF2B5EF4-FFF2-40B4-BE49-F238E27FC236}">
                <a16:creationId xmlns:a16="http://schemas.microsoft.com/office/drawing/2014/main" id="{8E1965DC-D9CA-4A20-B307-6250A2B849F0}"/>
              </a:ext>
            </a:extLst>
          </p:cNvPr>
          <p:cNvGraphicFramePr>
            <a:graphicFrameLocks noGrp="1"/>
          </p:cNvGraphicFramePr>
          <p:nvPr>
            <p:extLst>
              <p:ext uri="{D42A27DB-BD31-4B8C-83A1-F6EECF244321}">
                <p14:modId xmlns:p14="http://schemas.microsoft.com/office/powerpoint/2010/main" val="3771424577"/>
              </p:ext>
            </p:extLst>
          </p:nvPr>
        </p:nvGraphicFramePr>
        <p:xfrm>
          <a:off x="1431904" y="4500950"/>
          <a:ext cx="7553070" cy="1483360"/>
        </p:xfrm>
        <a:graphic>
          <a:graphicData uri="http://schemas.openxmlformats.org/drawingml/2006/table">
            <a:tbl>
              <a:tblPr firstRow="1" bandRow="1">
                <a:tableStyleId>{21E4AEA4-8DFA-4A89-87EB-49C32662AFE0}</a:tableStyleId>
              </a:tblPr>
              <a:tblGrid>
                <a:gridCol w="1722114">
                  <a:extLst>
                    <a:ext uri="{9D8B030D-6E8A-4147-A177-3AD203B41FA5}">
                      <a16:colId xmlns:a16="http://schemas.microsoft.com/office/drawing/2014/main" val="2838559431"/>
                    </a:ext>
                  </a:extLst>
                </a:gridCol>
                <a:gridCol w="2040835">
                  <a:extLst>
                    <a:ext uri="{9D8B030D-6E8A-4147-A177-3AD203B41FA5}">
                      <a16:colId xmlns:a16="http://schemas.microsoft.com/office/drawing/2014/main" val="2133079445"/>
                    </a:ext>
                  </a:extLst>
                </a:gridCol>
                <a:gridCol w="1364974">
                  <a:extLst>
                    <a:ext uri="{9D8B030D-6E8A-4147-A177-3AD203B41FA5}">
                      <a16:colId xmlns:a16="http://schemas.microsoft.com/office/drawing/2014/main" val="1081723463"/>
                    </a:ext>
                  </a:extLst>
                </a:gridCol>
                <a:gridCol w="2425147">
                  <a:extLst>
                    <a:ext uri="{9D8B030D-6E8A-4147-A177-3AD203B41FA5}">
                      <a16:colId xmlns:a16="http://schemas.microsoft.com/office/drawing/2014/main" val="2299183772"/>
                    </a:ext>
                  </a:extLst>
                </a:gridCol>
              </a:tblGrid>
              <a:tr h="370840">
                <a:tc>
                  <a:txBody>
                    <a:bodyPr/>
                    <a:lstStyle/>
                    <a:p>
                      <a:r>
                        <a:rPr lang="en-US" dirty="0"/>
                        <a:t>Name</a:t>
                      </a:r>
                    </a:p>
                  </a:txBody>
                  <a:tcPr/>
                </a:tc>
                <a:tc>
                  <a:txBody>
                    <a:bodyPr/>
                    <a:lstStyle/>
                    <a:p>
                      <a:r>
                        <a:rPr lang="en-US" dirty="0"/>
                        <a:t>Father Name</a:t>
                      </a:r>
                    </a:p>
                  </a:txBody>
                  <a:tcPr/>
                </a:tc>
                <a:tc>
                  <a:txBody>
                    <a:bodyPr/>
                    <a:lstStyle/>
                    <a:p>
                      <a:r>
                        <a:rPr lang="en-US" dirty="0"/>
                        <a:t>Roll No</a:t>
                      </a:r>
                    </a:p>
                  </a:txBody>
                  <a:tcPr/>
                </a:tc>
                <a:tc>
                  <a:txBody>
                    <a:bodyPr/>
                    <a:lstStyle/>
                    <a:p>
                      <a:r>
                        <a:rPr lang="en-US" dirty="0"/>
                        <a:t>Address</a:t>
                      </a:r>
                    </a:p>
                  </a:txBody>
                  <a:tcPr/>
                </a:tc>
                <a:extLst>
                  <a:ext uri="{0D108BD9-81ED-4DB2-BD59-A6C34878D82A}">
                    <a16:rowId xmlns:a16="http://schemas.microsoft.com/office/drawing/2014/main" val="3165681815"/>
                  </a:ext>
                </a:extLst>
              </a:tr>
              <a:tr h="370840">
                <a:tc>
                  <a:txBody>
                    <a:bodyPr/>
                    <a:lstStyle/>
                    <a:p>
                      <a:r>
                        <a:rPr lang="en-US" dirty="0"/>
                        <a:t>Babar Ali</a:t>
                      </a:r>
                    </a:p>
                  </a:txBody>
                  <a:tcPr/>
                </a:tc>
                <a:tc>
                  <a:txBody>
                    <a:bodyPr/>
                    <a:lstStyle/>
                    <a:p>
                      <a:r>
                        <a:rPr lang="en-US" dirty="0" err="1"/>
                        <a:t>Sammad</a:t>
                      </a:r>
                      <a:r>
                        <a:rPr lang="en-US" dirty="0"/>
                        <a:t> Khan</a:t>
                      </a:r>
                    </a:p>
                  </a:txBody>
                  <a:tcPr/>
                </a:tc>
                <a:tc>
                  <a:txBody>
                    <a:bodyPr/>
                    <a:lstStyle/>
                    <a:p>
                      <a:r>
                        <a:rPr lang="en-US" dirty="0"/>
                        <a:t>145986</a:t>
                      </a:r>
                    </a:p>
                  </a:txBody>
                  <a:tcPr/>
                </a:tc>
                <a:tc>
                  <a:txBody>
                    <a:bodyPr/>
                    <a:lstStyle/>
                    <a:p>
                      <a:r>
                        <a:rPr lang="en-US" dirty="0" err="1"/>
                        <a:t>Shabqadar</a:t>
                      </a:r>
                      <a:endParaRPr lang="en-US" dirty="0"/>
                    </a:p>
                  </a:txBody>
                  <a:tcPr/>
                </a:tc>
                <a:extLst>
                  <a:ext uri="{0D108BD9-81ED-4DB2-BD59-A6C34878D82A}">
                    <a16:rowId xmlns:a16="http://schemas.microsoft.com/office/drawing/2014/main" val="4216725680"/>
                  </a:ext>
                </a:extLst>
              </a:tr>
              <a:tr h="370840">
                <a:tc>
                  <a:txBody>
                    <a:bodyPr/>
                    <a:lstStyle/>
                    <a:p>
                      <a:r>
                        <a:rPr lang="en-US" dirty="0"/>
                        <a:t>Umair Khan</a:t>
                      </a:r>
                    </a:p>
                  </a:txBody>
                  <a:tcPr/>
                </a:tc>
                <a:tc>
                  <a:txBody>
                    <a:bodyPr/>
                    <a:lstStyle/>
                    <a:p>
                      <a:r>
                        <a:rPr lang="en-US" dirty="0" err="1"/>
                        <a:t>Haris</a:t>
                      </a:r>
                      <a:r>
                        <a:rPr lang="en-US" dirty="0"/>
                        <a:t> Khan</a:t>
                      </a:r>
                    </a:p>
                  </a:txBody>
                  <a:tcPr/>
                </a:tc>
                <a:tc>
                  <a:txBody>
                    <a:bodyPr/>
                    <a:lstStyle/>
                    <a:p>
                      <a:r>
                        <a:rPr lang="en-US" dirty="0"/>
                        <a:t>345765</a:t>
                      </a:r>
                    </a:p>
                  </a:txBody>
                  <a:tcPr/>
                </a:tc>
                <a:tc>
                  <a:txBody>
                    <a:bodyPr/>
                    <a:lstStyle/>
                    <a:p>
                      <a:r>
                        <a:rPr lang="en-US" dirty="0" err="1"/>
                        <a:t>Halimzai</a:t>
                      </a:r>
                      <a:endParaRPr lang="en-US" dirty="0"/>
                    </a:p>
                  </a:txBody>
                  <a:tcPr/>
                </a:tc>
                <a:extLst>
                  <a:ext uri="{0D108BD9-81ED-4DB2-BD59-A6C34878D82A}">
                    <a16:rowId xmlns:a16="http://schemas.microsoft.com/office/drawing/2014/main" val="3284178846"/>
                  </a:ext>
                </a:extLst>
              </a:tr>
              <a:tr h="370840">
                <a:tc>
                  <a:txBody>
                    <a:bodyPr/>
                    <a:lstStyle/>
                    <a:p>
                      <a:r>
                        <a:rPr lang="en-US" dirty="0"/>
                        <a:t>Imran Shah</a:t>
                      </a:r>
                    </a:p>
                  </a:txBody>
                  <a:tcPr/>
                </a:tc>
                <a:tc>
                  <a:txBody>
                    <a:bodyPr/>
                    <a:lstStyle/>
                    <a:p>
                      <a:r>
                        <a:rPr lang="en-US" dirty="0"/>
                        <a:t>Sadiq Shah</a:t>
                      </a:r>
                    </a:p>
                  </a:txBody>
                  <a:tcPr/>
                </a:tc>
                <a:tc>
                  <a:txBody>
                    <a:bodyPr/>
                    <a:lstStyle/>
                    <a:p>
                      <a:r>
                        <a:rPr lang="en-US" dirty="0"/>
                        <a:t>123578</a:t>
                      </a:r>
                    </a:p>
                  </a:txBody>
                  <a:tcPr/>
                </a:tc>
                <a:tc>
                  <a:txBody>
                    <a:bodyPr/>
                    <a:lstStyle/>
                    <a:p>
                      <a:r>
                        <a:rPr lang="en-US" dirty="0"/>
                        <a:t>Per </a:t>
                      </a:r>
                      <a:r>
                        <a:rPr lang="en-US" dirty="0" err="1"/>
                        <a:t>Qilla</a:t>
                      </a:r>
                      <a:endParaRPr lang="en-US" dirty="0"/>
                    </a:p>
                  </a:txBody>
                  <a:tcPr/>
                </a:tc>
                <a:extLst>
                  <a:ext uri="{0D108BD9-81ED-4DB2-BD59-A6C34878D82A}">
                    <a16:rowId xmlns:a16="http://schemas.microsoft.com/office/drawing/2014/main" val="4214353436"/>
                  </a:ext>
                </a:extLst>
              </a:tr>
            </a:tbl>
          </a:graphicData>
        </a:graphic>
      </p:graphicFrame>
      <p:sp>
        <p:nvSpPr>
          <p:cNvPr id="5" name="Rectangle 4">
            <a:extLst>
              <a:ext uri="{FF2B5EF4-FFF2-40B4-BE49-F238E27FC236}">
                <a16:creationId xmlns:a16="http://schemas.microsoft.com/office/drawing/2014/main" id="{64480A51-579E-4434-9AEB-920586372A84}"/>
              </a:ext>
            </a:extLst>
          </p:cNvPr>
          <p:cNvSpPr/>
          <p:nvPr/>
        </p:nvSpPr>
        <p:spPr>
          <a:xfrm>
            <a:off x="1331863" y="3932751"/>
            <a:ext cx="1338828" cy="400110"/>
          </a:xfrm>
          <a:prstGeom prst="rect">
            <a:avLst/>
          </a:prstGeom>
        </p:spPr>
        <p:txBody>
          <a:bodyPr wrap="none">
            <a:spAutoFit/>
          </a:bodyPr>
          <a:lstStyle/>
          <a:p>
            <a:r>
              <a:rPr lang="en-US" sz="2000" b="1" dirty="0"/>
              <a:t>Example:</a:t>
            </a:r>
          </a:p>
        </p:txBody>
      </p:sp>
    </p:spTree>
    <p:extLst>
      <p:ext uri="{BB962C8B-B14F-4D97-AF65-F5344CB8AC3E}">
        <p14:creationId xmlns:p14="http://schemas.microsoft.com/office/powerpoint/2010/main" val="28304854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E40F0D-48A7-4E8C-85B6-07E82311E56F}"/>
              </a:ext>
            </a:extLst>
          </p:cNvPr>
          <p:cNvSpPr>
            <a:spLocks noGrp="1"/>
          </p:cNvSpPr>
          <p:nvPr>
            <p:ph type="title"/>
          </p:nvPr>
        </p:nvSpPr>
        <p:spPr/>
        <p:txBody>
          <a:bodyPr/>
          <a:lstStyle/>
          <a:p>
            <a:r>
              <a:rPr lang="en-US" dirty="0"/>
              <a:t>Create Your First Django Model</a:t>
            </a:r>
          </a:p>
        </p:txBody>
      </p:sp>
      <p:sp>
        <p:nvSpPr>
          <p:cNvPr id="3" name="Slide Number Placeholder 2">
            <a:extLst>
              <a:ext uri="{FF2B5EF4-FFF2-40B4-BE49-F238E27FC236}">
                <a16:creationId xmlns:a16="http://schemas.microsoft.com/office/drawing/2014/main" id="{B41107AD-E074-4037-80E6-49F51FC758B1}"/>
              </a:ext>
            </a:extLst>
          </p:cNvPr>
          <p:cNvSpPr>
            <a:spLocks noGrp="1"/>
          </p:cNvSpPr>
          <p:nvPr>
            <p:ph type="sldNum" sz="quarter" idx="12"/>
          </p:nvPr>
        </p:nvSpPr>
        <p:spPr/>
        <p:txBody>
          <a:bodyPr/>
          <a:lstStyle/>
          <a:p>
            <a:fld id="{0D6F892B-1791-4F93-8AFD-83813F10F54D}" type="slidenum">
              <a:rPr lang="en-US" smtClean="0"/>
              <a:t>7</a:t>
            </a:fld>
            <a:endParaRPr lang="en-US"/>
          </a:p>
        </p:txBody>
      </p:sp>
      <p:sp>
        <p:nvSpPr>
          <p:cNvPr id="10" name="TextBox 9">
            <a:extLst>
              <a:ext uri="{FF2B5EF4-FFF2-40B4-BE49-F238E27FC236}">
                <a16:creationId xmlns:a16="http://schemas.microsoft.com/office/drawing/2014/main" id="{A0FE1FBF-0293-4CE6-8CE0-B31B6D1FD670}"/>
              </a:ext>
            </a:extLst>
          </p:cNvPr>
          <p:cNvSpPr txBox="1"/>
          <p:nvPr/>
        </p:nvSpPr>
        <p:spPr>
          <a:xfrm>
            <a:off x="1247718" y="4571412"/>
            <a:ext cx="8761413" cy="995465"/>
          </a:xfrm>
          <a:prstGeom prst="rect">
            <a:avLst/>
          </a:prstGeom>
          <a:noFill/>
        </p:spPr>
        <p:txBody>
          <a:bodyPr wrap="square">
            <a:spAutoFit/>
          </a:bodyPr>
          <a:lstStyle/>
          <a:p>
            <a:pPr marL="285750" lvl="0" indent="-285750" defTabSz="914400" fontAlgn="base">
              <a:lnSpc>
                <a:spcPct val="150000"/>
              </a:lnSpc>
              <a:spcBef>
                <a:spcPct val="0"/>
              </a:spcBef>
              <a:spcAft>
                <a:spcPct val="0"/>
              </a:spcAft>
              <a:buFont typeface="Wingdings" panose="05000000000000000000" pitchFamily="2" charset="2"/>
              <a:buChar char="ü"/>
            </a:pPr>
            <a:r>
              <a:rPr lang="en-US" b="1" dirty="0" err="1">
                <a:solidFill>
                  <a:srgbClr val="0C4B33"/>
                </a:solidFill>
                <a:latin typeface="Times New Roman" pitchFamily="18" charset="0"/>
                <a:cs typeface="Times New Roman" pitchFamily="18" charset="0"/>
              </a:rPr>
              <a:t>first_name</a:t>
            </a:r>
            <a:r>
              <a:rPr lang="en-US" dirty="0">
                <a:solidFill>
                  <a:srgbClr val="0C3C26"/>
                </a:solidFill>
                <a:latin typeface="Times New Roman" pitchFamily="18" charset="0"/>
                <a:cs typeface="Times New Roman" pitchFamily="18" charset="0"/>
              </a:rPr>
              <a:t> and </a:t>
            </a:r>
            <a:r>
              <a:rPr lang="en-US" b="1" dirty="0" err="1">
                <a:solidFill>
                  <a:srgbClr val="0C4B33"/>
                </a:solidFill>
                <a:latin typeface="Times New Roman" pitchFamily="18" charset="0"/>
                <a:cs typeface="Times New Roman" pitchFamily="18" charset="0"/>
              </a:rPr>
              <a:t>last_name</a:t>
            </a:r>
            <a:r>
              <a:rPr lang="en-US" dirty="0">
                <a:solidFill>
                  <a:srgbClr val="0C3C26"/>
                </a:solidFill>
                <a:latin typeface="Times New Roman" pitchFamily="18" charset="0"/>
                <a:cs typeface="Times New Roman" pitchFamily="18" charset="0"/>
              </a:rPr>
              <a:t> are </a:t>
            </a:r>
            <a:r>
              <a:rPr lang="en-US" dirty="0">
                <a:solidFill>
                  <a:srgbClr val="6A0E0E"/>
                </a:solidFill>
                <a:latin typeface="Times New Roman" pitchFamily="18" charset="0"/>
                <a:cs typeface="Times New Roman" pitchFamily="18" charset="0"/>
                <a:hlinkClick r:id="rId2"/>
              </a:rPr>
              <a:t>fields</a:t>
            </a:r>
            <a:r>
              <a:rPr lang="en-US" dirty="0">
                <a:solidFill>
                  <a:srgbClr val="0C3C26"/>
                </a:solidFill>
                <a:latin typeface="Times New Roman" pitchFamily="18" charset="0"/>
                <a:cs typeface="Times New Roman" pitchFamily="18" charset="0"/>
              </a:rPr>
              <a:t> of the model. </a:t>
            </a:r>
          </a:p>
          <a:p>
            <a:pPr marL="285750" lvl="0" indent="-285750" defTabSz="914400" fontAlgn="base">
              <a:lnSpc>
                <a:spcPct val="150000"/>
              </a:lnSpc>
              <a:spcBef>
                <a:spcPct val="0"/>
              </a:spcBef>
              <a:spcAft>
                <a:spcPct val="0"/>
              </a:spcAft>
              <a:buFont typeface="Wingdings" panose="05000000000000000000" pitchFamily="2" charset="2"/>
              <a:buChar char="ü"/>
            </a:pPr>
            <a:r>
              <a:rPr lang="en-US" dirty="0">
                <a:solidFill>
                  <a:srgbClr val="0C3C26"/>
                </a:solidFill>
                <a:latin typeface="Times New Roman" pitchFamily="18" charset="0"/>
                <a:cs typeface="Times New Roman" pitchFamily="18" charset="0"/>
              </a:rPr>
              <a:t>Each field is specified as a class attribute, and each attribute maps to a database column.</a:t>
            </a:r>
            <a:r>
              <a:rPr lang="en-US" sz="2400" dirty="0">
                <a:latin typeface="Times New Roman" pitchFamily="18" charset="0"/>
                <a:cs typeface="Times New Roman" pitchFamily="18" charset="0"/>
              </a:rPr>
              <a:t> </a:t>
            </a:r>
            <a:endParaRPr lang="en-US" sz="4000" dirty="0">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F7F11E50-7DAD-4C79-9DA8-304C85EA90E3}"/>
              </a:ext>
            </a:extLst>
          </p:cNvPr>
          <p:cNvSpPr/>
          <p:nvPr/>
        </p:nvSpPr>
        <p:spPr>
          <a:xfrm>
            <a:off x="1351577" y="2578158"/>
            <a:ext cx="7330363" cy="1701684"/>
          </a:xfrm>
          <a:prstGeom prst="rect">
            <a:avLst/>
          </a:prstGeom>
          <a:ln>
            <a:solidFill>
              <a:schemeClr val="accent1"/>
            </a:solidFill>
          </a:ln>
        </p:spPr>
        <p:txBody>
          <a:bodyPr wrap="square">
            <a:spAutoFit/>
          </a:bodyPr>
          <a:lstStyle/>
          <a:p>
            <a:pPr>
              <a:lnSpc>
                <a:spcPct val="150000"/>
              </a:lnSpc>
            </a:pPr>
            <a:r>
              <a:rPr lang="en-US" b="1" dirty="0"/>
              <a:t>from</a:t>
            </a:r>
            <a:r>
              <a:rPr lang="en-US" dirty="0"/>
              <a:t> </a:t>
            </a:r>
            <a:r>
              <a:rPr lang="en-US" b="1" dirty="0" err="1">
                <a:solidFill>
                  <a:srgbClr val="0070C0"/>
                </a:solidFill>
              </a:rPr>
              <a:t>django.db</a:t>
            </a:r>
            <a:r>
              <a:rPr lang="en-US" dirty="0"/>
              <a:t> </a:t>
            </a:r>
            <a:r>
              <a:rPr lang="en-US" b="1" dirty="0"/>
              <a:t>import</a:t>
            </a:r>
            <a:r>
              <a:rPr lang="en-US" dirty="0"/>
              <a:t> </a:t>
            </a:r>
            <a:r>
              <a:rPr lang="en-US" b="1" dirty="0">
                <a:solidFill>
                  <a:srgbClr val="0070C0"/>
                </a:solidFill>
              </a:rPr>
              <a:t>models</a:t>
            </a:r>
            <a:r>
              <a:rPr lang="en-US" dirty="0"/>
              <a:t> </a:t>
            </a:r>
          </a:p>
          <a:p>
            <a:pPr>
              <a:lnSpc>
                <a:spcPct val="150000"/>
              </a:lnSpc>
            </a:pPr>
            <a:r>
              <a:rPr lang="en-US" b="1" dirty="0"/>
              <a:t>class</a:t>
            </a:r>
            <a:r>
              <a:rPr lang="en-US" dirty="0"/>
              <a:t> </a:t>
            </a:r>
            <a:r>
              <a:rPr lang="en-US" b="1" dirty="0">
                <a:solidFill>
                  <a:srgbClr val="0070C0"/>
                </a:solidFill>
              </a:rPr>
              <a:t>Person</a:t>
            </a:r>
            <a:r>
              <a:rPr lang="en-US" dirty="0"/>
              <a:t>(</a:t>
            </a:r>
            <a:r>
              <a:rPr lang="en-US" dirty="0" err="1"/>
              <a:t>models.Model</a:t>
            </a:r>
            <a:r>
              <a:rPr lang="en-US" dirty="0"/>
              <a:t>): </a:t>
            </a:r>
          </a:p>
          <a:p>
            <a:pPr>
              <a:lnSpc>
                <a:spcPct val="150000"/>
              </a:lnSpc>
            </a:pPr>
            <a:r>
              <a:rPr lang="en-US" dirty="0"/>
              <a:t>	</a:t>
            </a:r>
            <a:r>
              <a:rPr lang="en-US" dirty="0" err="1"/>
              <a:t>first_name</a:t>
            </a:r>
            <a:r>
              <a:rPr lang="en-US" dirty="0"/>
              <a:t> = </a:t>
            </a:r>
            <a:r>
              <a:rPr lang="en-US" dirty="0" err="1"/>
              <a:t>models.CharField</a:t>
            </a:r>
            <a:r>
              <a:rPr lang="en-US" dirty="0"/>
              <a:t>(</a:t>
            </a:r>
            <a:r>
              <a:rPr lang="en-US" dirty="0" err="1"/>
              <a:t>max_length</a:t>
            </a:r>
            <a:r>
              <a:rPr lang="en-US" dirty="0"/>
              <a:t>=30) </a:t>
            </a:r>
          </a:p>
          <a:p>
            <a:pPr>
              <a:lnSpc>
                <a:spcPct val="150000"/>
              </a:lnSpc>
            </a:pPr>
            <a:r>
              <a:rPr lang="en-US" dirty="0"/>
              <a:t>	</a:t>
            </a:r>
            <a:r>
              <a:rPr lang="en-US" dirty="0" err="1"/>
              <a:t>last_name</a:t>
            </a:r>
            <a:r>
              <a:rPr lang="en-US" dirty="0"/>
              <a:t> = </a:t>
            </a:r>
            <a:r>
              <a:rPr lang="en-US" dirty="0" err="1"/>
              <a:t>models.CharField</a:t>
            </a:r>
            <a:r>
              <a:rPr lang="en-US" dirty="0"/>
              <a:t>(</a:t>
            </a:r>
            <a:r>
              <a:rPr lang="en-US" dirty="0" err="1"/>
              <a:t>max_length</a:t>
            </a:r>
            <a:r>
              <a:rPr lang="en-US" dirty="0"/>
              <a:t>=30)</a:t>
            </a:r>
          </a:p>
        </p:txBody>
      </p:sp>
    </p:spTree>
    <p:extLst>
      <p:ext uri="{BB962C8B-B14F-4D97-AF65-F5344CB8AC3E}">
        <p14:creationId xmlns:p14="http://schemas.microsoft.com/office/powerpoint/2010/main" val="12130298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96251-6A5F-4873-BFCD-E887F21BCBFB}"/>
              </a:ext>
            </a:extLst>
          </p:cNvPr>
          <p:cNvSpPr>
            <a:spLocks noGrp="1"/>
          </p:cNvSpPr>
          <p:nvPr>
            <p:ph type="title"/>
          </p:nvPr>
        </p:nvSpPr>
        <p:spPr/>
        <p:txBody>
          <a:bodyPr/>
          <a:lstStyle/>
          <a:p>
            <a:r>
              <a:rPr lang="en-US" dirty="0"/>
              <a:t>Add Your App in Django Project</a:t>
            </a:r>
          </a:p>
        </p:txBody>
      </p:sp>
      <p:sp>
        <p:nvSpPr>
          <p:cNvPr id="3" name="Slide Number Placeholder 2">
            <a:extLst>
              <a:ext uri="{FF2B5EF4-FFF2-40B4-BE49-F238E27FC236}">
                <a16:creationId xmlns:a16="http://schemas.microsoft.com/office/drawing/2014/main" id="{B9A12A67-6BAC-4179-90A0-9757E0DBCAF0}"/>
              </a:ext>
            </a:extLst>
          </p:cNvPr>
          <p:cNvSpPr>
            <a:spLocks noGrp="1"/>
          </p:cNvSpPr>
          <p:nvPr>
            <p:ph type="sldNum" sz="quarter" idx="12"/>
          </p:nvPr>
        </p:nvSpPr>
        <p:spPr/>
        <p:txBody>
          <a:bodyPr/>
          <a:lstStyle/>
          <a:p>
            <a:fld id="{0D6F892B-1791-4F93-8AFD-83813F10F54D}" type="slidenum">
              <a:rPr lang="en-US" smtClean="0"/>
              <a:t>8</a:t>
            </a:fld>
            <a:endParaRPr lang="en-US"/>
          </a:p>
        </p:txBody>
      </p:sp>
      <p:sp>
        <p:nvSpPr>
          <p:cNvPr id="4" name="TextBox 3">
            <a:extLst>
              <a:ext uri="{FF2B5EF4-FFF2-40B4-BE49-F238E27FC236}">
                <a16:creationId xmlns:a16="http://schemas.microsoft.com/office/drawing/2014/main" id="{93647F4E-D85C-4DA9-ACBE-3FA71575BD65}"/>
              </a:ext>
            </a:extLst>
          </p:cNvPr>
          <p:cNvSpPr txBox="1"/>
          <p:nvPr/>
        </p:nvSpPr>
        <p:spPr>
          <a:xfrm>
            <a:off x="1059872" y="2447698"/>
            <a:ext cx="10072255" cy="87068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If you are use your model first of all register your app in your Django model.</a:t>
            </a:r>
          </a:p>
          <a:p>
            <a:pPr marL="285750" indent="-285750">
              <a:lnSpc>
                <a:spcPct val="150000"/>
              </a:lnSpc>
              <a:buFont typeface="Wingdings" panose="05000000000000000000" pitchFamily="2" charset="2"/>
              <a:buChar char="ü"/>
            </a:pPr>
            <a:r>
              <a:rPr lang="en-US" dirty="0"/>
              <a:t>Go to settings.py then Go to INSTALLED_APPS section in section and add:</a:t>
            </a:r>
          </a:p>
        </p:txBody>
      </p:sp>
      <p:pic>
        <p:nvPicPr>
          <p:cNvPr id="6" name="Picture 5">
            <a:extLst>
              <a:ext uri="{FF2B5EF4-FFF2-40B4-BE49-F238E27FC236}">
                <a16:creationId xmlns:a16="http://schemas.microsoft.com/office/drawing/2014/main" id="{D20DCE91-3436-4B58-AC17-9496CC245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50179" y="3673824"/>
            <a:ext cx="4467849" cy="2057687"/>
          </a:xfrm>
          <a:prstGeom prst="rect">
            <a:avLst/>
          </a:prstGeom>
        </p:spPr>
      </p:pic>
    </p:spTree>
    <p:extLst>
      <p:ext uri="{BB962C8B-B14F-4D97-AF65-F5344CB8AC3E}">
        <p14:creationId xmlns:p14="http://schemas.microsoft.com/office/powerpoint/2010/main" val="27073040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236331-68D4-4490-8F6C-582CF2E8B2B1}"/>
              </a:ext>
            </a:extLst>
          </p:cNvPr>
          <p:cNvSpPr>
            <a:spLocks noGrp="1"/>
          </p:cNvSpPr>
          <p:nvPr>
            <p:ph type="title"/>
          </p:nvPr>
        </p:nvSpPr>
        <p:spPr/>
        <p:txBody>
          <a:bodyPr/>
          <a:lstStyle/>
          <a:p>
            <a:r>
              <a:rPr lang="en-US" dirty="0"/>
              <a:t>What is Migrate?</a:t>
            </a:r>
          </a:p>
        </p:txBody>
      </p:sp>
      <p:sp>
        <p:nvSpPr>
          <p:cNvPr id="3" name="Slide Number Placeholder 2">
            <a:extLst>
              <a:ext uri="{FF2B5EF4-FFF2-40B4-BE49-F238E27FC236}">
                <a16:creationId xmlns:a16="http://schemas.microsoft.com/office/drawing/2014/main" id="{0E9D548C-2B0D-4E96-9809-1BEA3F0E0214}"/>
              </a:ext>
            </a:extLst>
          </p:cNvPr>
          <p:cNvSpPr>
            <a:spLocks noGrp="1"/>
          </p:cNvSpPr>
          <p:nvPr>
            <p:ph type="sldNum" sz="quarter" idx="12"/>
          </p:nvPr>
        </p:nvSpPr>
        <p:spPr/>
        <p:txBody>
          <a:bodyPr/>
          <a:lstStyle/>
          <a:p>
            <a:fld id="{0D6F892B-1791-4F93-8AFD-83813F10F54D}" type="slidenum">
              <a:rPr lang="en-US" smtClean="0"/>
              <a:t>9</a:t>
            </a:fld>
            <a:endParaRPr lang="en-US"/>
          </a:p>
        </p:txBody>
      </p:sp>
      <p:sp>
        <p:nvSpPr>
          <p:cNvPr id="5" name="Rectangle 4">
            <a:extLst>
              <a:ext uri="{FF2B5EF4-FFF2-40B4-BE49-F238E27FC236}">
                <a16:creationId xmlns:a16="http://schemas.microsoft.com/office/drawing/2014/main" id="{49DE6588-CB45-4684-9D6D-5CEF30FE4268}"/>
              </a:ext>
            </a:extLst>
          </p:cNvPr>
          <p:cNvSpPr/>
          <p:nvPr/>
        </p:nvSpPr>
        <p:spPr>
          <a:xfrm>
            <a:off x="942560" y="2382153"/>
            <a:ext cx="10306879" cy="3409844"/>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sz="2000" dirty="0">
                <a:solidFill>
                  <a:srgbClr val="485061"/>
                </a:solidFill>
                <a:latin typeface="Source Sans Pro" panose="020B0503030403020204" pitchFamily="34" charset="0"/>
              </a:rPr>
              <a:t>The </a:t>
            </a:r>
            <a:r>
              <a:rPr lang="en-US" altLang="en-US" b="1" dirty="0">
                <a:solidFill>
                  <a:srgbClr val="338FFA"/>
                </a:solidFill>
                <a:latin typeface="JetBrains Mono NL"/>
                <a:hlinkClick r:id="rId2"/>
              </a:rPr>
              <a:t>migrate</a:t>
            </a:r>
            <a:r>
              <a:rPr lang="en-US" altLang="en-US" sz="2000" dirty="0">
                <a:solidFill>
                  <a:srgbClr val="485061"/>
                </a:solidFill>
                <a:latin typeface="Source Sans Pro" panose="020B0503030403020204" pitchFamily="34" charset="0"/>
              </a:rPr>
              <a:t> </a:t>
            </a:r>
            <a:r>
              <a:rPr lang="en-US" altLang="en-US" dirty="0"/>
              <a:t>command looks at the</a:t>
            </a:r>
            <a:r>
              <a:rPr lang="en-US" altLang="en-US" sz="2000" dirty="0">
                <a:solidFill>
                  <a:srgbClr val="485061"/>
                </a:solidFill>
                <a:latin typeface="Source Sans Pro" panose="020B0503030403020204" pitchFamily="34" charset="0"/>
              </a:rPr>
              <a:t> </a:t>
            </a:r>
            <a:r>
              <a:rPr lang="en-US" altLang="en-US" sz="1600" b="1" dirty="0">
                <a:solidFill>
                  <a:srgbClr val="338FFA"/>
                </a:solidFill>
                <a:latin typeface="JetBrains Mono NL"/>
                <a:hlinkClick r:id="rId3"/>
              </a:rPr>
              <a:t>INSTALLED_APPS</a:t>
            </a:r>
            <a:r>
              <a:rPr lang="en-US" altLang="en-US" sz="2000" dirty="0">
                <a:solidFill>
                  <a:srgbClr val="485061"/>
                </a:solidFill>
                <a:latin typeface="Source Sans Pro" panose="020B0503030403020204" pitchFamily="34" charset="0"/>
              </a:rPr>
              <a:t> </a:t>
            </a:r>
            <a:r>
              <a:rPr lang="en-US" altLang="en-US" dirty="0"/>
              <a:t>setting and creates any necessary database tables according to the database settings in your mysite/settings.py file and the database migrations shipped with the app (we’ll cover those later). You’ll see a message for each migration it applies. </a:t>
            </a:r>
          </a:p>
          <a:p>
            <a:pPr lvl="0" algn="just" defTabSz="914400" eaLnBrk="0" fontAlgn="base" hangingPunct="0">
              <a:lnSpc>
                <a:spcPct val="150000"/>
              </a:lnSpc>
              <a:spcBef>
                <a:spcPct val="0"/>
              </a:spcBef>
              <a:spcAft>
                <a:spcPct val="0"/>
              </a:spcAft>
            </a:pPr>
            <a:endParaRPr lang="en-US" altLang="en-US" dirty="0"/>
          </a:p>
          <a:p>
            <a:pPr lvl="0" algn="just" defTabSz="914400" eaLnBrk="0" fontAlgn="base" hangingPunct="0">
              <a:lnSpc>
                <a:spcPct val="150000"/>
              </a:lnSpc>
              <a:spcBef>
                <a:spcPct val="0"/>
              </a:spcBef>
              <a:spcAft>
                <a:spcPct val="0"/>
              </a:spcAft>
            </a:pPr>
            <a:r>
              <a:rPr lang="en-US" altLang="en-US" dirty="0"/>
              <a:t>If you’re interested, run the command-line client for your database and type \dt (</a:t>
            </a:r>
            <a:r>
              <a:rPr lang="en-US" altLang="en-US" b="1" dirty="0"/>
              <a:t>PostgreSQL</a:t>
            </a:r>
            <a:r>
              <a:rPr lang="en-US" altLang="en-US" dirty="0"/>
              <a:t>), SHOW TABLES; (</a:t>
            </a:r>
            <a:r>
              <a:rPr lang="en-US" altLang="en-US" b="1" dirty="0"/>
              <a:t>MariaDB</a:t>
            </a:r>
            <a:r>
              <a:rPr lang="en-US" altLang="en-US" dirty="0"/>
              <a:t>, </a:t>
            </a:r>
            <a:r>
              <a:rPr lang="en-US" altLang="en-US" b="1" dirty="0"/>
              <a:t>MySQL</a:t>
            </a:r>
            <a:r>
              <a:rPr lang="en-US" altLang="en-US" dirty="0"/>
              <a:t>), .tables (</a:t>
            </a:r>
            <a:r>
              <a:rPr lang="en-US" altLang="en-US" b="1" dirty="0"/>
              <a:t>SQLite</a:t>
            </a:r>
            <a:r>
              <a:rPr lang="en-US" altLang="en-US" dirty="0"/>
              <a:t>), or SELECT TABLE_NAME FROM USER_TABLES; (Oracle) to display the tables Django created.</a:t>
            </a:r>
          </a:p>
        </p:txBody>
      </p:sp>
    </p:spTree>
    <p:extLst>
      <p:ext uri="{BB962C8B-B14F-4D97-AF65-F5344CB8AC3E}">
        <p14:creationId xmlns:p14="http://schemas.microsoft.com/office/powerpoint/2010/main" val="141178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456A2-14F6-453E-8918-2630B33A3935}"/>
              </a:ext>
            </a:extLst>
          </p:cNvPr>
          <p:cNvSpPr>
            <a:spLocks noGrp="1"/>
          </p:cNvSpPr>
          <p:nvPr>
            <p:ph type="title"/>
          </p:nvPr>
        </p:nvSpPr>
        <p:spPr/>
        <p:txBody>
          <a:bodyPr/>
          <a:lstStyle/>
          <a:p>
            <a:r>
              <a:rPr lang="en-US" dirty="0"/>
              <a:t>Migrate Your Model</a:t>
            </a:r>
          </a:p>
        </p:txBody>
      </p:sp>
      <p:sp>
        <p:nvSpPr>
          <p:cNvPr id="3" name="Slide Number Placeholder 2">
            <a:extLst>
              <a:ext uri="{FF2B5EF4-FFF2-40B4-BE49-F238E27FC236}">
                <a16:creationId xmlns:a16="http://schemas.microsoft.com/office/drawing/2014/main" id="{6E2D93A3-C2BA-4FD0-B97A-46FA0F768AEA}"/>
              </a:ext>
            </a:extLst>
          </p:cNvPr>
          <p:cNvSpPr>
            <a:spLocks noGrp="1"/>
          </p:cNvSpPr>
          <p:nvPr>
            <p:ph type="sldNum" sz="quarter" idx="12"/>
          </p:nvPr>
        </p:nvSpPr>
        <p:spPr/>
        <p:txBody>
          <a:bodyPr/>
          <a:lstStyle/>
          <a:p>
            <a:fld id="{0D6F892B-1791-4F93-8AFD-83813F10F54D}" type="slidenum">
              <a:rPr lang="en-US" smtClean="0"/>
              <a:t>10</a:t>
            </a:fld>
            <a:endParaRPr lang="en-US"/>
          </a:p>
        </p:txBody>
      </p:sp>
      <p:sp>
        <p:nvSpPr>
          <p:cNvPr id="4" name="TextBox 3">
            <a:extLst>
              <a:ext uri="{FF2B5EF4-FFF2-40B4-BE49-F238E27FC236}">
                <a16:creationId xmlns:a16="http://schemas.microsoft.com/office/drawing/2014/main" id="{B99DD4E3-B631-44FA-AFEE-4B9E48620B39}"/>
              </a:ext>
            </a:extLst>
          </p:cNvPr>
          <p:cNvSpPr txBox="1"/>
          <p:nvPr/>
        </p:nvSpPr>
        <p:spPr>
          <a:xfrm>
            <a:off x="1354737" y="2973811"/>
            <a:ext cx="5324360"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python manage.py </a:t>
            </a:r>
            <a:r>
              <a:rPr lang="en-US" b="1" dirty="0" err="1">
                <a:solidFill>
                  <a:srgbClr val="002060"/>
                </a:solidFill>
              </a:rPr>
              <a:t>makemigrations</a:t>
            </a:r>
            <a:endParaRPr lang="en-US" b="1" dirty="0">
              <a:solidFill>
                <a:srgbClr val="002060"/>
              </a:solidFill>
            </a:endParaRPr>
          </a:p>
        </p:txBody>
      </p:sp>
      <p:sp>
        <p:nvSpPr>
          <p:cNvPr id="5" name="TextBox 4">
            <a:extLst>
              <a:ext uri="{FF2B5EF4-FFF2-40B4-BE49-F238E27FC236}">
                <a16:creationId xmlns:a16="http://schemas.microsoft.com/office/drawing/2014/main" id="{2DD33C70-8E30-4121-8C21-46436A314AE4}"/>
              </a:ext>
            </a:extLst>
          </p:cNvPr>
          <p:cNvSpPr txBox="1"/>
          <p:nvPr/>
        </p:nvSpPr>
        <p:spPr>
          <a:xfrm>
            <a:off x="1354736" y="4494584"/>
            <a:ext cx="5324359"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python manage.py migrate</a:t>
            </a:r>
          </a:p>
        </p:txBody>
      </p:sp>
      <p:sp>
        <p:nvSpPr>
          <p:cNvPr id="6" name="Rectangle 5">
            <a:extLst>
              <a:ext uri="{FF2B5EF4-FFF2-40B4-BE49-F238E27FC236}">
                <a16:creationId xmlns:a16="http://schemas.microsoft.com/office/drawing/2014/main" id="{BDA9EF62-F6BC-4B50-B5F6-794CAA6D5603}"/>
              </a:ext>
            </a:extLst>
          </p:cNvPr>
          <p:cNvSpPr/>
          <p:nvPr/>
        </p:nvSpPr>
        <p:spPr>
          <a:xfrm>
            <a:off x="7029258" y="2558312"/>
            <a:ext cx="4158170" cy="1286186"/>
          </a:xfrm>
          <a:prstGeom prst="rect">
            <a:avLst/>
          </a:prstGeom>
          <a:ln>
            <a:solidFill>
              <a:schemeClr val="accent2"/>
            </a:solidFill>
          </a:ln>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a:lnSpc>
                <a:spcPct val="150000"/>
              </a:lnSpc>
            </a:pPr>
            <a:r>
              <a:rPr lang="en-US" dirty="0"/>
              <a:t>Migrations for 'first':</a:t>
            </a:r>
          </a:p>
          <a:p>
            <a:pPr>
              <a:lnSpc>
                <a:spcPct val="150000"/>
              </a:lnSpc>
            </a:pPr>
            <a:r>
              <a:rPr lang="en-US" dirty="0"/>
              <a:t>  first\migrations\0001_initial.py</a:t>
            </a:r>
          </a:p>
          <a:p>
            <a:pPr>
              <a:lnSpc>
                <a:spcPct val="150000"/>
              </a:lnSpc>
            </a:pPr>
            <a:r>
              <a:rPr lang="en-US" dirty="0"/>
              <a:t>    - Create model Person</a:t>
            </a:r>
          </a:p>
        </p:txBody>
      </p:sp>
      <p:sp>
        <p:nvSpPr>
          <p:cNvPr id="7" name="Arrow: Right 6">
            <a:extLst>
              <a:ext uri="{FF2B5EF4-FFF2-40B4-BE49-F238E27FC236}">
                <a16:creationId xmlns:a16="http://schemas.microsoft.com/office/drawing/2014/main" id="{66BD3231-A493-4840-8DCF-B047A97AE1FE}"/>
              </a:ext>
            </a:extLst>
          </p:cNvPr>
          <p:cNvSpPr/>
          <p:nvPr/>
        </p:nvSpPr>
        <p:spPr>
          <a:xfrm>
            <a:off x="6539947" y="3038415"/>
            <a:ext cx="516835" cy="325980"/>
          </a:xfrm>
          <a:prstGeom prst="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28427184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A6857B-EBFE-47A4-9E64-732B348645D9}"/>
              </a:ext>
            </a:extLst>
          </p:cNvPr>
          <p:cNvSpPr>
            <a:spLocks noGrp="1"/>
          </p:cNvSpPr>
          <p:nvPr>
            <p:ph type="title"/>
          </p:nvPr>
        </p:nvSpPr>
        <p:spPr/>
        <p:txBody>
          <a:bodyPr/>
          <a:lstStyle/>
          <a:p>
            <a:r>
              <a:rPr lang="en-US" dirty="0"/>
              <a:t>Your Model Coding</a:t>
            </a:r>
          </a:p>
        </p:txBody>
      </p:sp>
      <p:sp>
        <p:nvSpPr>
          <p:cNvPr id="3" name="Slide Number Placeholder 2">
            <a:extLst>
              <a:ext uri="{FF2B5EF4-FFF2-40B4-BE49-F238E27FC236}">
                <a16:creationId xmlns:a16="http://schemas.microsoft.com/office/drawing/2014/main" id="{2BF48F8E-9DE4-40E9-BFDB-61792CEACE28}"/>
              </a:ext>
            </a:extLst>
          </p:cNvPr>
          <p:cNvSpPr>
            <a:spLocks noGrp="1"/>
          </p:cNvSpPr>
          <p:nvPr>
            <p:ph type="sldNum" sz="quarter" idx="12"/>
          </p:nvPr>
        </p:nvSpPr>
        <p:spPr/>
        <p:txBody>
          <a:bodyPr/>
          <a:lstStyle/>
          <a:p>
            <a:fld id="{0D6F892B-1791-4F93-8AFD-83813F10F54D}" type="slidenum">
              <a:rPr lang="en-US" smtClean="0"/>
              <a:t>11</a:t>
            </a:fld>
            <a:endParaRPr lang="en-US"/>
          </a:p>
        </p:txBody>
      </p:sp>
      <p:sp>
        <p:nvSpPr>
          <p:cNvPr id="4" name="Rectangle 2">
            <a:extLst>
              <a:ext uri="{FF2B5EF4-FFF2-40B4-BE49-F238E27FC236}">
                <a16:creationId xmlns:a16="http://schemas.microsoft.com/office/drawing/2014/main" id="{7B0A8B93-CCD2-4CE6-BEC9-8CA06C070CBB}"/>
              </a:ext>
            </a:extLst>
          </p:cNvPr>
          <p:cNvSpPr>
            <a:spLocks noChangeArrowheads="1"/>
          </p:cNvSpPr>
          <p:nvPr/>
        </p:nvSpPr>
        <p:spPr bwMode="auto">
          <a:xfrm>
            <a:off x="1484122" y="3351365"/>
            <a:ext cx="4757652" cy="158650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77744" tIns="133308" rIns="177744" bIns="133308" numCol="1" anchor="ctr" anchorCtr="0" compatLnSpc="1">
            <a:prstTxWarp prst="textNoShape">
              <a:avLst/>
            </a:prstTxWarp>
            <a:spAutoFit/>
          </a:bodyPr>
          <a:lstStyle/>
          <a:p>
            <a:pPr marL="0" marR="0" lvl="0" indent="0" algn="l" defTabSz="914400" rtl="0" eaLnBrk="0" fontAlgn="base" latinLnBrk="0" hangingPunct="0">
              <a:lnSpc>
                <a:spcPct val="100000"/>
              </a:lnSpc>
              <a:spcBef>
                <a:spcPct val="30000"/>
              </a:spcBef>
              <a:spcAft>
                <a:spcPct val="0"/>
              </a:spcAft>
              <a:buClrTx/>
              <a:buSzTx/>
              <a:buFontTx/>
              <a:buNone/>
              <a:tabLst/>
            </a:pPr>
            <a:r>
              <a:rPr kumimoji="0" lang="en-US" sz="1200" b="1" i="0" u="none" strike="noStrike" cap="none" normalizeH="0" baseline="0" dirty="0">
                <a:ln>
                  <a:noFill/>
                </a:ln>
                <a:solidFill>
                  <a:srgbClr val="008000"/>
                </a:solidFill>
                <a:effectLst/>
                <a:latin typeface="Fira Mono"/>
                <a:cs typeface="Arial" pitchFamily="34" charset="0"/>
              </a:rPr>
              <a:t>CREATE</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TABLE</a:t>
            </a:r>
            <a:r>
              <a:rPr kumimoji="0" lang="en-US" sz="1200" b="0" i="0" u="none" strike="noStrike" cap="none" normalizeH="0" baseline="0" dirty="0">
                <a:ln>
                  <a:noFill/>
                </a:ln>
                <a:solidFill>
                  <a:srgbClr val="0C4B33"/>
                </a:solidFill>
                <a:effectLst/>
                <a:latin typeface="Fira Mono"/>
                <a:cs typeface="Arial" pitchFamily="34" charset="0"/>
              </a:rPr>
              <a:t> </a:t>
            </a:r>
            <a:r>
              <a:rPr kumimoji="0" lang="en-US" b="0" i="0" u="none" strike="noStrike" cap="none" normalizeH="0" baseline="0" dirty="0" err="1">
                <a:ln>
                  <a:noFill/>
                </a:ln>
                <a:solidFill>
                  <a:schemeClr val="tx1"/>
                </a:solidFill>
                <a:effectLst/>
                <a:latin typeface="Arial" pitchFamily="34" charset="0"/>
              </a:rPr>
              <a:t>myapp_person</a:t>
            </a:r>
            <a:r>
              <a:rPr kumimoji="0" lang="en-US" sz="1200" b="0" i="0" u="none" strike="noStrike" cap="none" normalizeH="0" baseline="0" dirty="0">
                <a:ln>
                  <a:noFill/>
                </a:ln>
                <a:solidFill>
                  <a:srgbClr val="0C4B33"/>
                </a:solidFill>
                <a:effectLst/>
                <a:latin typeface="Fira Mono"/>
                <a:cs typeface="Arial" pitchFamily="34" charset="0"/>
              </a:rPr>
              <a:t> (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sz="1200" b="0" i="0" u="none" strike="noStrike" cap="none" normalizeH="0" baseline="0" dirty="0">
                <a:ln>
                  <a:noFill/>
                </a:ln>
                <a:solidFill>
                  <a:srgbClr val="19177C"/>
                </a:solidFill>
                <a:effectLst/>
                <a:latin typeface="Fira Mono"/>
                <a:cs typeface="Arial" pitchFamily="34" charset="0"/>
              </a:rPr>
              <a:t>"id"</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NOT</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NULL</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PRIMARY</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KEY</a:t>
            </a:r>
            <a:r>
              <a:rPr kumimoji="0" lang="en-US" sz="1200" b="0" i="0" u="none" strike="noStrike" cap="none" normalizeH="0" baseline="0" dirty="0">
                <a:ln>
                  <a:noFill/>
                </a:ln>
                <a:solidFill>
                  <a:srgbClr val="0C4B33"/>
                </a:solidFill>
                <a:effectLst/>
                <a:latin typeface="Fira Mono"/>
                <a:cs typeface="Arial"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sz="1200" b="0" i="0" u="none" strike="noStrike" cap="none" normalizeH="0" baseline="0" dirty="0">
                <a:ln>
                  <a:noFill/>
                </a:ln>
                <a:solidFill>
                  <a:srgbClr val="19177C"/>
                </a:solidFill>
                <a:effectLst/>
                <a:latin typeface="Fira Mono"/>
                <a:cs typeface="Arial" pitchFamily="34" charset="0"/>
              </a:rPr>
              <a:t>"</a:t>
            </a:r>
            <a:r>
              <a:rPr kumimoji="0" lang="en-US" sz="1200" b="0" i="0" u="none" strike="noStrike" cap="none" normalizeH="0" baseline="0" dirty="0" err="1">
                <a:ln>
                  <a:noFill/>
                </a:ln>
                <a:solidFill>
                  <a:srgbClr val="19177C"/>
                </a:solidFill>
                <a:effectLst/>
                <a:latin typeface="Fira Mono"/>
                <a:cs typeface="Arial" pitchFamily="34" charset="0"/>
              </a:rPr>
              <a:t>first_name</a:t>
            </a:r>
            <a:r>
              <a:rPr kumimoji="0" lang="en-US" sz="1200" b="0" i="0" u="none" strike="noStrike" cap="none" normalizeH="0" baseline="0" dirty="0">
                <a:ln>
                  <a:noFill/>
                </a:ln>
                <a:solidFill>
                  <a:srgbClr val="19177C"/>
                </a:solidFill>
                <a:effectLst/>
                <a:latin typeface="Fira Mono"/>
                <a:cs typeface="Arial" pitchFamily="34" charset="0"/>
              </a:rPr>
              <a:t>"</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0" i="0" u="none" strike="noStrike" cap="none" normalizeH="0" baseline="0" dirty="0">
                <a:ln>
                  <a:noFill/>
                </a:ln>
                <a:solidFill>
                  <a:srgbClr val="666666"/>
                </a:solidFill>
                <a:effectLst/>
                <a:latin typeface="Fira Mono"/>
                <a:cs typeface="Arial" pitchFamily="34" charset="0"/>
              </a:rPr>
              <a:t>30</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NOT</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NULL</a:t>
            </a:r>
            <a:r>
              <a:rPr kumimoji="0" lang="en-US" sz="1200" b="0" i="0" u="none" strike="noStrike" cap="none" normalizeH="0" baseline="0" dirty="0">
                <a:ln>
                  <a:noFill/>
                </a:ln>
                <a:solidFill>
                  <a:srgbClr val="0C4B33"/>
                </a:solidFill>
                <a:effectLst/>
                <a:latin typeface="Fira Mono"/>
                <a:cs typeface="Arial"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sz="1200" b="0" i="0" u="none" strike="noStrike" cap="none" normalizeH="0" baseline="0" dirty="0">
                <a:ln>
                  <a:noFill/>
                </a:ln>
                <a:solidFill>
                  <a:srgbClr val="19177C"/>
                </a:solidFill>
                <a:effectLst/>
                <a:latin typeface="Fira Mono"/>
                <a:cs typeface="Arial" pitchFamily="34" charset="0"/>
              </a:rPr>
              <a:t>"</a:t>
            </a:r>
            <a:r>
              <a:rPr kumimoji="0" lang="en-US" sz="1200" b="0" i="0" u="none" strike="noStrike" cap="none" normalizeH="0" baseline="0" dirty="0" err="1">
                <a:ln>
                  <a:noFill/>
                </a:ln>
                <a:solidFill>
                  <a:srgbClr val="19177C"/>
                </a:solidFill>
                <a:effectLst/>
                <a:latin typeface="Fira Mono"/>
                <a:cs typeface="Arial" pitchFamily="34" charset="0"/>
              </a:rPr>
              <a:t>last_name</a:t>
            </a:r>
            <a:r>
              <a:rPr kumimoji="0" lang="en-US" sz="1200" b="0" i="0" u="none" strike="noStrike" cap="none" normalizeH="0" baseline="0" dirty="0">
                <a:ln>
                  <a:noFill/>
                </a:ln>
                <a:solidFill>
                  <a:srgbClr val="19177C"/>
                </a:solidFill>
                <a:effectLst/>
                <a:latin typeface="Fira Mono"/>
                <a:cs typeface="Arial" pitchFamily="34" charset="0"/>
              </a:rPr>
              <a:t>"</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0" i="0" u="none" strike="noStrike" cap="none" normalizeH="0" baseline="0" dirty="0">
                <a:ln>
                  <a:noFill/>
                </a:ln>
                <a:solidFill>
                  <a:srgbClr val="666666"/>
                </a:solidFill>
                <a:effectLst/>
                <a:latin typeface="Fira Mono"/>
                <a:cs typeface="Arial" pitchFamily="34" charset="0"/>
              </a:rPr>
              <a:t>30</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NOT</a:t>
            </a:r>
            <a:r>
              <a:rPr kumimoji="0" lang="en-US" sz="1200" b="0" i="0" u="none" strike="noStrike" cap="none" normalizeH="0" baseline="0" dirty="0">
                <a:ln>
                  <a:noFill/>
                </a:ln>
                <a:solidFill>
                  <a:srgbClr val="0C4B33"/>
                </a:solidFill>
                <a:effectLst/>
                <a:latin typeface="Fira Mono"/>
                <a:cs typeface="Arial" pitchFamily="34" charset="0"/>
              </a:rPr>
              <a:t> </a:t>
            </a:r>
            <a:r>
              <a:rPr kumimoji="0" lang="en-US" sz="1200" b="1" i="0" u="none" strike="noStrike" cap="none" normalizeH="0" baseline="0" dirty="0">
                <a:ln>
                  <a:noFill/>
                </a:ln>
                <a:solidFill>
                  <a:srgbClr val="008000"/>
                </a:solidFill>
                <a:effectLst/>
                <a:latin typeface="Fira Mono"/>
                <a:cs typeface="Arial" pitchFamily="34" charset="0"/>
              </a:rPr>
              <a:t>NULL</a:t>
            </a:r>
            <a:r>
              <a:rPr kumimoji="0" lang="en-US" sz="1200" b="0" i="0" u="none" strike="noStrike" cap="none" normalizeH="0" baseline="0" dirty="0">
                <a:ln>
                  <a:noFill/>
                </a:ln>
                <a:solidFill>
                  <a:srgbClr val="0C4B33"/>
                </a:solidFill>
                <a:effectLst/>
                <a:latin typeface="Fira Mono"/>
                <a:cs typeface="Arial" pitchFamily="34" charset="0"/>
              </a:rPr>
              <a:t> </a:t>
            </a:r>
          </a:p>
          <a:p>
            <a:pPr marL="0" marR="0" lvl="0" indent="0" algn="l" defTabSz="914400" rtl="0" eaLnBrk="0" fontAlgn="base" latinLnBrk="0" hangingPunct="0">
              <a:lnSpc>
                <a:spcPct val="100000"/>
              </a:lnSpc>
              <a:spcBef>
                <a:spcPct val="30000"/>
              </a:spcBef>
              <a:spcAft>
                <a:spcPct val="0"/>
              </a:spcAft>
              <a:buClrTx/>
              <a:buSzTx/>
              <a:buFontTx/>
              <a:buNone/>
              <a:tabLst/>
            </a:pPr>
            <a:r>
              <a:rPr kumimoji="0" lang="en-US" sz="1200" b="0" i="0" u="none" strike="noStrike" cap="none" normalizeH="0" baseline="0" dirty="0">
                <a:ln>
                  <a:noFill/>
                </a:ln>
                <a:solidFill>
                  <a:srgbClr val="0C4B33"/>
                </a:solidFill>
                <a:effectLst/>
                <a:latin typeface="Fira Mono"/>
                <a:cs typeface="Arial" pitchFamily="34" charset="0"/>
              </a:rPr>
              <a:t>);</a:t>
            </a:r>
            <a:r>
              <a:rPr kumimoji="0" lang="en-US" sz="1600" b="0" i="0" u="none" strike="noStrike" cap="none" normalizeH="0" baseline="0" dirty="0">
                <a:ln>
                  <a:noFill/>
                </a:ln>
                <a:solidFill>
                  <a:schemeClr val="tx1"/>
                </a:solidFill>
                <a:effectLst/>
                <a:latin typeface="Arial" pitchFamily="34" charset="0"/>
                <a:cs typeface="Arial" pitchFamily="34" charset="0"/>
              </a:rPr>
              <a:t> </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sp>
        <p:nvSpPr>
          <p:cNvPr id="5" name="TextBox 4">
            <a:extLst>
              <a:ext uri="{FF2B5EF4-FFF2-40B4-BE49-F238E27FC236}">
                <a16:creationId xmlns:a16="http://schemas.microsoft.com/office/drawing/2014/main" id="{D86B5EFC-C894-440E-8270-85329D90955E}"/>
              </a:ext>
            </a:extLst>
          </p:cNvPr>
          <p:cNvSpPr txBox="1"/>
          <p:nvPr/>
        </p:nvSpPr>
        <p:spPr>
          <a:xfrm>
            <a:off x="1298412" y="5219101"/>
            <a:ext cx="8617956" cy="870495"/>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a:t>
            </a:r>
            <a:r>
              <a:rPr lang="en-US" b="1" dirty="0"/>
              <a:t>ID</a:t>
            </a:r>
            <a:r>
              <a:rPr lang="en-US" dirty="0"/>
              <a:t>” is the </a:t>
            </a:r>
            <a:r>
              <a:rPr lang="en-US" b="1" dirty="0"/>
              <a:t>auto</a:t>
            </a:r>
            <a:r>
              <a:rPr lang="en-US" dirty="0"/>
              <a:t> field for any Django model. Every model have a </a:t>
            </a:r>
            <a:r>
              <a:rPr lang="en-US" b="1" dirty="0"/>
              <a:t>ID</a:t>
            </a:r>
            <a:r>
              <a:rPr lang="en-US" dirty="0"/>
              <a:t>.</a:t>
            </a:r>
          </a:p>
          <a:p>
            <a:pPr marL="285750" indent="-285750">
              <a:lnSpc>
                <a:spcPct val="150000"/>
              </a:lnSpc>
              <a:buFont typeface="Wingdings" panose="05000000000000000000" pitchFamily="2" charset="2"/>
              <a:buChar char="ü"/>
            </a:pPr>
            <a:r>
              <a:rPr lang="en-US" dirty="0"/>
              <a:t>“</a:t>
            </a:r>
            <a:r>
              <a:rPr lang="en-US" b="1" dirty="0" err="1"/>
              <a:t>first_name</a:t>
            </a:r>
            <a:r>
              <a:rPr lang="en-US" dirty="0"/>
              <a:t>” is the </a:t>
            </a:r>
            <a:r>
              <a:rPr lang="en-US" b="1" dirty="0" err="1"/>
              <a:t>CharField</a:t>
            </a:r>
            <a:r>
              <a:rPr lang="en-US" dirty="0"/>
              <a:t> range is 30 characters and </a:t>
            </a:r>
            <a:r>
              <a:rPr lang="en-US" b="1" dirty="0"/>
              <a:t>NOT</a:t>
            </a:r>
            <a:r>
              <a:rPr lang="en-US" dirty="0"/>
              <a:t> </a:t>
            </a:r>
            <a:r>
              <a:rPr lang="en-US" b="1" dirty="0"/>
              <a:t>NULL</a:t>
            </a:r>
            <a:r>
              <a:rPr lang="en-US" dirty="0"/>
              <a:t>.</a:t>
            </a:r>
          </a:p>
        </p:txBody>
      </p:sp>
      <p:sp>
        <p:nvSpPr>
          <p:cNvPr id="6" name="TextBox 5">
            <a:extLst>
              <a:ext uri="{FF2B5EF4-FFF2-40B4-BE49-F238E27FC236}">
                <a16:creationId xmlns:a16="http://schemas.microsoft.com/office/drawing/2014/main" id="{5E725B94-B0DC-443C-9BC7-B7D4296A0EDC}"/>
              </a:ext>
            </a:extLst>
          </p:cNvPr>
          <p:cNvSpPr txBox="1"/>
          <p:nvPr/>
        </p:nvSpPr>
        <p:spPr>
          <a:xfrm>
            <a:off x="1298412" y="2571253"/>
            <a:ext cx="8617956" cy="454996"/>
          </a:xfrm>
          <a:prstGeom prst="rect">
            <a:avLst/>
          </a:prstGeom>
          <a:noFill/>
        </p:spPr>
        <p:txBody>
          <a:bodyPr wrap="square">
            <a:spAutoFit/>
          </a:bodyPr>
          <a:lstStyle/>
          <a:p>
            <a:pPr>
              <a:lnSpc>
                <a:spcPct val="150000"/>
              </a:lnSpc>
            </a:pPr>
            <a:r>
              <a:rPr lang="en-US" dirty="0"/>
              <a:t>Go to your project. Then Go to the app Go to Migration and open it:</a:t>
            </a:r>
          </a:p>
        </p:txBody>
      </p:sp>
    </p:spTree>
    <p:extLst>
      <p:ext uri="{BB962C8B-B14F-4D97-AF65-F5344CB8AC3E}">
        <p14:creationId xmlns:p14="http://schemas.microsoft.com/office/powerpoint/2010/main" val="21551361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3AB7E-95C7-482F-9046-2722E39AC745}"/>
              </a:ext>
            </a:extLst>
          </p:cNvPr>
          <p:cNvSpPr>
            <a:spLocks noGrp="1"/>
          </p:cNvSpPr>
          <p:nvPr>
            <p:ph type="title"/>
          </p:nvPr>
        </p:nvSpPr>
        <p:spPr/>
        <p:txBody>
          <a:bodyPr/>
          <a:lstStyle/>
          <a:p>
            <a:r>
              <a:rPr lang="en-US" dirty="0"/>
              <a:t>Playing With the API</a:t>
            </a:r>
          </a:p>
        </p:txBody>
      </p:sp>
      <p:sp>
        <p:nvSpPr>
          <p:cNvPr id="3" name="Slide Number Placeholder 2">
            <a:extLst>
              <a:ext uri="{FF2B5EF4-FFF2-40B4-BE49-F238E27FC236}">
                <a16:creationId xmlns:a16="http://schemas.microsoft.com/office/drawing/2014/main" id="{9900F2B9-6CAE-4865-AEF0-53FBB1CE066A}"/>
              </a:ext>
            </a:extLst>
          </p:cNvPr>
          <p:cNvSpPr>
            <a:spLocks noGrp="1"/>
          </p:cNvSpPr>
          <p:nvPr>
            <p:ph type="sldNum" sz="quarter" idx="12"/>
          </p:nvPr>
        </p:nvSpPr>
        <p:spPr/>
        <p:txBody>
          <a:bodyPr/>
          <a:lstStyle/>
          <a:p>
            <a:fld id="{0D6F892B-1791-4F93-8AFD-83813F10F54D}" type="slidenum">
              <a:rPr lang="en-US" smtClean="0"/>
              <a:t>12</a:t>
            </a:fld>
            <a:endParaRPr lang="en-US"/>
          </a:p>
        </p:txBody>
      </p:sp>
      <p:sp>
        <p:nvSpPr>
          <p:cNvPr id="4" name="Rectangle 3">
            <a:extLst>
              <a:ext uri="{FF2B5EF4-FFF2-40B4-BE49-F238E27FC236}">
                <a16:creationId xmlns:a16="http://schemas.microsoft.com/office/drawing/2014/main" id="{332D31FF-45E2-4920-B956-DF8CC7FFE742}"/>
              </a:ext>
            </a:extLst>
          </p:cNvPr>
          <p:cNvSpPr/>
          <p:nvPr/>
        </p:nvSpPr>
        <p:spPr>
          <a:xfrm>
            <a:off x="1078107" y="2398788"/>
            <a:ext cx="10035785" cy="877741"/>
          </a:xfrm>
          <a:prstGeom prst="rect">
            <a:avLst/>
          </a:prstGeom>
        </p:spPr>
        <p:txBody>
          <a:bodyPr wrap="square">
            <a:spAutoFit/>
          </a:bodyPr>
          <a:lstStyle/>
          <a:p>
            <a:pPr fontAlgn="base">
              <a:lnSpc>
                <a:spcPct val="150000"/>
              </a:lnSpc>
            </a:pPr>
            <a:r>
              <a:rPr lang="en-US" dirty="0">
                <a:solidFill>
                  <a:srgbClr val="485061"/>
                </a:solidFill>
                <a:latin typeface="Source Sans Pro" panose="020B0503030403020204" pitchFamily="34" charset="0"/>
              </a:rPr>
              <a:t>Now, let’s hop into the interactive Python shell and play around with the free API Django gives you. To invoke the Python shell, use this command:</a:t>
            </a:r>
            <a:endParaRPr lang="en-US" dirty="0"/>
          </a:p>
        </p:txBody>
      </p:sp>
      <p:sp>
        <p:nvSpPr>
          <p:cNvPr id="5" name="TextBox 4">
            <a:extLst>
              <a:ext uri="{FF2B5EF4-FFF2-40B4-BE49-F238E27FC236}">
                <a16:creationId xmlns:a16="http://schemas.microsoft.com/office/drawing/2014/main" id="{93D2211D-33AF-424B-9AC8-742D8EBC2E0C}"/>
              </a:ext>
            </a:extLst>
          </p:cNvPr>
          <p:cNvSpPr txBox="1"/>
          <p:nvPr/>
        </p:nvSpPr>
        <p:spPr>
          <a:xfrm>
            <a:off x="1154954" y="3767090"/>
            <a:ext cx="5324359"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python manage.py shell</a:t>
            </a:r>
          </a:p>
        </p:txBody>
      </p:sp>
      <p:sp>
        <p:nvSpPr>
          <p:cNvPr id="6" name="Rectangle 5">
            <a:extLst>
              <a:ext uri="{FF2B5EF4-FFF2-40B4-BE49-F238E27FC236}">
                <a16:creationId xmlns:a16="http://schemas.microsoft.com/office/drawing/2014/main" id="{E2AB6679-1A78-4386-AD46-B4E4C19E9A4B}"/>
              </a:ext>
            </a:extLst>
          </p:cNvPr>
          <p:cNvSpPr/>
          <p:nvPr/>
        </p:nvSpPr>
        <p:spPr>
          <a:xfrm>
            <a:off x="1078107" y="4712840"/>
            <a:ext cx="7443042" cy="462242"/>
          </a:xfrm>
          <a:prstGeom prst="rect">
            <a:avLst/>
          </a:prstGeom>
        </p:spPr>
        <p:txBody>
          <a:bodyPr wrap="square">
            <a:spAutoFit/>
          </a:bodyPr>
          <a:lstStyle/>
          <a:p>
            <a:pPr fontAlgn="base">
              <a:lnSpc>
                <a:spcPct val="150000"/>
              </a:lnSpc>
            </a:pPr>
            <a:r>
              <a:rPr lang="en-US" dirty="0">
                <a:solidFill>
                  <a:srgbClr val="485061"/>
                </a:solidFill>
                <a:latin typeface="Source Sans Pro" panose="020B0503030403020204" pitchFamily="34" charset="0"/>
              </a:rPr>
              <a:t>This command will help you to enter the Django API Shell.</a:t>
            </a:r>
            <a:endParaRPr lang="en-US" dirty="0"/>
          </a:p>
        </p:txBody>
      </p:sp>
    </p:spTree>
    <p:extLst>
      <p:ext uri="{BB962C8B-B14F-4D97-AF65-F5344CB8AC3E}">
        <p14:creationId xmlns:p14="http://schemas.microsoft.com/office/powerpoint/2010/main" val="11926410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771C72-0262-4B73-A9A0-0E7913F2BA93}"/>
              </a:ext>
            </a:extLst>
          </p:cNvPr>
          <p:cNvSpPr>
            <a:spLocks noGrp="1"/>
          </p:cNvSpPr>
          <p:nvPr>
            <p:ph type="title"/>
          </p:nvPr>
        </p:nvSpPr>
        <p:spPr/>
        <p:txBody>
          <a:bodyPr/>
          <a:lstStyle/>
          <a:p>
            <a:r>
              <a:rPr lang="en-US" dirty="0"/>
              <a:t>Django Database Queries</a:t>
            </a:r>
          </a:p>
        </p:txBody>
      </p:sp>
      <p:sp>
        <p:nvSpPr>
          <p:cNvPr id="3" name="Slide Number Placeholder 2">
            <a:extLst>
              <a:ext uri="{FF2B5EF4-FFF2-40B4-BE49-F238E27FC236}">
                <a16:creationId xmlns:a16="http://schemas.microsoft.com/office/drawing/2014/main" id="{3B643876-8B10-431A-821B-CAC34C107D6B}"/>
              </a:ext>
            </a:extLst>
          </p:cNvPr>
          <p:cNvSpPr>
            <a:spLocks noGrp="1"/>
          </p:cNvSpPr>
          <p:nvPr>
            <p:ph type="sldNum" sz="quarter" idx="12"/>
          </p:nvPr>
        </p:nvSpPr>
        <p:spPr/>
        <p:txBody>
          <a:bodyPr/>
          <a:lstStyle/>
          <a:p>
            <a:fld id="{0D6F892B-1791-4F93-8AFD-83813F10F54D}" type="slidenum">
              <a:rPr lang="en-US" smtClean="0"/>
              <a:t>13</a:t>
            </a:fld>
            <a:endParaRPr lang="en-US"/>
          </a:p>
        </p:txBody>
      </p:sp>
      <p:sp>
        <p:nvSpPr>
          <p:cNvPr id="4" name="TextBox 3">
            <a:extLst>
              <a:ext uri="{FF2B5EF4-FFF2-40B4-BE49-F238E27FC236}">
                <a16:creationId xmlns:a16="http://schemas.microsoft.com/office/drawing/2014/main" id="{D307CA59-CD37-437F-92F7-57DB030B9556}"/>
              </a:ext>
            </a:extLst>
          </p:cNvPr>
          <p:cNvSpPr txBox="1"/>
          <p:nvPr/>
        </p:nvSpPr>
        <p:spPr>
          <a:xfrm>
            <a:off x="1154954" y="2693664"/>
            <a:ext cx="6531307"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from </a:t>
            </a:r>
            <a:r>
              <a:rPr lang="en-US" b="1" dirty="0" err="1">
                <a:solidFill>
                  <a:srgbClr val="002060"/>
                </a:solidFill>
              </a:rPr>
              <a:t>first.models</a:t>
            </a:r>
            <a:r>
              <a:rPr lang="en-US" b="1" dirty="0">
                <a:solidFill>
                  <a:srgbClr val="002060"/>
                </a:solidFill>
              </a:rPr>
              <a:t> import Person</a:t>
            </a:r>
          </a:p>
        </p:txBody>
      </p:sp>
      <p:sp>
        <p:nvSpPr>
          <p:cNvPr id="5" name="TextBox 4">
            <a:extLst>
              <a:ext uri="{FF2B5EF4-FFF2-40B4-BE49-F238E27FC236}">
                <a16:creationId xmlns:a16="http://schemas.microsoft.com/office/drawing/2014/main" id="{CEA4DD82-5AC7-466C-BF17-4E0C990D5606}"/>
              </a:ext>
            </a:extLst>
          </p:cNvPr>
          <p:cNvSpPr txBox="1"/>
          <p:nvPr/>
        </p:nvSpPr>
        <p:spPr>
          <a:xfrm>
            <a:off x="1154953" y="3481553"/>
            <a:ext cx="6531308"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a:t>
            </a:r>
            <a:r>
              <a:rPr lang="en-US" b="1" dirty="0" err="1">
                <a:solidFill>
                  <a:srgbClr val="002060"/>
                </a:solidFill>
              </a:rPr>
              <a:t>Person.objects.all</a:t>
            </a:r>
            <a:r>
              <a:rPr lang="en-US" b="1" dirty="0">
                <a:solidFill>
                  <a:srgbClr val="002060"/>
                </a:solidFill>
              </a:rPr>
              <a:t>()</a:t>
            </a:r>
          </a:p>
        </p:txBody>
      </p:sp>
      <p:sp>
        <p:nvSpPr>
          <p:cNvPr id="6" name="TextBox 5">
            <a:extLst>
              <a:ext uri="{FF2B5EF4-FFF2-40B4-BE49-F238E27FC236}">
                <a16:creationId xmlns:a16="http://schemas.microsoft.com/office/drawing/2014/main" id="{047B6740-1C0E-4CBC-A2EC-8E35CDA017CB}"/>
              </a:ext>
            </a:extLst>
          </p:cNvPr>
          <p:cNvSpPr txBox="1"/>
          <p:nvPr/>
        </p:nvSpPr>
        <p:spPr>
          <a:xfrm>
            <a:off x="1154951" y="4248102"/>
            <a:ext cx="6531310" cy="454292"/>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a:t>
            </a:r>
            <a:r>
              <a:rPr lang="en-US" b="1" dirty="0" err="1">
                <a:solidFill>
                  <a:srgbClr val="002060"/>
                </a:solidFill>
              </a:rPr>
              <a:t>haris</a:t>
            </a:r>
            <a:r>
              <a:rPr lang="en-US" b="1" dirty="0">
                <a:solidFill>
                  <a:srgbClr val="002060"/>
                </a:solidFill>
              </a:rPr>
              <a:t> = Person(</a:t>
            </a:r>
            <a:r>
              <a:rPr lang="en-US" b="1" dirty="0" err="1">
                <a:solidFill>
                  <a:srgbClr val="002060"/>
                </a:solidFill>
              </a:rPr>
              <a:t>first_name</a:t>
            </a:r>
            <a:r>
              <a:rPr lang="en-US" b="1" dirty="0">
                <a:solidFill>
                  <a:srgbClr val="002060"/>
                </a:solidFill>
              </a:rPr>
              <a:t>=“</a:t>
            </a:r>
            <a:r>
              <a:rPr lang="en-US" b="1" dirty="0" err="1">
                <a:solidFill>
                  <a:srgbClr val="002060"/>
                </a:solidFill>
              </a:rPr>
              <a:t>Haris</a:t>
            </a:r>
            <a:r>
              <a:rPr lang="en-US" b="1" dirty="0">
                <a:solidFill>
                  <a:srgbClr val="002060"/>
                </a:solidFill>
              </a:rPr>
              <a:t>”, </a:t>
            </a:r>
            <a:r>
              <a:rPr lang="en-US" b="1" dirty="0" err="1">
                <a:solidFill>
                  <a:srgbClr val="002060"/>
                </a:solidFill>
              </a:rPr>
              <a:t>last_name</a:t>
            </a:r>
            <a:r>
              <a:rPr lang="en-US" b="1" dirty="0">
                <a:solidFill>
                  <a:srgbClr val="002060"/>
                </a:solidFill>
              </a:rPr>
              <a:t>=“Khan”</a:t>
            </a:r>
          </a:p>
        </p:txBody>
      </p:sp>
      <p:sp>
        <p:nvSpPr>
          <p:cNvPr id="7" name="TextBox 6">
            <a:extLst>
              <a:ext uri="{FF2B5EF4-FFF2-40B4-BE49-F238E27FC236}">
                <a16:creationId xmlns:a16="http://schemas.microsoft.com/office/drawing/2014/main" id="{47D004B4-ED3F-45A3-89F1-EEAA630F383B}"/>
              </a:ext>
            </a:extLst>
          </p:cNvPr>
          <p:cNvSpPr txBox="1"/>
          <p:nvPr/>
        </p:nvSpPr>
        <p:spPr>
          <a:xfrm>
            <a:off x="1154953" y="4982106"/>
            <a:ext cx="6531308"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a:t>
            </a:r>
            <a:r>
              <a:rPr lang="en-US" b="1" dirty="0" err="1">
                <a:solidFill>
                  <a:srgbClr val="002060"/>
                </a:solidFill>
              </a:rPr>
              <a:t>haris.save</a:t>
            </a:r>
            <a:r>
              <a:rPr lang="en-US" b="1" dirty="0">
                <a:solidFill>
                  <a:srgbClr val="002060"/>
                </a:solidFill>
              </a:rPr>
              <a:t>()</a:t>
            </a:r>
          </a:p>
        </p:txBody>
      </p:sp>
      <p:sp>
        <p:nvSpPr>
          <p:cNvPr id="8" name="TextBox 7">
            <a:extLst>
              <a:ext uri="{FF2B5EF4-FFF2-40B4-BE49-F238E27FC236}">
                <a16:creationId xmlns:a16="http://schemas.microsoft.com/office/drawing/2014/main" id="{4422C78C-A85F-4E9D-9F64-2FEBE77941A4}"/>
              </a:ext>
            </a:extLst>
          </p:cNvPr>
          <p:cNvSpPr txBox="1"/>
          <p:nvPr/>
        </p:nvSpPr>
        <p:spPr>
          <a:xfrm>
            <a:off x="1154953" y="5716323"/>
            <a:ext cx="6531308"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a:t>
            </a:r>
            <a:r>
              <a:rPr lang="en-US" b="1" dirty="0" err="1">
                <a:solidFill>
                  <a:srgbClr val="002060"/>
                </a:solidFill>
              </a:rPr>
              <a:t>Person.objects.get</a:t>
            </a:r>
            <a:r>
              <a:rPr lang="en-US" b="1" dirty="0">
                <a:solidFill>
                  <a:srgbClr val="002060"/>
                </a:solidFill>
              </a:rPr>
              <a:t>(id=1)</a:t>
            </a:r>
          </a:p>
        </p:txBody>
      </p:sp>
      <p:cxnSp>
        <p:nvCxnSpPr>
          <p:cNvPr id="10" name="Straight Arrow Connector 9">
            <a:extLst>
              <a:ext uri="{FF2B5EF4-FFF2-40B4-BE49-F238E27FC236}">
                <a16:creationId xmlns:a16="http://schemas.microsoft.com/office/drawing/2014/main" id="{230E0D47-B581-48C8-BBF4-1FA010A2418A}"/>
              </a:ext>
            </a:extLst>
          </p:cNvPr>
          <p:cNvCxnSpPr>
            <a:stCxn id="4" idx="3"/>
          </p:cNvCxnSpPr>
          <p:nvPr/>
        </p:nvCxnSpPr>
        <p:spPr>
          <a:xfrm>
            <a:off x="7686261" y="2921259"/>
            <a:ext cx="583096" cy="7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1" name="Rectangle 10">
            <a:extLst>
              <a:ext uri="{FF2B5EF4-FFF2-40B4-BE49-F238E27FC236}">
                <a16:creationId xmlns:a16="http://schemas.microsoft.com/office/drawing/2014/main" id="{843DA3E7-41B5-43C8-930F-1553408FA7C8}"/>
              </a:ext>
            </a:extLst>
          </p:cNvPr>
          <p:cNvSpPr/>
          <p:nvPr/>
        </p:nvSpPr>
        <p:spPr>
          <a:xfrm>
            <a:off x="8269357" y="2736592"/>
            <a:ext cx="2573140" cy="369332"/>
          </a:xfrm>
          <a:prstGeom prst="rect">
            <a:avLst/>
          </a:prstGeom>
        </p:spPr>
        <p:txBody>
          <a:bodyPr wrap="none">
            <a:spAutoFit/>
          </a:bodyPr>
          <a:lstStyle/>
          <a:p>
            <a:r>
              <a:rPr lang="en-US" dirty="0">
                <a:solidFill>
                  <a:srgbClr val="485061"/>
                </a:solidFill>
                <a:latin typeface="Source Sans Pro" panose="020B0503030403020204" pitchFamily="34" charset="0"/>
              </a:rPr>
              <a:t>Import the Person Model</a:t>
            </a:r>
            <a:endParaRPr lang="en-US" dirty="0"/>
          </a:p>
        </p:txBody>
      </p:sp>
      <p:cxnSp>
        <p:nvCxnSpPr>
          <p:cNvPr id="12" name="Straight Arrow Connector 11">
            <a:extLst>
              <a:ext uri="{FF2B5EF4-FFF2-40B4-BE49-F238E27FC236}">
                <a16:creationId xmlns:a16="http://schemas.microsoft.com/office/drawing/2014/main" id="{E26D6E6F-C538-4D25-96F2-40DEE79D051F}"/>
              </a:ext>
            </a:extLst>
          </p:cNvPr>
          <p:cNvCxnSpPr/>
          <p:nvPr/>
        </p:nvCxnSpPr>
        <p:spPr>
          <a:xfrm>
            <a:off x="7686261" y="3698588"/>
            <a:ext cx="583096" cy="7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angle 12">
            <a:extLst>
              <a:ext uri="{FF2B5EF4-FFF2-40B4-BE49-F238E27FC236}">
                <a16:creationId xmlns:a16="http://schemas.microsoft.com/office/drawing/2014/main" id="{CF45C377-D2D2-429D-ADD1-5AE12A2EE132}"/>
              </a:ext>
            </a:extLst>
          </p:cNvPr>
          <p:cNvSpPr/>
          <p:nvPr/>
        </p:nvSpPr>
        <p:spPr>
          <a:xfrm>
            <a:off x="8269357" y="3513921"/>
            <a:ext cx="1992853" cy="369332"/>
          </a:xfrm>
          <a:prstGeom prst="rect">
            <a:avLst/>
          </a:prstGeom>
        </p:spPr>
        <p:txBody>
          <a:bodyPr wrap="none">
            <a:spAutoFit/>
          </a:bodyPr>
          <a:lstStyle/>
          <a:p>
            <a:r>
              <a:rPr lang="en-US" dirty="0">
                <a:solidFill>
                  <a:srgbClr val="485061"/>
                </a:solidFill>
                <a:latin typeface="Source Sans Pro" panose="020B0503030403020204" pitchFamily="34" charset="0"/>
              </a:rPr>
              <a:t>Get all the Records</a:t>
            </a:r>
            <a:endParaRPr lang="en-US" dirty="0"/>
          </a:p>
        </p:txBody>
      </p:sp>
      <p:cxnSp>
        <p:nvCxnSpPr>
          <p:cNvPr id="14" name="Straight Arrow Connector 13">
            <a:extLst>
              <a:ext uri="{FF2B5EF4-FFF2-40B4-BE49-F238E27FC236}">
                <a16:creationId xmlns:a16="http://schemas.microsoft.com/office/drawing/2014/main" id="{84F74050-9F4A-41AC-B182-90FEDEC33E3E}"/>
              </a:ext>
            </a:extLst>
          </p:cNvPr>
          <p:cNvCxnSpPr/>
          <p:nvPr/>
        </p:nvCxnSpPr>
        <p:spPr>
          <a:xfrm>
            <a:off x="7686261" y="4437684"/>
            <a:ext cx="583096" cy="7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5" name="Rectangle 14">
            <a:extLst>
              <a:ext uri="{FF2B5EF4-FFF2-40B4-BE49-F238E27FC236}">
                <a16:creationId xmlns:a16="http://schemas.microsoft.com/office/drawing/2014/main" id="{FAFD3144-7A62-41F8-B159-5349AE3CB91F}"/>
              </a:ext>
            </a:extLst>
          </p:cNvPr>
          <p:cNvSpPr/>
          <p:nvPr/>
        </p:nvSpPr>
        <p:spPr>
          <a:xfrm>
            <a:off x="8269357" y="4253017"/>
            <a:ext cx="2738250" cy="369332"/>
          </a:xfrm>
          <a:prstGeom prst="rect">
            <a:avLst/>
          </a:prstGeom>
        </p:spPr>
        <p:txBody>
          <a:bodyPr wrap="none">
            <a:spAutoFit/>
          </a:bodyPr>
          <a:lstStyle/>
          <a:p>
            <a:r>
              <a:rPr lang="en-US" dirty="0">
                <a:solidFill>
                  <a:srgbClr val="485061"/>
                </a:solidFill>
                <a:latin typeface="Source Sans Pro" panose="020B0503030403020204" pitchFamily="34" charset="0"/>
              </a:rPr>
              <a:t>Add record in Person table</a:t>
            </a:r>
            <a:endParaRPr lang="en-US" dirty="0"/>
          </a:p>
        </p:txBody>
      </p:sp>
      <p:cxnSp>
        <p:nvCxnSpPr>
          <p:cNvPr id="16" name="Straight Arrow Connector 15">
            <a:extLst>
              <a:ext uri="{FF2B5EF4-FFF2-40B4-BE49-F238E27FC236}">
                <a16:creationId xmlns:a16="http://schemas.microsoft.com/office/drawing/2014/main" id="{55DDFEEF-2E6C-4DE6-A0FF-832602580896}"/>
              </a:ext>
            </a:extLst>
          </p:cNvPr>
          <p:cNvCxnSpPr/>
          <p:nvPr/>
        </p:nvCxnSpPr>
        <p:spPr>
          <a:xfrm>
            <a:off x="7686261" y="5195865"/>
            <a:ext cx="583096" cy="7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7" name="Rectangle 16">
            <a:extLst>
              <a:ext uri="{FF2B5EF4-FFF2-40B4-BE49-F238E27FC236}">
                <a16:creationId xmlns:a16="http://schemas.microsoft.com/office/drawing/2014/main" id="{CDBB7A56-1570-42E6-B347-40E168200FBB}"/>
              </a:ext>
            </a:extLst>
          </p:cNvPr>
          <p:cNvSpPr/>
          <p:nvPr/>
        </p:nvSpPr>
        <p:spPr>
          <a:xfrm>
            <a:off x="8269357" y="5011198"/>
            <a:ext cx="1689886" cy="369332"/>
          </a:xfrm>
          <a:prstGeom prst="rect">
            <a:avLst/>
          </a:prstGeom>
        </p:spPr>
        <p:txBody>
          <a:bodyPr wrap="none">
            <a:spAutoFit/>
          </a:bodyPr>
          <a:lstStyle/>
          <a:p>
            <a:r>
              <a:rPr lang="en-US" dirty="0">
                <a:solidFill>
                  <a:srgbClr val="485061"/>
                </a:solidFill>
                <a:latin typeface="Source Sans Pro" panose="020B0503030403020204" pitchFamily="34" charset="0"/>
              </a:rPr>
              <a:t>Save the record</a:t>
            </a:r>
            <a:endParaRPr lang="en-US" dirty="0"/>
          </a:p>
        </p:txBody>
      </p:sp>
      <p:cxnSp>
        <p:nvCxnSpPr>
          <p:cNvPr id="18" name="Straight Arrow Connector 17">
            <a:extLst>
              <a:ext uri="{FF2B5EF4-FFF2-40B4-BE49-F238E27FC236}">
                <a16:creationId xmlns:a16="http://schemas.microsoft.com/office/drawing/2014/main" id="{A062A17C-A88A-44BC-A140-83753E2FD76D}"/>
              </a:ext>
            </a:extLst>
          </p:cNvPr>
          <p:cNvCxnSpPr/>
          <p:nvPr/>
        </p:nvCxnSpPr>
        <p:spPr>
          <a:xfrm>
            <a:off x="7686261" y="5935087"/>
            <a:ext cx="583096" cy="747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9" name="Rectangle 18">
            <a:extLst>
              <a:ext uri="{FF2B5EF4-FFF2-40B4-BE49-F238E27FC236}">
                <a16:creationId xmlns:a16="http://schemas.microsoft.com/office/drawing/2014/main" id="{449D3149-A43E-4667-B68B-1F188A30596C}"/>
              </a:ext>
            </a:extLst>
          </p:cNvPr>
          <p:cNvSpPr/>
          <p:nvPr/>
        </p:nvSpPr>
        <p:spPr>
          <a:xfrm>
            <a:off x="8269357" y="5750420"/>
            <a:ext cx="2794355" cy="369332"/>
          </a:xfrm>
          <a:prstGeom prst="rect">
            <a:avLst/>
          </a:prstGeom>
        </p:spPr>
        <p:txBody>
          <a:bodyPr wrap="none">
            <a:spAutoFit/>
          </a:bodyPr>
          <a:lstStyle/>
          <a:p>
            <a:r>
              <a:rPr lang="en-US" dirty="0">
                <a:solidFill>
                  <a:srgbClr val="485061"/>
                </a:solidFill>
                <a:latin typeface="Source Sans Pro" panose="020B0503030403020204" pitchFamily="34" charset="0"/>
              </a:rPr>
              <a:t>Get a record where id is “1”</a:t>
            </a:r>
            <a:endParaRPr lang="en-US" dirty="0"/>
          </a:p>
        </p:txBody>
      </p:sp>
    </p:spTree>
    <p:extLst>
      <p:ext uri="{BB962C8B-B14F-4D97-AF65-F5344CB8AC3E}">
        <p14:creationId xmlns:p14="http://schemas.microsoft.com/office/powerpoint/2010/main" val="35172737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6616C272-C648-42A9-B29D-5CC683890D3C}"/>
              </a:ext>
            </a:extLst>
          </p:cNvPr>
          <p:cNvSpPr>
            <a:spLocks noGrp="1"/>
          </p:cNvSpPr>
          <p:nvPr>
            <p:ph type="title"/>
          </p:nvPr>
        </p:nvSpPr>
        <p:spPr>
          <a:xfrm>
            <a:off x="1168809" y="973668"/>
            <a:ext cx="8761413" cy="706964"/>
          </a:xfrm>
        </p:spPr>
        <p:txBody>
          <a:bodyPr/>
          <a:lstStyle/>
          <a:p>
            <a:r>
              <a:rPr lang="en-US" b="1" dirty="0">
                <a:latin typeface="Arial Rounded MT Bold" panose="020F0704030504030204" pitchFamily="34" charset="0"/>
              </a:rPr>
              <a:t>What is Django Admin.?</a:t>
            </a:r>
            <a:endParaRPr lang="en-US" b="1" dirty="0"/>
          </a:p>
        </p:txBody>
      </p:sp>
      <p:sp>
        <p:nvSpPr>
          <p:cNvPr id="3" name="Slide Number Placeholder 2">
            <a:extLst>
              <a:ext uri="{FF2B5EF4-FFF2-40B4-BE49-F238E27FC236}">
                <a16:creationId xmlns:a16="http://schemas.microsoft.com/office/drawing/2014/main" id="{894C010A-B5A3-4F39-900D-0911A9451D80}"/>
              </a:ext>
            </a:extLst>
          </p:cNvPr>
          <p:cNvSpPr>
            <a:spLocks noGrp="1"/>
          </p:cNvSpPr>
          <p:nvPr>
            <p:ph type="sldNum" sz="quarter" idx="12"/>
          </p:nvPr>
        </p:nvSpPr>
        <p:spPr/>
        <p:txBody>
          <a:bodyPr/>
          <a:lstStyle/>
          <a:p>
            <a:fld id="{0D6F892B-1791-4F93-8AFD-83813F10F54D}" type="slidenum">
              <a:rPr lang="en-US" smtClean="0"/>
              <a:t>14</a:t>
            </a:fld>
            <a:endParaRPr lang="en-US"/>
          </a:p>
        </p:txBody>
      </p:sp>
      <p:sp>
        <p:nvSpPr>
          <p:cNvPr id="4" name="Rectangle 3">
            <a:extLst>
              <a:ext uri="{FF2B5EF4-FFF2-40B4-BE49-F238E27FC236}">
                <a16:creationId xmlns:a16="http://schemas.microsoft.com/office/drawing/2014/main" id="{AC655BCE-0D89-4AF2-9F80-D2CC9F22AC4B}"/>
              </a:ext>
            </a:extLst>
          </p:cNvPr>
          <p:cNvSpPr/>
          <p:nvPr/>
        </p:nvSpPr>
        <p:spPr>
          <a:xfrm>
            <a:off x="1168809" y="2438545"/>
            <a:ext cx="10021930" cy="1287917"/>
          </a:xfrm>
          <a:prstGeom prst="rect">
            <a:avLst/>
          </a:prstGeom>
        </p:spPr>
        <p:txBody>
          <a:bodyPr wrap="square">
            <a:spAutoFit/>
          </a:bodyPr>
          <a:lstStyle/>
          <a:p>
            <a:pPr algn="just">
              <a:lnSpc>
                <a:spcPct val="150000"/>
              </a:lnSpc>
            </a:pPr>
            <a:r>
              <a:rPr lang="en-US" dirty="0">
                <a:solidFill>
                  <a:srgbClr val="444444"/>
                </a:solidFill>
                <a:latin typeface="Georgia" panose="02040502050405020303" pitchFamily="18" charset="0"/>
              </a:rPr>
              <a:t>The Admin interface of a website is the control panel of your website/ project. It is used by the administrators of the website to add, delete and edit the content on the site, and also maintain other functionalities accordingly made by the developers.</a:t>
            </a:r>
            <a:endParaRPr lang="en-US" dirty="0"/>
          </a:p>
        </p:txBody>
      </p:sp>
      <p:sp>
        <p:nvSpPr>
          <p:cNvPr id="5" name="Rectangle 4">
            <a:extLst>
              <a:ext uri="{FF2B5EF4-FFF2-40B4-BE49-F238E27FC236}">
                <a16:creationId xmlns:a16="http://schemas.microsoft.com/office/drawing/2014/main" id="{38CA375F-33B5-4B8C-A812-20AC1DBAF4EC}"/>
              </a:ext>
            </a:extLst>
          </p:cNvPr>
          <p:cNvSpPr/>
          <p:nvPr/>
        </p:nvSpPr>
        <p:spPr>
          <a:xfrm>
            <a:off x="1168808" y="4015553"/>
            <a:ext cx="10021929" cy="1287917"/>
          </a:xfrm>
          <a:prstGeom prst="rect">
            <a:avLst/>
          </a:prstGeom>
        </p:spPr>
        <p:txBody>
          <a:bodyPr wrap="square">
            <a:spAutoFit/>
          </a:bodyPr>
          <a:lstStyle/>
          <a:p>
            <a:pPr algn="just">
              <a:lnSpc>
                <a:spcPct val="150000"/>
              </a:lnSpc>
            </a:pPr>
            <a:r>
              <a:rPr lang="en-US" dirty="0">
                <a:solidFill>
                  <a:srgbClr val="444444"/>
                </a:solidFill>
                <a:latin typeface="Georgia" panose="02040502050405020303" pitchFamily="18" charset="0"/>
              </a:rPr>
              <a:t>The Django Admin is a fully featured interface and you won’t need to write an Admin interface for your project now. To begin with, it is always better to know the process of setting up Django Admin site as you will need it in future projects.</a:t>
            </a:r>
            <a:endParaRPr lang="en-US" dirty="0"/>
          </a:p>
        </p:txBody>
      </p:sp>
    </p:spTree>
    <p:extLst>
      <p:ext uri="{BB962C8B-B14F-4D97-AF65-F5344CB8AC3E}">
        <p14:creationId xmlns:p14="http://schemas.microsoft.com/office/powerpoint/2010/main" val="24478132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57E12A-F786-4495-B207-ADE13BDF01EF}"/>
              </a:ext>
            </a:extLst>
          </p:cNvPr>
          <p:cNvSpPr>
            <a:spLocks noGrp="1"/>
          </p:cNvSpPr>
          <p:nvPr>
            <p:ph type="title"/>
          </p:nvPr>
        </p:nvSpPr>
        <p:spPr/>
        <p:txBody>
          <a:bodyPr/>
          <a:lstStyle/>
          <a:p>
            <a:r>
              <a:rPr lang="en-US" b="1" dirty="0"/>
              <a:t>Setup Django Admin Site</a:t>
            </a:r>
          </a:p>
        </p:txBody>
      </p:sp>
      <p:sp>
        <p:nvSpPr>
          <p:cNvPr id="3" name="Slide Number Placeholder 2">
            <a:extLst>
              <a:ext uri="{FF2B5EF4-FFF2-40B4-BE49-F238E27FC236}">
                <a16:creationId xmlns:a16="http://schemas.microsoft.com/office/drawing/2014/main" id="{6FD921F9-0301-4BCC-9F75-29FA5BCA687E}"/>
              </a:ext>
            </a:extLst>
          </p:cNvPr>
          <p:cNvSpPr>
            <a:spLocks noGrp="1"/>
          </p:cNvSpPr>
          <p:nvPr>
            <p:ph type="sldNum" sz="quarter" idx="12"/>
          </p:nvPr>
        </p:nvSpPr>
        <p:spPr/>
        <p:txBody>
          <a:bodyPr/>
          <a:lstStyle/>
          <a:p>
            <a:fld id="{0D6F892B-1791-4F93-8AFD-83813F10F54D}" type="slidenum">
              <a:rPr lang="en-US" smtClean="0"/>
              <a:t>15</a:t>
            </a:fld>
            <a:endParaRPr lang="en-US"/>
          </a:p>
        </p:txBody>
      </p:sp>
      <p:sp>
        <p:nvSpPr>
          <p:cNvPr id="4" name="Rectangle 3">
            <a:extLst>
              <a:ext uri="{FF2B5EF4-FFF2-40B4-BE49-F238E27FC236}">
                <a16:creationId xmlns:a16="http://schemas.microsoft.com/office/drawing/2014/main" id="{5A5723E2-F6FE-4EB3-A9B8-ED9C7BD9012B}"/>
              </a:ext>
            </a:extLst>
          </p:cNvPr>
          <p:cNvSpPr/>
          <p:nvPr/>
        </p:nvSpPr>
        <p:spPr>
          <a:xfrm>
            <a:off x="1154954" y="2443222"/>
            <a:ext cx="9197586" cy="369332"/>
          </a:xfrm>
          <a:prstGeom prst="rect">
            <a:avLst/>
          </a:prstGeom>
        </p:spPr>
        <p:txBody>
          <a:bodyPr wrap="square">
            <a:spAutoFit/>
          </a:bodyPr>
          <a:lstStyle/>
          <a:p>
            <a:r>
              <a:rPr lang="en-US" dirty="0">
                <a:solidFill>
                  <a:srgbClr val="444444"/>
                </a:solidFill>
                <a:latin typeface="Georgia" panose="02040502050405020303" pitchFamily="18" charset="0"/>
              </a:rPr>
              <a:t>Below are the steps to use the Django Admin Site and implement user models:</a:t>
            </a:r>
            <a:endParaRPr lang="en-US" dirty="0"/>
          </a:p>
        </p:txBody>
      </p:sp>
      <p:sp>
        <p:nvSpPr>
          <p:cNvPr id="5" name="Rectangle 4">
            <a:extLst>
              <a:ext uri="{FF2B5EF4-FFF2-40B4-BE49-F238E27FC236}">
                <a16:creationId xmlns:a16="http://schemas.microsoft.com/office/drawing/2014/main" id="{12104899-ABC1-4BBB-8C70-BECA26C0BD22}"/>
              </a:ext>
            </a:extLst>
          </p:cNvPr>
          <p:cNvSpPr/>
          <p:nvPr/>
        </p:nvSpPr>
        <p:spPr>
          <a:xfrm>
            <a:off x="1154954" y="2769040"/>
            <a:ext cx="8638403" cy="1011367"/>
          </a:xfrm>
          <a:prstGeom prst="rect">
            <a:avLst/>
          </a:prstGeom>
        </p:spPr>
        <p:txBody>
          <a:bodyPr wrap="square">
            <a:spAutoFit/>
          </a:bodyPr>
          <a:lstStyle/>
          <a:p>
            <a:pPr fontAlgn="base">
              <a:lnSpc>
                <a:spcPct val="150000"/>
              </a:lnSpc>
            </a:pPr>
            <a:r>
              <a:rPr lang="en-US" sz="2400" b="1" dirty="0">
                <a:solidFill>
                  <a:srgbClr val="444444"/>
                </a:solidFill>
                <a:latin typeface="inherit"/>
              </a:rPr>
              <a:t>Step 1.</a:t>
            </a:r>
            <a:r>
              <a:rPr lang="en-US" sz="2400" dirty="0">
                <a:solidFill>
                  <a:srgbClr val="444444"/>
                </a:solidFill>
                <a:latin typeface="Georgia" panose="02040502050405020303" pitchFamily="18" charset="0"/>
              </a:rPr>
              <a:t> </a:t>
            </a:r>
          </a:p>
          <a:p>
            <a:pPr fontAlgn="base">
              <a:lnSpc>
                <a:spcPct val="150000"/>
              </a:lnSpc>
            </a:pPr>
            <a:r>
              <a:rPr lang="en-US" dirty="0">
                <a:solidFill>
                  <a:srgbClr val="444444"/>
                </a:solidFill>
                <a:latin typeface="Georgia" panose="02040502050405020303" pitchFamily="18" charset="0"/>
              </a:rPr>
              <a:t>After starting the Django server, if we search in the URL bar:</a:t>
            </a:r>
          </a:p>
        </p:txBody>
      </p:sp>
      <p:sp>
        <p:nvSpPr>
          <p:cNvPr id="6" name="Rectangle 5">
            <a:extLst>
              <a:ext uri="{FF2B5EF4-FFF2-40B4-BE49-F238E27FC236}">
                <a16:creationId xmlns:a16="http://schemas.microsoft.com/office/drawing/2014/main" id="{7F755610-ECF3-477B-885C-82DF2AFC09CE}"/>
              </a:ext>
            </a:extLst>
          </p:cNvPr>
          <p:cNvSpPr/>
          <p:nvPr/>
        </p:nvSpPr>
        <p:spPr>
          <a:xfrm>
            <a:off x="1154954" y="3869413"/>
            <a:ext cx="2610010" cy="369332"/>
          </a:xfrm>
          <a:prstGeom prst="rect">
            <a:avLst/>
          </a:prstGeom>
        </p:spPr>
        <p:txBody>
          <a:bodyPr wrap="none">
            <a:spAutoFit/>
          </a:bodyPr>
          <a:lstStyle/>
          <a:p>
            <a:r>
              <a:rPr lang="en-US" dirty="0">
                <a:solidFill>
                  <a:srgbClr val="444444"/>
                </a:solidFill>
                <a:latin typeface="Georgia" panose="02040502050405020303" pitchFamily="18" charset="0"/>
              </a:rPr>
              <a:t>localhost:8000/admin/</a:t>
            </a:r>
            <a:endParaRPr lang="en-US" dirty="0"/>
          </a:p>
        </p:txBody>
      </p:sp>
      <p:sp>
        <p:nvSpPr>
          <p:cNvPr id="7" name="Rectangle 6">
            <a:extLst>
              <a:ext uri="{FF2B5EF4-FFF2-40B4-BE49-F238E27FC236}">
                <a16:creationId xmlns:a16="http://schemas.microsoft.com/office/drawing/2014/main" id="{F9273D90-2787-4CD0-BCA9-3D4AF51A3490}"/>
              </a:ext>
            </a:extLst>
          </p:cNvPr>
          <p:cNvSpPr/>
          <p:nvPr/>
        </p:nvSpPr>
        <p:spPr>
          <a:xfrm>
            <a:off x="1154954" y="4353441"/>
            <a:ext cx="8121568" cy="1010918"/>
          </a:xfrm>
          <a:prstGeom prst="rect">
            <a:avLst/>
          </a:prstGeom>
        </p:spPr>
        <p:txBody>
          <a:bodyPr wrap="square">
            <a:spAutoFit/>
          </a:bodyPr>
          <a:lstStyle/>
          <a:p>
            <a:pPr>
              <a:lnSpc>
                <a:spcPct val="150000"/>
              </a:lnSpc>
            </a:pPr>
            <a:r>
              <a:rPr lang="en-US" sz="2400" b="1" dirty="0">
                <a:solidFill>
                  <a:srgbClr val="444444"/>
                </a:solidFill>
                <a:latin typeface="Georgia" panose="02040502050405020303" pitchFamily="18" charset="0"/>
              </a:rPr>
              <a:t>Step 2.</a:t>
            </a:r>
            <a:r>
              <a:rPr lang="en-US" sz="2400" dirty="0">
                <a:solidFill>
                  <a:srgbClr val="444444"/>
                </a:solidFill>
                <a:latin typeface="Georgia" panose="02040502050405020303" pitchFamily="18" charset="0"/>
              </a:rPr>
              <a:t> </a:t>
            </a:r>
          </a:p>
          <a:p>
            <a:pPr>
              <a:lnSpc>
                <a:spcPct val="150000"/>
              </a:lnSpc>
            </a:pPr>
            <a:r>
              <a:rPr lang="en-US" dirty="0">
                <a:solidFill>
                  <a:srgbClr val="444444"/>
                </a:solidFill>
                <a:latin typeface="Georgia" panose="02040502050405020303" pitchFamily="18" charset="0"/>
              </a:rPr>
              <a:t>Open the PowerShell or terminal and break the server by Ctrl + C.</a:t>
            </a:r>
            <a:endParaRPr lang="en-US" dirty="0"/>
          </a:p>
        </p:txBody>
      </p:sp>
      <p:sp>
        <p:nvSpPr>
          <p:cNvPr id="8" name="Rectangle 7">
            <a:extLst>
              <a:ext uri="{FF2B5EF4-FFF2-40B4-BE49-F238E27FC236}">
                <a16:creationId xmlns:a16="http://schemas.microsoft.com/office/drawing/2014/main" id="{98CFF198-0DF8-420C-A3C1-7D1E087568C2}"/>
              </a:ext>
            </a:extLst>
          </p:cNvPr>
          <p:cNvSpPr/>
          <p:nvPr/>
        </p:nvSpPr>
        <p:spPr>
          <a:xfrm>
            <a:off x="1154954" y="5465136"/>
            <a:ext cx="3710609" cy="369332"/>
          </a:xfrm>
          <a:prstGeom prst="rect">
            <a:avLst/>
          </a:prstGeom>
        </p:spPr>
        <p:txBody>
          <a:bodyPr wrap="square">
            <a:spAutoFit/>
          </a:bodyPr>
          <a:lstStyle/>
          <a:p>
            <a:pPr fontAlgn="base"/>
            <a:r>
              <a:rPr lang="en-US" dirty="0">
                <a:solidFill>
                  <a:srgbClr val="444444"/>
                </a:solidFill>
                <a:latin typeface="Georgia" panose="02040502050405020303" pitchFamily="18" charset="0"/>
              </a:rPr>
              <a:t>Then type in this command:</a:t>
            </a:r>
          </a:p>
        </p:txBody>
      </p:sp>
      <p:sp>
        <p:nvSpPr>
          <p:cNvPr id="9" name="Rectangle 8">
            <a:extLst>
              <a:ext uri="{FF2B5EF4-FFF2-40B4-BE49-F238E27FC236}">
                <a16:creationId xmlns:a16="http://schemas.microsoft.com/office/drawing/2014/main" id="{EEB49E9F-6967-4943-AA0C-53E29ABCFAF3}"/>
              </a:ext>
            </a:extLst>
          </p:cNvPr>
          <p:cNvSpPr/>
          <p:nvPr/>
        </p:nvSpPr>
        <p:spPr>
          <a:xfrm>
            <a:off x="1154954" y="5935245"/>
            <a:ext cx="4530229" cy="369332"/>
          </a:xfrm>
          <a:prstGeom prst="rect">
            <a:avLst/>
          </a:prstGeom>
        </p:spPr>
        <p:txBody>
          <a:bodyPr wrap="square">
            <a:spAutoFit/>
          </a:bodyPr>
          <a:lstStyle/>
          <a:p>
            <a:pPr fontAlgn="base"/>
            <a:r>
              <a:rPr lang="en-US" b="1" dirty="0">
                <a:solidFill>
                  <a:srgbClr val="000000"/>
                </a:solidFill>
                <a:latin typeface="inherit"/>
              </a:rPr>
              <a:t>&gt;&gt;&gt; python manage.py </a:t>
            </a:r>
            <a:r>
              <a:rPr lang="en-US" b="1" dirty="0" err="1">
                <a:solidFill>
                  <a:srgbClr val="000000"/>
                </a:solidFill>
                <a:latin typeface="inherit"/>
              </a:rPr>
              <a:t>createsuperuser</a:t>
            </a:r>
            <a:endParaRPr lang="en-US" b="1" dirty="0">
              <a:solidFill>
                <a:srgbClr val="444444"/>
              </a:solidFill>
              <a:latin typeface="inherit"/>
            </a:endParaRPr>
          </a:p>
        </p:txBody>
      </p:sp>
    </p:spTree>
    <p:extLst>
      <p:ext uri="{BB962C8B-B14F-4D97-AF65-F5344CB8AC3E}">
        <p14:creationId xmlns:p14="http://schemas.microsoft.com/office/powerpoint/2010/main" val="16743960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18525-161D-4DF4-B5CD-771306207FDD}"/>
              </a:ext>
            </a:extLst>
          </p:cNvPr>
          <p:cNvSpPr>
            <a:spLocks noGrp="1"/>
          </p:cNvSpPr>
          <p:nvPr>
            <p:ph type="title"/>
          </p:nvPr>
        </p:nvSpPr>
        <p:spPr/>
        <p:txBody>
          <a:bodyPr/>
          <a:lstStyle/>
          <a:p>
            <a:r>
              <a:rPr lang="en-US" dirty="0"/>
              <a:t>Continue… </a:t>
            </a:r>
          </a:p>
        </p:txBody>
      </p:sp>
      <p:sp>
        <p:nvSpPr>
          <p:cNvPr id="3" name="Slide Number Placeholder 2">
            <a:extLst>
              <a:ext uri="{FF2B5EF4-FFF2-40B4-BE49-F238E27FC236}">
                <a16:creationId xmlns:a16="http://schemas.microsoft.com/office/drawing/2014/main" id="{36077CD7-9C41-42F6-85BE-A670A39D27E6}"/>
              </a:ext>
            </a:extLst>
          </p:cNvPr>
          <p:cNvSpPr>
            <a:spLocks noGrp="1"/>
          </p:cNvSpPr>
          <p:nvPr>
            <p:ph type="sldNum" sz="quarter" idx="12"/>
          </p:nvPr>
        </p:nvSpPr>
        <p:spPr/>
        <p:txBody>
          <a:bodyPr/>
          <a:lstStyle/>
          <a:p>
            <a:fld id="{0D6F892B-1791-4F93-8AFD-83813F10F54D}" type="slidenum">
              <a:rPr lang="en-US" smtClean="0"/>
              <a:t>16</a:t>
            </a:fld>
            <a:endParaRPr lang="en-US"/>
          </a:p>
        </p:txBody>
      </p:sp>
      <p:sp>
        <p:nvSpPr>
          <p:cNvPr id="4" name="Rectangle 3">
            <a:extLst>
              <a:ext uri="{FF2B5EF4-FFF2-40B4-BE49-F238E27FC236}">
                <a16:creationId xmlns:a16="http://schemas.microsoft.com/office/drawing/2014/main" id="{CFBB9DAB-C3C9-4260-9CA9-8FA6B0BAC80D}"/>
              </a:ext>
            </a:extLst>
          </p:cNvPr>
          <p:cNvSpPr/>
          <p:nvPr/>
        </p:nvSpPr>
        <p:spPr>
          <a:xfrm>
            <a:off x="1154954" y="2320139"/>
            <a:ext cx="9619063" cy="1426416"/>
          </a:xfrm>
          <a:prstGeom prst="rect">
            <a:avLst/>
          </a:prstGeom>
        </p:spPr>
        <p:txBody>
          <a:bodyPr wrap="square">
            <a:spAutoFit/>
          </a:bodyPr>
          <a:lstStyle/>
          <a:p>
            <a:pPr algn="just">
              <a:lnSpc>
                <a:spcPct val="150000"/>
              </a:lnSpc>
            </a:pPr>
            <a:r>
              <a:rPr lang="en-US" sz="2400" b="1" dirty="0">
                <a:solidFill>
                  <a:srgbClr val="444444"/>
                </a:solidFill>
                <a:latin typeface="Georgia" panose="02040502050405020303" pitchFamily="18" charset="0"/>
              </a:rPr>
              <a:t>Step 3:</a:t>
            </a:r>
            <a:endParaRPr lang="en-US" sz="2400" dirty="0">
              <a:solidFill>
                <a:srgbClr val="444444"/>
              </a:solidFill>
              <a:latin typeface="Georgia" panose="02040502050405020303" pitchFamily="18" charset="0"/>
            </a:endParaRPr>
          </a:p>
          <a:p>
            <a:pPr algn="just">
              <a:lnSpc>
                <a:spcPct val="150000"/>
              </a:lnSpc>
            </a:pPr>
            <a:r>
              <a:rPr lang="en-US" dirty="0">
                <a:solidFill>
                  <a:srgbClr val="444444"/>
                </a:solidFill>
                <a:latin typeface="Georgia" panose="02040502050405020303" pitchFamily="18" charset="0"/>
              </a:rPr>
              <a:t>After executing this command, it will ask for your username, which is your choice again. Then it will ask you for the Email Id and Password. Complete the details.</a:t>
            </a:r>
            <a:endParaRPr lang="en-US" dirty="0"/>
          </a:p>
        </p:txBody>
      </p:sp>
      <p:sp>
        <p:nvSpPr>
          <p:cNvPr id="5" name="Rectangle 4">
            <a:extLst>
              <a:ext uri="{FF2B5EF4-FFF2-40B4-BE49-F238E27FC236}">
                <a16:creationId xmlns:a16="http://schemas.microsoft.com/office/drawing/2014/main" id="{0AB8D15C-165F-4DDD-A04C-B2E8477E86DB}"/>
              </a:ext>
            </a:extLst>
          </p:cNvPr>
          <p:cNvSpPr/>
          <p:nvPr/>
        </p:nvSpPr>
        <p:spPr>
          <a:xfrm>
            <a:off x="1154954" y="4154053"/>
            <a:ext cx="10035785" cy="1287917"/>
          </a:xfrm>
          <a:prstGeom prst="rect">
            <a:avLst/>
          </a:prstGeom>
        </p:spPr>
        <p:txBody>
          <a:bodyPr wrap="square">
            <a:spAutoFit/>
          </a:bodyPr>
          <a:lstStyle/>
          <a:p>
            <a:pPr algn="just">
              <a:lnSpc>
                <a:spcPct val="150000"/>
              </a:lnSpc>
            </a:pPr>
            <a:r>
              <a:rPr lang="en-US" dirty="0">
                <a:solidFill>
                  <a:srgbClr val="444444"/>
                </a:solidFill>
                <a:latin typeface="Georgia" panose="02040502050405020303" pitchFamily="18" charset="0"/>
              </a:rPr>
              <a:t>There are some inbuilt security features here like if your password is totally numeric it will display a message to create a complex password and many such security loopholes have been covered up for users.</a:t>
            </a:r>
            <a:endParaRPr lang="en-US" dirty="0"/>
          </a:p>
        </p:txBody>
      </p:sp>
    </p:spTree>
    <p:extLst>
      <p:ext uri="{BB962C8B-B14F-4D97-AF65-F5344CB8AC3E}">
        <p14:creationId xmlns:p14="http://schemas.microsoft.com/office/powerpoint/2010/main" val="38630254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A8C90-2EA0-4684-88CD-6829B4BF7D58}"/>
              </a:ext>
            </a:extLst>
          </p:cNvPr>
          <p:cNvSpPr>
            <a:spLocks noGrp="1"/>
          </p:cNvSpPr>
          <p:nvPr>
            <p:ph type="title"/>
          </p:nvPr>
        </p:nvSpPr>
        <p:spPr/>
        <p:txBody>
          <a:bodyPr/>
          <a:lstStyle/>
          <a:p>
            <a:r>
              <a:rPr lang="en-US" dirty="0"/>
              <a:t>Continue…</a:t>
            </a:r>
          </a:p>
        </p:txBody>
      </p:sp>
      <p:sp>
        <p:nvSpPr>
          <p:cNvPr id="3" name="Slide Number Placeholder 2">
            <a:extLst>
              <a:ext uri="{FF2B5EF4-FFF2-40B4-BE49-F238E27FC236}">
                <a16:creationId xmlns:a16="http://schemas.microsoft.com/office/drawing/2014/main" id="{C7D6B052-2CDC-4B31-BC74-668EE3527872}"/>
              </a:ext>
            </a:extLst>
          </p:cNvPr>
          <p:cNvSpPr>
            <a:spLocks noGrp="1"/>
          </p:cNvSpPr>
          <p:nvPr>
            <p:ph type="sldNum" sz="quarter" idx="12"/>
          </p:nvPr>
        </p:nvSpPr>
        <p:spPr/>
        <p:txBody>
          <a:bodyPr/>
          <a:lstStyle/>
          <a:p>
            <a:fld id="{0D6F892B-1791-4F93-8AFD-83813F10F54D}" type="slidenum">
              <a:rPr lang="en-US" smtClean="0"/>
              <a:t>17</a:t>
            </a:fld>
            <a:endParaRPr lang="en-US"/>
          </a:p>
        </p:txBody>
      </p:sp>
      <p:sp>
        <p:nvSpPr>
          <p:cNvPr id="4" name="Rectangle 3">
            <a:extLst>
              <a:ext uri="{FF2B5EF4-FFF2-40B4-BE49-F238E27FC236}">
                <a16:creationId xmlns:a16="http://schemas.microsoft.com/office/drawing/2014/main" id="{41785F07-3E1E-46B6-AD92-3A9C573D14B2}"/>
              </a:ext>
            </a:extLst>
          </p:cNvPr>
          <p:cNvSpPr/>
          <p:nvPr/>
        </p:nvSpPr>
        <p:spPr>
          <a:xfrm>
            <a:off x="1154954" y="2417633"/>
            <a:ext cx="8876942" cy="1011367"/>
          </a:xfrm>
          <a:prstGeom prst="rect">
            <a:avLst/>
          </a:prstGeom>
        </p:spPr>
        <p:txBody>
          <a:bodyPr wrap="square">
            <a:spAutoFit/>
          </a:bodyPr>
          <a:lstStyle/>
          <a:p>
            <a:pPr fontAlgn="base">
              <a:lnSpc>
                <a:spcPct val="150000"/>
              </a:lnSpc>
            </a:pPr>
            <a:r>
              <a:rPr lang="en-US" sz="2400" b="1" dirty="0">
                <a:solidFill>
                  <a:srgbClr val="444444"/>
                </a:solidFill>
                <a:latin typeface="inherit"/>
              </a:rPr>
              <a:t>Step 4.</a:t>
            </a:r>
            <a:r>
              <a:rPr lang="en-US" sz="2400" dirty="0">
                <a:solidFill>
                  <a:srgbClr val="444444"/>
                </a:solidFill>
                <a:latin typeface="Georgia" panose="02040502050405020303" pitchFamily="18" charset="0"/>
              </a:rPr>
              <a:t> </a:t>
            </a:r>
            <a:endParaRPr lang="en-US" dirty="0">
              <a:solidFill>
                <a:srgbClr val="444444"/>
              </a:solidFill>
              <a:latin typeface="Georgia" panose="02040502050405020303" pitchFamily="18" charset="0"/>
            </a:endParaRPr>
          </a:p>
          <a:p>
            <a:pPr fontAlgn="base">
              <a:lnSpc>
                <a:spcPct val="150000"/>
              </a:lnSpc>
            </a:pPr>
            <a:r>
              <a:rPr lang="en-US" dirty="0">
                <a:solidFill>
                  <a:srgbClr val="444444"/>
                </a:solidFill>
                <a:latin typeface="Georgia" panose="02040502050405020303" pitchFamily="18" charset="0"/>
              </a:rPr>
              <a:t>Now login in admin using the credentials you just created.</a:t>
            </a:r>
          </a:p>
        </p:txBody>
      </p:sp>
      <p:pic>
        <p:nvPicPr>
          <p:cNvPr id="7" name="Picture 6">
            <a:extLst>
              <a:ext uri="{FF2B5EF4-FFF2-40B4-BE49-F238E27FC236}">
                <a16:creationId xmlns:a16="http://schemas.microsoft.com/office/drawing/2014/main" id="{96E4BBBB-A8C5-40AD-9BF2-F667856C26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1214" y="3766782"/>
            <a:ext cx="6649378" cy="2133898"/>
          </a:xfrm>
          <a:prstGeom prst="rect">
            <a:avLst/>
          </a:prstGeom>
          <a:ln>
            <a:solidFill>
              <a:schemeClr val="tx1"/>
            </a:solidFill>
          </a:ln>
        </p:spPr>
      </p:pic>
    </p:spTree>
    <p:extLst>
      <p:ext uri="{BB962C8B-B14F-4D97-AF65-F5344CB8AC3E}">
        <p14:creationId xmlns:p14="http://schemas.microsoft.com/office/powerpoint/2010/main" val="5698520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481B5-F635-45C5-BB9C-BADD6E2439F2}"/>
              </a:ext>
            </a:extLst>
          </p:cNvPr>
          <p:cNvSpPr>
            <a:spLocks noGrp="1"/>
          </p:cNvSpPr>
          <p:nvPr>
            <p:ph type="title"/>
          </p:nvPr>
        </p:nvSpPr>
        <p:spPr/>
        <p:txBody>
          <a:bodyPr/>
          <a:lstStyle/>
          <a:p>
            <a:r>
              <a:rPr lang="en-US" dirty="0"/>
              <a:t>Continue…</a:t>
            </a:r>
          </a:p>
        </p:txBody>
      </p:sp>
      <p:sp>
        <p:nvSpPr>
          <p:cNvPr id="3" name="Slide Number Placeholder 2">
            <a:extLst>
              <a:ext uri="{FF2B5EF4-FFF2-40B4-BE49-F238E27FC236}">
                <a16:creationId xmlns:a16="http://schemas.microsoft.com/office/drawing/2014/main" id="{59385B82-F599-473C-8BF9-8A15A4812A4E}"/>
              </a:ext>
            </a:extLst>
          </p:cNvPr>
          <p:cNvSpPr>
            <a:spLocks noGrp="1"/>
          </p:cNvSpPr>
          <p:nvPr>
            <p:ph type="sldNum" sz="quarter" idx="12"/>
          </p:nvPr>
        </p:nvSpPr>
        <p:spPr/>
        <p:txBody>
          <a:bodyPr/>
          <a:lstStyle/>
          <a:p>
            <a:fld id="{0D6F892B-1791-4F93-8AFD-83813F10F54D}" type="slidenum">
              <a:rPr lang="en-US" smtClean="0"/>
              <a:t>18</a:t>
            </a:fld>
            <a:endParaRPr lang="en-US"/>
          </a:p>
        </p:txBody>
      </p:sp>
      <p:sp>
        <p:nvSpPr>
          <p:cNvPr id="4" name="Rectangle 3">
            <a:extLst>
              <a:ext uri="{FF2B5EF4-FFF2-40B4-BE49-F238E27FC236}">
                <a16:creationId xmlns:a16="http://schemas.microsoft.com/office/drawing/2014/main" id="{A61E26E1-52A1-47CB-982D-0DB23C3D1779}"/>
              </a:ext>
            </a:extLst>
          </p:cNvPr>
          <p:cNvSpPr/>
          <p:nvPr/>
        </p:nvSpPr>
        <p:spPr>
          <a:xfrm>
            <a:off x="1154953" y="2418082"/>
            <a:ext cx="8761413" cy="1010918"/>
          </a:xfrm>
          <a:prstGeom prst="rect">
            <a:avLst/>
          </a:prstGeom>
        </p:spPr>
        <p:txBody>
          <a:bodyPr wrap="square">
            <a:spAutoFit/>
          </a:bodyPr>
          <a:lstStyle/>
          <a:p>
            <a:pPr>
              <a:lnSpc>
                <a:spcPct val="150000"/>
              </a:lnSpc>
            </a:pPr>
            <a:r>
              <a:rPr lang="en-US" sz="2400" b="1" dirty="0">
                <a:solidFill>
                  <a:srgbClr val="444444"/>
                </a:solidFill>
                <a:latin typeface="Georgia" panose="02040502050405020303" pitchFamily="18" charset="0"/>
              </a:rPr>
              <a:t>Step 5.</a:t>
            </a:r>
            <a:r>
              <a:rPr lang="en-US" sz="2400" dirty="0">
                <a:solidFill>
                  <a:srgbClr val="444444"/>
                </a:solidFill>
                <a:latin typeface="Georgia" panose="02040502050405020303" pitchFamily="18" charset="0"/>
              </a:rPr>
              <a:t> </a:t>
            </a:r>
          </a:p>
          <a:p>
            <a:pPr>
              <a:lnSpc>
                <a:spcPct val="150000"/>
              </a:lnSpc>
            </a:pPr>
            <a:r>
              <a:rPr lang="en-US" dirty="0">
                <a:solidFill>
                  <a:srgbClr val="444444"/>
                </a:solidFill>
                <a:latin typeface="Georgia" panose="02040502050405020303" pitchFamily="18" charset="0"/>
              </a:rPr>
              <a:t>Now click on the users field and you should see something like this.</a:t>
            </a:r>
            <a:endParaRPr lang="en-US" dirty="0"/>
          </a:p>
        </p:txBody>
      </p:sp>
      <p:pic>
        <p:nvPicPr>
          <p:cNvPr id="6" name="Picture 5">
            <a:extLst>
              <a:ext uri="{FF2B5EF4-FFF2-40B4-BE49-F238E27FC236}">
                <a16:creationId xmlns:a16="http://schemas.microsoft.com/office/drawing/2014/main" id="{1955268A-5ACE-42EB-B47F-69C746DC076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63252" y="3687416"/>
            <a:ext cx="5707340" cy="2541105"/>
          </a:xfrm>
          <a:prstGeom prst="rect">
            <a:avLst/>
          </a:prstGeom>
          <a:ln>
            <a:solidFill>
              <a:schemeClr val="tx1"/>
            </a:solidFill>
          </a:ln>
        </p:spPr>
      </p:pic>
    </p:spTree>
    <p:extLst>
      <p:ext uri="{BB962C8B-B14F-4D97-AF65-F5344CB8AC3E}">
        <p14:creationId xmlns:p14="http://schemas.microsoft.com/office/powerpoint/2010/main" val="2839722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DD16-BF82-450D-B1E9-59F44279CC79}"/>
              </a:ext>
            </a:extLst>
          </p:cNvPr>
          <p:cNvSpPr>
            <a:spLocks noGrp="1"/>
          </p:cNvSpPr>
          <p:nvPr>
            <p:ph type="title"/>
          </p:nvPr>
        </p:nvSpPr>
        <p:spPr/>
        <p:txBody>
          <a:bodyPr/>
          <a:lstStyle/>
          <a:p>
            <a:r>
              <a:rPr lang="en-US" dirty="0"/>
              <a:t>Continue…</a:t>
            </a:r>
          </a:p>
        </p:txBody>
      </p:sp>
      <p:sp>
        <p:nvSpPr>
          <p:cNvPr id="3" name="Slide Number Placeholder 2">
            <a:extLst>
              <a:ext uri="{FF2B5EF4-FFF2-40B4-BE49-F238E27FC236}">
                <a16:creationId xmlns:a16="http://schemas.microsoft.com/office/drawing/2014/main" id="{32E89E36-B3F6-4EC6-9911-0B9E58D197F7}"/>
              </a:ext>
            </a:extLst>
          </p:cNvPr>
          <p:cNvSpPr>
            <a:spLocks noGrp="1"/>
          </p:cNvSpPr>
          <p:nvPr>
            <p:ph type="sldNum" sz="quarter" idx="12"/>
          </p:nvPr>
        </p:nvSpPr>
        <p:spPr/>
        <p:txBody>
          <a:bodyPr/>
          <a:lstStyle/>
          <a:p>
            <a:fld id="{0D6F892B-1791-4F93-8AFD-83813F10F54D}" type="slidenum">
              <a:rPr lang="en-US" smtClean="0"/>
              <a:t>19</a:t>
            </a:fld>
            <a:endParaRPr lang="en-US"/>
          </a:p>
        </p:txBody>
      </p:sp>
      <p:sp>
        <p:nvSpPr>
          <p:cNvPr id="4" name="Rectangle 3">
            <a:extLst>
              <a:ext uri="{FF2B5EF4-FFF2-40B4-BE49-F238E27FC236}">
                <a16:creationId xmlns:a16="http://schemas.microsoft.com/office/drawing/2014/main" id="{D1D65CCF-23CB-497E-BAB5-C7D3C51563FF}"/>
              </a:ext>
            </a:extLst>
          </p:cNvPr>
          <p:cNvSpPr/>
          <p:nvPr/>
        </p:nvSpPr>
        <p:spPr>
          <a:xfrm>
            <a:off x="1154954" y="2505670"/>
            <a:ext cx="10035784" cy="1426416"/>
          </a:xfrm>
          <a:prstGeom prst="rect">
            <a:avLst/>
          </a:prstGeom>
        </p:spPr>
        <p:txBody>
          <a:bodyPr wrap="square">
            <a:spAutoFit/>
          </a:bodyPr>
          <a:lstStyle/>
          <a:p>
            <a:pPr>
              <a:lnSpc>
                <a:spcPct val="150000"/>
              </a:lnSpc>
            </a:pPr>
            <a:r>
              <a:rPr lang="en-US" sz="2400" b="1" dirty="0">
                <a:solidFill>
                  <a:srgbClr val="444444"/>
                </a:solidFill>
                <a:latin typeface="Georgia" panose="02040502050405020303" pitchFamily="18" charset="0"/>
              </a:rPr>
              <a:t>Step 6:</a:t>
            </a:r>
            <a:endParaRPr lang="en-US" sz="2400" dirty="0">
              <a:solidFill>
                <a:srgbClr val="444444"/>
              </a:solidFill>
              <a:latin typeface="Georgia" panose="02040502050405020303" pitchFamily="18" charset="0"/>
            </a:endParaRPr>
          </a:p>
          <a:p>
            <a:pPr>
              <a:lnSpc>
                <a:spcPct val="150000"/>
              </a:lnSpc>
            </a:pPr>
            <a:r>
              <a:rPr lang="en-US" dirty="0">
                <a:solidFill>
                  <a:srgbClr val="444444"/>
                </a:solidFill>
                <a:latin typeface="Georgia" panose="02040502050405020303" pitchFamily="18" charset="0"/>
              </a:rPr>
              <a:t>Now, you can check whether the user you created got saved in it. Although you didn’t do anything with the database.</a:t>
            </a:r>
            <a:endParaRPr lang="en-US" dirty="0"/>
          </a:p>
        </p:txBody>
      </p:sp>
      <p:sp>
        <p:nvSpPr>
          <p:cNvPr id="5" name="Rectangle 4">
            <a:extLst>
              <a:ext uri="{FF2B5EF4-FFF2-40B4-BE49-F238E27FC236}">
                <a16:creationId xmlns:a16="http://schemas.microsoft.com/office/drawing/2014/main" id="{4D043EBC-3CA0-44C7-A2AD-635538439EB3}"/>
              </a:ext>
            </a:extLst>
          </p:cNvPr>
          <p:cNvSpPr/>
          <p:nvPr/>
        </p:nvSpPr>
        <p:spPr>
          <a:xfrm>
            <a:off x="1154953" y="4215634"/>
            <a:ext cx="10035785" cy="1703415"/>
          </a:xfrm>
          <a:prstGeom prst="rect">
            <a:avLst/>
          </a:prstGeom>
        </p:spPr>
        <p:txBody>
          <a:bodyPr wrap="square">
            <a:spAutoFit/>
          </a:bodyPr>
          <a:lstStyle/>
          <a:p>
            <a:pPr algn="just">
              <a:lnSpc>
                <a:spcPct val="150000"/>
              </a:lnSpc>
            </a:pPr>
            <a:r>
              <a:rPr lang="en-US" dirty="0">
                <a:solidFill>
                  <a:srgbClr val="444444"/>
                </a:solidFill>
                <a:latin typeface="Georgia" panose="02040502050405020303" pitchFamily="18" charset="0"/>
              </a:rPr>
              <a:t>Notice, that there are many tables which we didn’t create but are inside our database. They are all </a:t>
            </a:r>
            <a:r>
              <a:rPr lang="en-US" b="1" dirty="0" err="1">
                <a:solidFill>
                  <a:srgbClr val="444444"/>
                </a:solidFill>
                <a:latin typeface="Georgia" panose="02040502050405020303" pitchFamily="18" charset="0"/>
              </a:rPr>
              <a:t>django.contrib</a:t>
            </a:r>
            <a:r>
              <a:rPr lang="en-US" dirty="0">
                <a:solidFill>
                  <a:srgbClr val="444444"/>
                </a:solidFill>
                <a:latin typeface="Georgia" panose="02040502050405020303" pitchFamily="18" charset="0"/>
              </a:rPr>
              <a:t> package’s imported models tables. </a:t>
            </a:r>
            <a:r>
              <a:rPr lang="en-US" b="1" dirty="0" err="1">
                <a:solidFill>
                  <a:srgbClr val="444444"/>
                </a:solidFill>
                <a:latin typeface="Georgia" panose="02040502050405020303" pitchFamily="18" charset="0"/>
              </a:rPr>
              <a:t>django.contrib</a:t>
            </a:r>
            <a:r>
              <a:rPr lang="en-US" dirty="0">
                <a:solidFill>
                  <a:srgbClr val="444444"/>
                </a:solidFill>
                <a:latin typeface="Georgia" panose="02040502050405020303" pitchFamily="18" charset="0"/>
              </a:rPr>
              <a:t> is a package for Django which is comparable to the relation of standard </a:t>
            </a:r>
            <a:r>
              <a:rPr lang="en-US" b="1" u="sng" dirty="0">
                <a:solidFill>
                  <a:srgbClr val="65ABF6"/>
                </a:solidFill>
                <a:latin typeface="Georgia" panose="02040502050405020303" pitchFamily="18" charset="0"/>
                <a:hlinkClick r:id="rId2"/>
              </a:rPr>
              <a:t>library with Python</a:t>
            </a:r>
            <a:r>
              <a:rPr lang="en-US" dirty="0">
                <a:solidFill>
                  <a:srgbClr val="444444"/>
                </a:solidFill>
                <a:latin typeface="Georgia" panose="02040502050405020303" pitchFamily="18" charset="0"/>
              </a:rPr>
              <a:t>. Almost all the functionality we need is already on the </a:t>
            </a:r>
            <a:r>
              <a:rPr lang="en-US" dirty="0" err="1">
                <a:solidFill>
                  <a:srgbClr val="444444"/>
                </a:solidFill>
                <a:latin typeface="Georgia" panose="02040502050405020303" pitchFamily="18" charset="0"/>
              </a:rPr>
              <a:t>django.contrib</a:t>
            </a:r>
            <a:r>
              <a:rPr lang="en-US" dirty="0">
                <a:solidFill>
                  <a:srgbClr val="444444"/>
                </a:solidFill>
                <a:latin typeface="Georgia" panose="02040502050405020303" pitchFamily="18" charset="0"/>
              </a:rPr>
              <a:t> package.</a:t>
            </a:r>
            <a:endParaRPr lang="en-US" dirty="0"/>
          </a:p>
        </p:txBody>
      </p:sp>
    </p:spTree>
    <p:extLst>
      <p:ext uri="{BB962C8B-B14F-4D97-AF65-F5344CB8AC3E}">
        <p14:creationId xmlns:p14="http://schemas.microsoft.com/office/powerpoint/2010/main" val="223122626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2E3EE-8D56-4120-8E33-5D98A47173A8}"/>
              </a:ext>
            </a:extLst>
          </p:cNvPr>
          <p:cNvSpPr>
            <a:spLocks noGrp="1"/>
          </p:cNvSpPr>
          <p:nvPr>
            <p:ph type="title"/>
          </p:nvPr>
        </p:nvSpPr>
        <p:spPr/>
        <p:txBody>
          <a:bodyPr/>
          <a:lstStyle/>
          <a:p>
            <a:r>
              <a:rPr lang="en-US" dirty="0"/>
              <a:t>Continue…</a:t>
            </a:r>
          </a:p>
        </p:txBody>
      </p:sp>
      <p:sp>
        <p:nvSpPr>
          <p:cNvPr id="3" name="Slide Number Placeholder 2">
            <a:extLst>
              <a:ext uri="{FF2B5EF4-FFF2-40B4-BE49-F238E27FC236}">
                <a16:creationId xmlns:a16="http://schemas.microsoft.com/office/drawing/2014/main" id="{BF72C0F1-CA21-4002-B39E-DA5A0F61D4DD}"/>
              </a:ext>
            </a:extLst>
          </p:cNvPr>
          <p:cNvSpPr>
            <a:spLocks noGrp="1"/>
          </p:cNvSpPr>
          <p:nvPr>
            <p:ph type="sldNum" sz="quarter" idx="12"/>
          </p:nvPr>
        </p:nvSpPr>
        <p:spPr/>
        <p:txBody>
          <a:bodyPr/>
          <a:lstStyle/>
          <a:p>
            <a:fld id="{0D6F892B-1791-4F93-8AFD-83813F10F54D}" type="slidenum">
              <a:rPr lang="en-US" smtClean="0"/>
              <a:t>20</a:t>
            </a:fld>
            <a:endParaRPr lang="en-US"/>
          </a:p>
        </p:txBody>
      </p:sp>
      <p:sp>
        <p:nvSpPr>
          <p:cNvPr id="4" name="Rectangle 3">
            <a:extLst>
              <a:ext uri="{FF2B5EF4-FFF2-40B4-BE49-F238E27FC236}">
                <a16:creationId xmlns:a16="http://schemas.microsoft.com/office/drawing/2014/main" id="{9C643097-CF25-4552-8E26-E87E7F3553C1}"/>
              </a:ext>
            </a:extLst>
          </p:cNvPr>
          <p:cNvSpPr/>
          <p:nvPr/>
        </p:nvSpPr>
        <p:spPr>
          <a:xfrm>
            <a:off x="1154954" y="2320879"/>
            <a:ext cx="7114403" cy="1426416"/>
          </a:xfrm>
          <a:prstGeom prst="rect">
            <a:avLst/>
          </a:prstGeom>
        </p:spPr>
        <p:txBody>
          <a:bodyPr wrap="square">
            <a:spAutoFit/>
          </a:bodyPr>
          <a:lstStyle/>
          <a:p>
            <a:pPr>
              <a:lnSpc>
                <a:spcPct val="150000"/>
              </a:lnSpc>
            </a:pPr>
            <a:r>
              <a:rPr lang="en-US" sz="2400" b="1" dirty="0">
                <a:solidFill>
                  <a:srgbClr val="444444"/>
                </a:solidFill>
                <a:latin typeface="Georgia" panose="02040502050405020303" pitchFamily="18" charset="0"/>
              </a:rPr>
              <a:t>Step 9:</a:t>
            </a:r>
            <a:endParaRPr lang="en-US" sz="2400" dirty="0">
              <a:solidFill>
                <a:srgbClr val="444444"/>
              </a:solidFill>
              <a:latin typeface="Georgia" panose="02040502050405020303" pitchFamily="18" charset="0"/>
            </a:endParaRPr>
          </a:p>
          <a:p>
            <a:pPr algn="just">
              <a:lnSpc>
                <a:spcPct val="150000"/>
              </a:lnSpc>
            </a:pPr>
            <a:r>
              <a:rPr lang="en-US" dirty="0">
                <a:solidFill>
                  <a:srgbClr val="444444"/>
                </a:solidFill>
                <a:latin typeface="Georgia" panose="02040502050405020303" pitchFamily="18" charset="0"/>
              </a:rPr>
              <a:t>Now open the file admin.py of your app. The directory structure should be like this.</a:t>
            </a:r>
            <a:endParaRPr lang="en-US" dirty="0"/>
          </a:p>
        </p:txBody>
      </p:sp>
      <p:pic>
        <p:nvPicPr>
          <p:cNvPr id="6" name="Picture 5">
            <a:extLst>
              <a:ext uri="{FF2B5EF4-FFF2-40B4-BE49-F238E27FC236}">
                <a16:creationId xmlns:a16="http://schemas.microsoft.com/office/drawing/2014/main" id="{51AA033D-8C35-4840-B5C7-E1AC428155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535414" y="2734697"/>
            <a:ext cx="2501632" cy="3705776"/>
          </a:xfrm>
          <a:prstGeom prst="rect">
            <a:avLst/>
          </a:prstGeom>
          <a:ln>
            <a:solidFill>
              <a:schemeClr val="tx1"/>
            </a:solidFill>
          </a:ln>
        </p:spPr>
      </p:pic>
      <p:sp>
        <p:nvSpPr>
          <p:cNvPr id="7" name="Rectangle 6">
            <a:extLst>
              <a:ext uri="{FF2B5EF4-FFF2-40B4-BE49-F238E27FC236}">
                <a16:creationId xmlns:a16="http://schemas.microsoft.com/office/drawing/2014/main" id="{2768C389-790B-40A1-A5DD-6F34551D8DF2}"/>
              </a:ext>
            </a:extLst>
          </p:cNvPr>
          <p:cNvSpPr/>
          <p:nvPr/>
        </p:nvSpPr>
        <p:spPr>
          <a:xfrm>
            <a:off x="1154953" y="3882083"/>
            <a:ext cx="7114403" cy="1010918"/>
          </a:xfrm>
          <a:prstGeom prst="rect">
            <a:avLst/>
          </a:prstGeom>
        </p:spPr>
        <p:txBody>
          <a:bodyPr wrap="square">
            <a:spAutoFit/>
          </a:bodyPr>
          <a:lstStyle/>
          <a:p>
            <a:pPr>
              <a:lnSpc>
                <a:spcPct val="150000"/>
              </a:lnSpc>
            </a:pPr>
            <a:r>
              <a:rPr lang="en-US" sz="2400" b="1" dirty="0">
                <a:solidFill>
                  <a:srgbClr val="444444"/>
                </a:solidFill>
                <a:latin typeface="Georgia" panose="02040502050405020303" pitchFamily="18" charset="0"/>
              </a:rPr>
              <a:t>Step 10:</a:t>
            </a:r>
            <a:endParaRPr lang="en-US" sz="2400" dirty="0">
              <a:solidFill>
                <a:srgbClr val="444444"/>
              </a:solidFill>
              <a:latin typeface="Georgia" panose="02040502050405020303" pitchFamily="18" charset="0"/>
            </a:endParaRPr>
          </a:p>
          <a:p>
            <a:pPr>
              <a:lnSpc>
                <a:spcPct val="150000"/>
              </a:lnSpc>
            </a:pPr>
            <a:r>
              <a:rPr lang="en-US" dirty="0">
                <a:solidFill>
                  <a:srgbClr val="444444"/>
                </a:solidFill>
                <a:latin typeface="Georgia" panose="02040502050405020303" pitchFamily="18" charset="0"/>
              </a:rPr>
              <a:t>Open the admin.py file and type in these two lines for register model</a:t>
            </a:r>
            <a:endParaRPr lang="en-US" dirty="0"/>
          </a:p>
        </p:txBody>
      </p:sp>
      <p:sp>
        <p:nvSpPr>
          <p:cNvPr id="8" name="Rectangle 7">
            <a:extLst>
              <a:ext uri="{FF2B5EF4-FFF2-40B4-BE49-F238E27FC236}">
                <a16:creationId xmlns:a16="http://schemas.microsoft.com/office/drawing/2014/main" id="{C437028C-A31E-4C53-9FFC-E5C2150ABB47}"/>
              </a:ext>
            </a:extLst>
          </p:cNvPr>
          <p:cNvSpPr/>
          <p:nvPr/>
        </p:nvSpPr>
        <p:spPr>
          <a:xfrm>
            <a:off x="1260969" y="5238001"/>
            <a:ext cx="3048000" cy="88004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a:spAutoFit/>
          </a:bodyPr>
          <a:lstStyle/>
          <a:p>
            <a:pPr fontAlgn="base">
              <a:lnSpc>
                <a:spcPct val="150000"/>
              </a:lnSpc>
            </a:pPr>
            <a:r>
              <a:rPr lang="en-US" dirty="0">
                <a:solidFill>
                  <a:schemeClr val="bg1"/>
                </a:solidFill>
                <a:latin typeface="inherit"/>
              </a:rPr>
              <a:t>from .models import Student</a:t>
            </a:r>
            <a:endParaRPr lang="en-US" dirty="0">
              <a:solidFill>
                <a:schemeClr val="bg1"/>
              </a:solidFill>
              <a:latin typeface="Source Code Pro"/>
            </a:endParaRPr>
          </a:p>
          <a:p>
            <a:pPr fontAlgn="base">
              <a:lnSpc>
                <a:spcPct val="150000"/>
              </a:lnSpc>
            </a:pPr>
            <a:r>
              <a:rPr lang="en-US" dirty="0" err="1">
                <a:solidFill>
                  <a:schemeClr val="bg1"/>
                </a:solidFill>
                <a:latin typeface="inherit"/>
              </a:rPr>
              <a:t>admin.site.register</a:t>
            </a:r>
            <a:r>
              <a:rPr lang="en-US" dirty="0">
                <a:solidFill>
                  <a:schemeClr val="bg1"/>
                </a:solidFill>
                <a:latin typeface="inherit"/>
              </a:rPr>
              <a:t>(Student)</a:t>
            </a:r>
            <a:endParaRPr lang="en-US" b="0" i="0" dirty="0">
              <a:solidFill>
                <a:schemeClr val="bg1"/>
              </a:solidFill>
              <a:effectLst/>
              <a:latin typeface="Source Code Pro"/>
            </a:endParaRPr>
          </a:p>
        </p:txBody>
      </p:sp>
    </p:spTree>
    <p:extLst>
      <p:ext uri="{BB962C8B-B14F-4D97-AF65-F5344CB8AC3E}">
        <p14:creationId xmlns:p14="http://schemas.microsoft.com/office/powerpoint/2010/main" val="33406731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875121-5C10-466D-942C-366941BD56ED}"/>
              </a:ext>
            </a:extLst>
          </p:cNvPr>
          <p:cNvSpPr>
            <a:spLocks noGrp="1"/>
          </p:cNvSpPr>
          <p:nvPr>
            <p:ph type="title"/>
          </p:nvPr>
        </p:nvSpPr>
        <p:spPr/>
        <p:txBody>
          <a:bodyPr/>
          <a:lstStyle/>
          <a:p>
            <a:r>
              <a:rPr lang="en-US" dirty="0"/>
              <a:t>What is Super User.?</a:t>
            </a:r>
          </a:p>
        </p:txBody>
      </p:sp>
      <p:sp>
        <p:nvSpPr>
          <p:cNvPr id="3" name="Slide Number Placeholder 2">
            <a:extLst>
              <a:ext uri="{FF2B5EF4-FFF2-40B4-BE49-F238E27FC236}">
                <a16:creationId xmlns:a16="http://schemas.microsoft.com/office/drawing/2014/main" id="{2424FB0E-F8ED-4CAC-8EF3-192FE501EE2A}"/>
              </a:ext>
            </a:extLst>
          </p:cNvPr>
          <p:cNvSpPr>
            <a:spLocks noGrp="1"/>
          </p:cNvSpPr>
          <p:nvPr>
            <p:ph type="sldNum" sz="quarter" idx="12"/>
          </p:nvPr>
        </p:nvSpPr>
        <p:spPr/>
        <p:txBody>
          <a:bodyPr/>
          <a:lstStyle/>
          <a:p>
            <a:fld id="{0D6F892B-1791-4F93-8AFD-83813F10F54D}" type="slidenum">
              <a:rPr lang="en-US" smtClean="0"/>
              <a:t>21</a:t>
            </a:fld>
            <a:endParaRPr lang="en-US"/>
          </a:p>
        </p:txBody>
      </p:sp>
      <p:sp>
        <p:nvSpPr>
          <p:cNvPr id="4" name="Rectangle 3">
            <a:extLst>
              <a:ext uri="{FF2B5EF4-FFF2-40B4-BE49-F238E27FC236}">
                <a16:creationId xmlns:a16="http://schemas.microsoft.com/office/drawing/2014/main" id="{43D8AA39-76B6-4B12-B9AD-A03EC5EC568D}"/>
              </a:ext>
            </a:extLst>
          </p:cNvPr>
          <p:cNvSpPr/>
          <p:nvPr/>
        </p:nvSpPr>
        <p:spPr>
          <a:xfrm>
            <a:off x="1154954" y="2379975"/>
            <a:ext cx="10035785" cy="3504357"/>
          </a:xfrm>
          <a:prstGeom prst="rect">
            <a:avLst/>
          </a:prstGeom>
        </p:spPr>
        <p:txBody>
          <a:bodyPr wrap="square">
            <a:spAutoFit/>
          </a:bodyPr>
          <a:lstStyle/>
          <a:p>
            <a:pPr algn="just" fontAlgn="base">
              <a:lnSpc>
                <a:spcPct val="150000"/>
              </a:lnSpc>
            </a:pPr>
            <a:r>
              <a:rPr lang="en-US" dirty="0">
                <a:solidFill>
                  <a:srgbClr val="444444"/>
                </a:solidFill>
                <a:latin typeface="Georgia" panose="02040502050405020303" pitchFamily="18" charset="0"/>
              </a:rPr>
              <a:t>It is basically the credentials of the admin for your website, which can do any data manipulation and content manipulation related to your website.</a:t>
            </a:r>
          </a:p>
          <a:p>
            <a:pPr algn="just" fontAlgn="base"/>
            <a:endParaRPr lang="en-US" dirty="0">
              <a:solidFill>
                <a:srgbClr val="444444"/>
              </a:solidFill>
              <a:latin typeface="Georgia" panose="02040502050405020303" pitchFamily="18" charset="0"/>
            </a:endParaRPr>
          </a:p>
          <a:p>
            <a:pPr algn="just" fontAlgn="base">
              <a:lnSpc>
                <a:spcPct val="150000"/>
              </a:lnSpc>
            </a:pPr>
            <a:r>
              <a:rPr lang="en-US" dirty="0">
                <a:solidFill>
                  <a:srgbClr val="444444"/>
                </a:solidFill>
                <a:latin typeface="Georgia" panose="02040502050405020303" pitchFamily="18" charset="0"/>
              </a:rPr>
              <a:t>Also, note that you should never share the superuser credentials with anyone, as it is the main controller of your website. When the website goes live, it is vital information for maintaining and controlling your website.</a:t>
            </a:r>
          </a:p>
          <a:p>
            <a:pPr algn="just" fontAlgn="base"/>
            <a:endParaRPr lang="en-US" dirty="0">
              <a:solidFill>
                <a:srgbClr val="444444"/>
              </a:solidFill>
              <a:latin typeface="Georgia" panose="02040502050405020303" pitchFamily="18" charset="0"/>
            </a:endParaRPr>
          </a:p>
          <a:p>
            <a:pPr algn="just" fontAlgn="base">
              <a:lnSpc>
                <a:spcPct val="150000"/>
              </a:lnSpc>
            </a:pPr>
            <a:r>
              <a:rPr lang="en-US" dirty="0">
                <a:solidFill>
                  <a:srgbClr val="444444"/>
                </a:solidFill>
                <a:latin typeface="Georgia" panose="02040502050405020303" pitchFamily="18" charset="0"/>
              </a:rPr>
              <a:t>After successfully creating the superuser we are now going to log in to that admin page to start your Django server again.</a:t>
            </a:r>
            <a:endParaRPr lang="en-US" b="0" i="0" dirty="0">
              <a:solidFill>
                <a:srgbClr val="444444"/>
              </a:solidFill>
              <a:effectLst/>
              <a:latin typeface="Georgia" panose="02040502050405020303" pitchFamily="18" charset="0"/>
            </a:endParaRPr>
          </a:p>
        </p:txBody>
      </p:sp>
    </p:spTree>
    <p:extLst>
      <p:ext uri="{BB962C8B-B14F-4D97-AF65-F5344CB8AC3E}">
        <p14:creationId xmlns:p14="http://schemas.microsoft.com/office/powerpoint/2010/main" val="1469484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928E32-8C1E-45F9-B41D-197FF0EAE799}"/>
              </a:ext>
            </a:extLst>
          </p:cNvPr>
          <p:cNvSpPr>
            <a:spLocks noGrp="1"/>
          </p:cNvSpPr>
          <p:nvPr>
            <p:ph type="title"/>
          </p:nvPr>
        </p:nvSpPr>
        <p:spPr/>
        <p:txBody>
          <a:bodyPr/>
          <a:lstStyle/>
          <a:p>
            <a:r>
              <a:rPr lang="en-US" dirty="0"/>
              <a:t>Create Super User</a:t>
            </a:r>
          </a:p>
        </p:txBody>
      </p:sp>
      <p:sp>
        <p:nvSpPr>
          <p:cNvPr id="3" name="Slide Number Placeholder 2">
            <a:extLst>
              <a:ext uri="{FF2B5EF4-FFF2-40B4-BE49-F238E27FC236}">
                <a16:creationId xmlns:a16="http://schemas.microsoft.com/office/drawing/2014/main" id="{FBC931B0-1D14-453C-A7D2-DEB0FA1746DF}"/>
              </a:ext>
            </a:extLst>
          </p:cNvPr>
          <p:cNvSpPr>
            <a:spLocks noGrp="1"/>
          </p:cNvSpPr>
          <p:nvPr>
            <p:ph type="sldNum" sz="quarter" idx="12"/>
          </p:nvPr>
        </p:nvSpPr>
        <p:spPr/>
        <p:txBody>
          <a:bodyPr/>
          <a:lstStyle/>
          <a:p>
            <a:fld id="{0D6F892B-1791-4F93-8AFD-83813F10F54D}" type="slidenum">
              <a:rPr lang="en-US" smtClean="0"/>
              <a:t>22</a:t>
            </a:fld>
            <a:endParaRPr lang="en-US"/>
          </a:p>
        </p:txBody>
      </p:sp>
      <p:sp>
        <p:nvSpPr>
          <p:cNvPr id="4" name="TextBox 3">
            <a:extLst>
              <a:ext uri="{FF2B5EF4-FFF2-40B4-BE49-F238E27FC236}">
                <a16:creationId xmlns:a16="http://schemas.microsoft.com/office/drawing/2014/main" id="{F87F5018-11DD-4B80-92B9-7D59BBFEFC6B}"/>
              </a:ext>
            </a:extLst>
          </p:cNvPr>
          <p:cNvSpPr txBox="1"/>
          <p:nvPr/>
        </p:nvSpPr>
        <p:spPr>
          <a:xfrm>
            <a:off x="1434250" y="2655758"/>
            <a:ext cx="5324360" cy="45518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pPr algn="l">
              <a:lnSpc>
                <a:spcPct val="150000"/>
              </a:lnSpc>
            </a:pPr>
            <a:r>
              <a:rPr lang="en-US" b="1" dirty="0">
                <a:solidFill>
                  <a:srgbClr val="002060"/>
                </a:solidFill>
              </a:rPr>
              <a:t>&gt;&gt;&gt; python manage.py </a:t>
            </a:r>
            <a:r>
              <a:rPr lang="en-US" b="1" dirty="0" err="1">
                <a:solidFill>
                  <a:srgbClr val="002060"/>
                </a:solidFill>
              </a:rPr>
              <a:t>createsuperuser</a:t>
            </a:r>
            <a:endParaRPr lang="en-US" b="1" dirty="0">
              <a:solidFill>
                <a:srgbClr val="002060"/>
              </a:solidFill>
            </a:endParaRPr>
          </a:p>
        </p:txBody>
      </p:sp>
      <p:sp>
        <p:nvSpPr>
          <p:cNvPr id="5" name="TextBox 4">
            <a:extLst>
              <a:ext uri="{FF2B5EF4-FFF2-40B4-BE49-F238E27FC236}">
                <a16:creationId xmlns:a16="http://schemas.microsoft.com/office/drawing/2014/main" id="{0E902A98-70A6-4B12-B4D8-7F40EA282739}"/>
              </a:ext>
            </a:extLst>
          </p:cNvPr>
          <p:cNvSpPr txBox="1"/>
          <p:nvPr/>
        </p:nvSpPr>
        <p:spPr>
          <a:xfrm>
            <a:off x="1298411" y="3429000"/>
            <a:ext cx="8617956" cy="1286186"/>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Enter “</a:t>
            </a:r>
            <a:r>
              <a:rPr lang="en-US" b="1" dirty="0"/>
              <a:t>username</a:t>
            </a:r>
            <a:r>
              <a:rPr lang="en-US" dirty="0"/>
              <a:t>” and “</a:t>
            </a:r>
            <a:r>
              <a:rPr lang="en-US" b="1" dirty="0"/>
              <a:t>Email</a:t>
            </a:r>
            <a:r>
              <a:rPr lang="en-US" dirty="0"/>
              <a:t>”.</a:t>
            </a:r>
          </a:p>
          <a:p>
            <a:pPr marL="285750" indent="-285750">
              <a:lnSpc>
                <a:spcPct val="150000"/>
              </a:lnSpc>
              <a:buFont typeface="Wingdings" panose="05000000000000000000" pitchFamily="2" charset="2"/>
              <a:buChar char="ü"/>
            </a:pPr>
            <a:r>
              <a:rPr lang="en-US" dirty="0"/>
              <a:t>Enter “</a:t>
            </a:r>
            <a:r>
              <a:rPr lang="en-US" b="1" dirty="0"/>
              <a:t>password</a:t>
            </a:r>
            <a:r>
              <a:rPr lang="en-US" dirty="0"/>
              <a:t>” and write “</a:t>
            </a:r>
            <a:r>
              <a:rPr lang="en-US" b="1" dirty="0"/>
              <a:t>Y</a:t>
            </a:r>
            <a:r>
              <a:rPr lang="en-US" dirty="0"/>
              <a:t>” for creating a super user.</a:t>
            </a:r>
          </a:p>
          <a:p>
            <a:pPr marL="285750" indent="-285750">
              <a:lnSpc>
                <a:spcPct val="150000"/>
              </a:lnSpc>
              <a:buFont typeface="Wingdings" panose="05000000000000000000" pitchFamily="2" charset="2"/>
              <a:buChar char="ü"/>
            </a:pPr>
            <a:r>
              <a:rPr lang="en-US" dirty="0"/>
              <a:t>Your Super User Created Successfully</a:t>
            </a:r>
          </a:p>
        </p:txBody>
      </p:sp>
    </p:spTree>
    <p:extLst>
      <p:ext uri="{BB962C8B-B14F-4D97-AF65-F5344CB8AC3E}">
        <p14:creationId xmlns:p14="http://schemas.microsoft.com/office/powerpoint/2010/main" val="23284821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98FD1-0FDC-418F-B5AA-88CAA9D08EEF}"/>
              </a:ext>
            </a:extLst>
          </p:cNvPr>
          <p:cNvSpPr>
            <a:spLocks noGrp="1"/>
          </p:cNvSpPr>
          <p:nvPr>
            <p:ph type="title"/>
          </p:nvPr>
        </p:nvSpPr>
        <p:spPr/>
        <p:txBody>
          <a:bodyPr/>
          <a:lstStyle/>
          <a:p>
            <a:r>
              <a:rPr lang="en-US" dirty="0"/>
              <a:t>Admin Login (Super User)</a:t>
            </a:r>
          </a:p>
        </p:txBody>
      </p:sp>
      <p:sp>
        <p:nvSpPr>
          <p:cNvPr id="3" name="Slide Number Placeholder 2">
            <a:extLst>
              <a:ext uri="{FF2B5EF4-FFF2-40B4-BE49-F238E27FC236}">
                <a16:creationId xmlns:a16="http://schemas.microsoft.com/office/drawing/2014/main" id="{08CECCEA-8A46-4FF0-9A30-1A625F5FAFA8}"/>
              </a:ext>
            </a:extLst>
          </p:cNvPr>
          <p:cNvSpPr>
            <a:spLocks noGrp="1"/>
          </p:cNvSpPr>
          <p:nvPr>
            <p:ph type="sldNum" sz="quarter" idx="12"/>
          </p:nvPr>
        </p:nvSpPr>
        <p:spPr/>
        <p:txBody>
          <a:bodyPr/>
          <a:lstStyle/>
          <a:p>
            <a:fld id="{0D6F892B-1791-4F93-8AFD-83813F10F54D}" type="slidenum">
              <a:rPr lang="en-US" smtClean="0"/>
              <a:t>23</a:t>
            </a:fld>
            <a:endParaRPr lang="en-US"/>
          </a:p>
        </p:txBody>
      </p:sp>
      <p:sp>
        <p:nvSpPr>
          <p:cNvPr id="4" name="TextBox 3">
            <a:extLst>
              <a:ext uri="{FF2B5EF4-FFF2-40B4-BE49-F238E27FC236}">
                <a16:creationId xmlns:a16="http://schemas.microsoft.com/office/drawing/2014/main" id="{B6A49482-AE1F-4AB8-81F2-B915DA53F0C4}"/>
              </a:ext>
            </a:extLst>
          </p:cNvPr>
          <p:cNvSpPr txBox="1"/>
          <p:nvPr/>
        </p:nvSpPr>
        <p:spPr>
          <a:xfrm>
            <a:off x="1298410" y="2382078"/>
            <a:ext cx="9184059" cy="870688"/>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The following image show that how the super user login to Django Dashboard.</a:t>
            </a:r>
          </a:p>
          <a:p>
            <a:pPr marL="285750" indent="-285750">
              <a:lnSpc>
                <a:spcPct val="150000"/>
              </a:lnSpc>
              <a:buFont typeface="Wingdings" panose="05000000000000000000" pitchFamily="2" charset="2"/>
              <a:buChar char="ü"/>
            </a:pPr>
            <a:r>
              <a:rPr lang="en-US" dirty="0"/>
              <a:t>Enter Username and Password then click to login.</a:t>
            </a:r>
          </a:p>
        </p:txBody>
      </p:sp>
      <p:pic>
        <p:nvPicPr>
          <p:cNvPr id="8" name="Picture 7">
            <a:extLst>
              <a:ext uri="{FF2B5EF4-FFF2-40B4-BE49-F238E27FC236}">
                <a16:creationId xmlns:a16="http://schemas.microsoft.com/office/drawing/2014/main" id="{9528887C-E675-4307-9505-29391DB010B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4183" y="3605235"/>
            <a:ext cx="3962953" cy="2915057"/>
          </a:xfrm>
          <a:prstGeom prst="rect">
            <a:avLst/>
          </a:prstGeom>
          <a:ln>
            <a:solidFill>
              <a:schemeClr val="tx1"/>
            </a:solidFill>
          </a:ln>
        </p:spPr>
      </p:pic>
    </p:spTree>
    <p:extLst>
      <p:ext uri="{BB962C8B-B14F-4D97-AF65-F5344CB8AC3E}">
        <p14:creationId xmlns:p14="http://schemas.microsoft.com/office/powerpoint/2010/main" val="14072167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62EF30-4498-4A85-A01E-A792BF52989F}"/>
              </a:ext>
            </a:extLst>
          </p:cNvPr>
          <p:cNvSpPr>
            <a:spLocks noGrp="1"/>
          </p:cNvSpPr>
          <p:nvPr>
            <p:ph type="title"/>
          </p:nvPr>
        </p:nvSpPr>
        <p:spPr/>
        <p:txBody>
          <a:bodyPr/>
          <a:lstStyle/>
          <a:p>
            <a:r>
              <a:rPr lang="en-US" dirty="0"/>
              <a:t>Django Admin Dashboard image</a:t>
            </a:r>
          </a:p>
        </p:txBody>
      </p:sp>
      <p:sp>
        <p:nvSpPr>
          <p:cNvPr id="3" name="Slide Number Placeholder 2">
            <a:extLst>
              <a:ext uri="{FF2B5EF4-FFF2-40B4-BE49-F238E27FC236}">
                <a16:creationId xmlns:a16="http://schemas.microsoft.com/office/drawing/2014/main" id="{DA239137-D0E5-4FCF-81A9-89E25DE835D3}"/>
              </a:ext>
            </a:extLst>
          </p:cNvPr>
          <p:cNvSpPr>
            <a:spLocks noGrp="1"/>
          </p:cNvSpPr>
          <p:nvPr>
            <p:ph type="sldNum" sz="quarter" idx="12"/>
          </p:nvPr>
        </p:nvSpPr>
        <p:spPr/>
        <p:txBody>
          <a:bodyPr/>
          <a:lstStyle/>
          <a:p>
            <a:fld id="{0D6F892B-1791-4F93-8AFD-83813F10F54D}" type="slidenum">
              <a:rPr lang="en-US" smtClean="0"/>
              <a:t>24</a:t>
            </a:fld>
            <a:endParaRPr lang="en-US"/>
          </a:p>
        </p:txBody>
      </p:sp>
      <p:pic>
        <p:nvPicPr>
          <p:cNvPr id="5" name="Picture 4">
            <a:extLst>
              <a:ext uri="{FF2B5EF4-FFF2-40B4-BE49-F238E27FC236}">
                <a16:creationId xmlns:a16="http://schemas.microsoft.com/office/drawing/2014/main" id="{DEB41ED1-131A-4675-8AF0-EBF4884BC7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71600" y="2746452"/>
            <a:ext cx="9448800" cy="2167156"/>
          </a:xfrm>
          <a:prstGeom prst="rect">
            <a:avLst/>
          </a:prstGeom>
          <a:ln>
            <a:solidFill>
              <a:schemeClr val="tx1"/>
            </a:solidFill>
          </a:ln>
        </p:spPr>
      </p:pic>
    </p:spTree>
    <p:extLst>
      <p:ext uri="{BB962C8B-B14F-4D97-AF65-F5344CB8AC3E}">
        <p14:creationId xmlns:p14="http://schemas.microsoft.com/office/powerpoint/2010/main" val="266485933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E4D3-A608-4F6D-B2F0-10EA3C35E7B6}"/>
              </a:ext>
            </a:extLst>
          </p:cNvPr>
          <p:cNvSpPr>
            <a:spLocks noGrp="1"/>
          </p:cNvSpPr>
          <p:nvPr>
            <p:ph type="title"/>
          </p:nvPr>
        </p:nvSpPr>
        <p:spPr/>
        <p:txBody>
          <a:bodyPr/>
          <a:lstStyle/>
          <a:p>
            <a:r>
              <a:rPr lang="en-US" dirty="0"/>
              <a:t>Register Your Model</a:t>
            </a:r>
          </a:p>
        </p:txBody>
      </p:sp>
      <p:sp>
        <p:nvSpPr>
          <p:cNvPr id="3" name="Slide Number Placeholder 2">
            <a:extLst>
              <a:ext uri="{FF2B5EF4-FFF2-40B4-BE49-F238E27FC236}">
                <a16:creationId xmlns:a16="http://schemas.microsoft.com/office/drawing/2014/main" id="{55FC8A64-0273-4587-A049-1965FE156FAA}"/>
              </a:ext>
            </a:extLst>
          </p:cNvPr>
          <p:cNvSpPr>
            <a:spLocks noGrp="1"/>
          </p:cNvSpPr>
          <p:nvPr>
            <p:ph type="sldNum" sz="quarter" idx="12"/>
          </p:nvPr>
        </p:nvSpPr>
        <p:spPr/>
        <p:txBody>
          <a:bodyPr/>
          <a:lstStyle/>
          <a:p>
            <a:fld id="{0D6F892B-1791-4F93-8AFD-83813F10F54D}" type="slidenum">
              <a:rPr lang="en-US" smtClean="0"/>
              <a:t>25</a:t>
            </a:fld>
            <a:endParaRPr lang="en-US"/>
          </a:p>
        </p:txBody>
      </p:sp>
      <p:sp>
        <p:nvSpPr>
          <p:cNvPr id="4" name="TextBox 3">
            <a:extLst>
              <a:ext uri="{FF2B5EF4-FFF2-40B4-BE49-F238E27FC236}">
                <a16:creationId xmlns:a16="http://schemas.microsoft.com/office/drawing/2014/main" id="{A2992BE4-CFCD-4760-86E0-244339F27D8D}"/>
              </a:ext>
            </a:extLst>
          </p:cNvPr>
          <p:cNvSpPr txBox="1"/>
          <p:nvPr/>
        </p:nvSpPr>
        <p:spPr>
          <a:xfrm>
            <a:off x="1298410" y="2382078"/>
            <a:ext cx="9184059" cy="1286186"/>
          </a:xfrm>
          <a:prstGeom prst="rect">
            <a:avLst/>
          </a:prstGeom>
          <a:noFill/>
        </p:spPr>
        <p:txBody>
          <a:bodyPr wrap="square">
            <a:spAutoFit/>
          </a:bodyPr>
          <a:lstStyle/>
          <a:p>
            <a:pPr marL="285750" indent="-285750">
              <a:lnSpc>
                <a:spcPct val="150000"/>
              </a:lnSpc>
              <a:buFont typeface="Wingdings" panose="05000000000000000000" pitchFamily="2" charset="2"/>
              <a:buChar char="ü"/>
            </a:pPr>
            <a:r>
              <a:rPr lang="en-US" dirty="0"/>
              <a:t>You can see the above image of the admin dashboard. But your model is not showing if you want to show your model in admin site:</a:t>
            </a:r>
          </a:p>
          <a:p>
            <a:pPr>
              <a:lnSpc>
                <a:spcPct val="150000"/>
              </a:lnSpc>
            </a:pPr>
            <a:r>
              <a:rPr lang="en-US" dirty="0"/>
              <a:t>     Then Go to the “</a:t>
            </a:r>
            <a:r>
              <a:rPr lang="en-US" b="1" dirty="0"/>
              <a:t>admin.py</a:t>
            </a:r>
            <a:r>
              <a:rPr lang="en-US" dirty="0"/>
              <a:t>” file and write the following code:</a:t>
            </a:r>
          </a:p>
        </p:txBody>
      </p:sp>
      <p:pic>
        <p:nvPicPr>
          <p:cNvPr id="6" name="Picture 5">
            <a:extLst>
              <a:ext uri="{FF2B5EF4-FFF2-40B4-BE49-F238E27FC236}">
                <a16:creationId xmlns:a16="http://schemas.microsoft.com/office/drawing/2014/main" id="{4F267FEA-A326-4A0A-8486-B6CA2E7B92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35608" y="3897828"/>
            <a:ext cx="6745158" cy="2013008"/>
          </a:xfrm>
          <a:prstGeom prst="rect">
            <a:avLst/>
          </a:prstGeom>
          <a:ln>
            <a:solidFill>
              <a:schemeClr val="tx1"/>
            </a:solidFill>
          </a:ln>
        </p:spPr>
      </p:pic>
    </p:spTree>
    <p:extLst>
      <p:ext uri="{BB962C8B-B14F-4D97-AF65-F5344CB8AC3E}">
        <p14:creationId xmlns:p14="http://schemas.microsoft.com/office/powerpoint/2010/main" val="890098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A6C8BF-F743-435C-AAF2-8DB786B044AD}"/>
              </a:ext>
            </a:extLst>
          </p:cNvPr>
          <p:cNvSpPr>
            <a:spLocks noGrp="1"/>
          </p:cNvSpPr>
          <p:nvPr>
            <p:ph type="title"/>
          </p:nvPr>
        </p:nvSpPr>
        <p:spPr/>
        <p:txBody>
          <a:bodyPr/>
          <a:lstStyle/>
          <a:p>
            <a:r>
              <a:rPr lang="en-US" dirty="0"/>
              <a:t>Here’s Your Model</a:t>
            </a:r>
          </a:p>
        </p:txBody>
      </p:sp>
      <p:sp>
        <p:nvSpPr>
          <p:cNvPr id="3" name="Slide Number Placeholder 2">
            <a:extLst>
              <a:ext uri="{FF2B5EF4-FFF2-40B4-BE49-F238E27FC236}">
                <a16:creationId xmlns:a16="http://schemas.microsoft.com/office/drawing/2014/main" id="{7A6B211E-88EA-41A5-A603-AD358F61D682}"/>
              </a:ext>
            </a:extLst>
          </p:cNvPr>
          <p:cNvSpPr>
            <a:spLocks noGrp="1"/>
          </p:cNvSpPr>
          <p:nvPr>
            <p:ph type="sldNum" sz="quarter" idx="12"/>
          </p:nvPr>
        </p:nvSpPr>
        <p:spPr/>
        <p:txBody>
          <a:bodyPr/>
          <a:lstStyle/>
          <a:p>
            <a:fld id="{0D6F892B-1791-4F93-8AFD-83813F10F54D}" type="slidenum">
              <a:rPr lang="en-US" smtClean="0"/>
              <a:t>26</a:t>
            </a:fld>
            <a:endParaRPr lang="en-US"/>
          </a:p>
        </p:txBody>
      </p:sp>
      <p:pic>
        <p:nvPicPr>
          <p:cNvPr id="5" name="Picture 4">
            <a:extLst>
              <a:ext uri="{FF2B5EF4-FFF2-40B4-BE49-F238E27FC236}">
                <a16:creationId xmlns:a16="http://schemas.microsoft.com/office/drawing/2014/main" id="{9315C0B5-6F88-4D3C-BC3F-6C5C9FD116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15293" y="2491185"/>
            <a:ext cx="8761413" cy="3082550"/>
          </a:xfrm>
          <a:prstGeom prst="rect">
            <a:avLst/>
          </a:prstGeom>
          <a:ln>
            <a:solidFill>
              <a:schemeClr val="tx1"/>
            </a:solidFill>
          </a:ln>
        </p:spPr>
      </p:pic>
    </p:spTree>
    <p:extLst>
      <p:ext uri="{BB962C8B-B14F-4D97-AF65-F5344CB8AC3E}">
        <p14:creationId xmlns:p14="http://schemas.microsoft.com/office/powerpoint/2010/main" val="205340236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3FA073-790E-4871-862A-482217EB0F1E}"/>
              </a:ext>
            </a:extLst>
          </p:cNvPr>
          <p:cNvSpPr>
            <a:spLocks noGrp="1"/>
          </p:cNvSpPr>
          <p:nvPr>
            <p:ph type="title"/>
          </p:nvPr>
        </p:nvSpPr>
        <p:spPr/>
        <p:txBody>
          <a:bodyPr/>
          <a:lstStyle/>
          <a:p>
            <a:r>
              <a:rPr lang="en-US" dirty="0"/>
              <a:t>Add Person to Person Model</a:t>
            </a:r>
          </a:p>
        </p:txBody>
      </p:sp>
      <p:sp>
        <p:nvSpPr>
          <p:cNvPr id="3" name="Slide Number Placeholder 2">
            <a:extLst>
              <a:ext uri="{FF2B5EF4-FFF2-40B4-BE49-F238E27FC236}">
                <a16:creationId xmlns:a16="http://schemas.microsoft.com/office/drawing/2014/main" id="{D3BD9FAF-7ACC-4E46-B149-02AE272C2EDB}"/>
              </a:ext>
            </a:extLst>
          </p:cNvPr>
          <p:cNvSpPr>
            <a:spLocks noGrp="1"/>
          </p:cNvSpPr>
          <p:nvPr>
            <p:ph type="sldNum" sz="quarter" idx="12"/>
          </p:nvPr>
        </p:nvSpPr>
        <p:spPr/>
        <p:txBody>
          <a:bodyPr/>
          <a:lstStyle/>
          <a:p>
            <a:fld id="{0D6F892B-1791-4F93-8AFD-83813F10F54D}" type="slidenum">
              <a:rPr lang="en-US" smtClean="0"/>
              <a:t>27</a:t>
            </a:fld>
            <a:endParaRPr lang="en-US"/>
          </a:p>
        </p:txBody>
      </p:sp>
      <p:pic>
        <p:nvPicPr>
          <p:cNvPr id="5" name="Picture 4">
            <a:extLst>
              <a:ext uri="{FF2B5EF4-FFF2-40B4-BE49-F238E27FC236}">
                <a16:creationId xmlns:a16="http://schemas.microsoft.com/office/drawing/2014/main" id="{4EB1BDB1-41FA-4BB7-94FA-2D9A2C7C82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85362" y="2588099"/>
            <a:ext cx="8421275" cy="3086531"/>
          </a:xfrm>
          <a:prstGeom prst="rect">
            <a:avLst/>
          </a:prstGeom>
          <a:ln>
            <a:solidFill>
              <a:schemeClr val="tx1"/>
            </a:solidFill>
          </a:ln>
        </p:spPr>
      </p:pic>
    </p:spTree>
    <p:extLst>
      <p:ext uri="{BB962C8B-B14F-4D97-AF65-F5344CB8AC3E}">
        <p14:creationId xmlns:p14="http://schemas.microsoft.com/office/powerpoint/2010/main" val="23948332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1D228-5A11-4326-9CA3-7EFA8E825D29}"/>
              </a:ext>
            </a:extLst>
          </p:cNvPr>
          <p:cNvSpPr>
            <a:spLocks noGrp="1"/>
          </p:cNvSpPr>
          <p:nvPr>
            <p:ph type="title"/>
          </p:nvPr>
        </p:nvSpPr>
        <p:spPr/>
        <p:txBody>
          <a:bodyPr/>
          <a:lstStyle/>
          <a:p>
            <a:r>
              <a:rPr lang="en-US" dirty="0"/>
              <a:t>List of All Added Persons</a:t>
            </a:r>
          </a:p>
        </p:txBody>
      </p:sp>
      <p:sp>
        <p:nvSpPr>
          <p:cNvPr id="3" name="Slide Number Placeholder 2">
            <a:extLst>
              <a:ext uri="{FF2B5EF4-FFF2-40B4-BE49-F238E27FC236}">
                <a16:creationId xmlns:a16="http://schemas.microsoft.com/office/drawing/2014/main" id="{DFD44AFA-25BB-4707-B044-75A2B7721C98}"/>
              </a:ext>
            </a:extLst>
          </p:cNvPr>
          <p:cNvSpPr>
            <a:spLocks noGrp="1"/>
          </p:cNvSpPr>
          <p:nvPr>
            <p:ph type="sldNum" sz="quarter" idx="12"/>
          </p:nvPr>
        </p:nvSpPr>
        <p:spPr/>
        <p:txBody>
          <a:bodyPr/>
          <a:lstStyle/>
          <a:p>
            <a:fld id="{0D6F892B-1791-4F93-8AFD-83813F10F54D}" type="slidenum">
              <a:rPr lang="en-US" smtClean="0"/>
              <a:t>28</a:t>
            </a:fld>
            <a:endParaRPr lang="en-US"/>
          </a:p>
        </p:txBody>
      </p:sp>
      <p:pic>
        <p:nvPicPr>
          <p:cNvPr id="5" name="Picture 4">
            <a:extLst>
              <a:ext uri="{FF2B5EF4-FFF2-40B4-BE49-F238E27FC236}">
                <a16:creationId xmlns:a16="http://schemas.microsoft.com/office/drawing/2014/main" id="{92DDA199-EBC0-4FE0-A504-50D4024C34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33513" y="2525205"/>
            <a:ext cx="7924973" cy="3432358"/>
          </a:xfrm>
          <a:prstGeom prst="rect">
            <a:avLst/>
          </a:prstGeom>
          <a:ln>
            <a:solidFill>
              <a:schemeClr val="tx1"/>
            </a:solidFill>
          </a:ln>
        </p:spPr>
      </p:pic>
    </p:spTree>
    <p:extLst>
      <p:ext uri="{BB962C8B-B14F-4D97-AF65-F5344CB8AC3E}">
        <p14:creationId xmlns:p14="http://schemas.microsoft.com/office/powerpoint/2010/main" val="177524738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DFEEF-694A-46D1-A4A4-CDB96764CCEB}"/>
              </a:ext>
            </a:extLst>
          </p:cNvPr>
          <p:cNvSpPr>
            <a:spLocks noGrp="1"/>
          </p:cNvSpPr>
          <p:nvPr>
            <p:ph type="title"/>
          </p:nvPr>
        </p:nvSpPr>
        <p:spPr/>
        <p:txBody>
          <a:bodyPr/>
          <a:lstStyle/>
          <a:p>
            <a:r>
              <a:rPr lang="en-US" dirty="0"/>
              <a:t>Field Option</a:t>
            </a:r>
          </a:p>
        </p:txBody>
      </p:sp>
      <p:sp>
        <p:nvSpPr>
          <p:cNvPr id="3" name="Slide Number Placeholder 2">
            <a:extLst>
              <a:ext uri="{FF2B5EF4-FFF2-40B4-BE49-F238E27FC236}">
                <a16:creationId xmlns:a16="http://schemas.microsoft.com/office/drawing/2014/main" id="{CBC483C2-B771-4094-97C4-699FD9D7FCCB}"/>
              </a:ext>
            </a:extLst>
          </p:cNvPr>
          <p:cNvSpPr>
            <a:spLocks noGrp="1"/>
          </p:cNvSpPr>
          <p:nvPr>
            <p:ph type="sldNum" sz="quarter" idx="12"/>
          </p:nvPr>
        </p:nvSpPr>
        <p:spPr/>
        <p:txBody>
          <a:bodyPr/>
          <a:lstStyle/>
          <a:p>
            <a:fld id="{0D6F892B-1791-4F93-8AFD-83813F10F54D}" type="slidenum">
              <a:rPr lang="en-US" smtClean="0"/>
              <a:t>29</a:t>
            </a:fld>
            <a:endParaRPr lang="en-US"/>
          </a:p>
        </p:txBody>
      </p:sp>
      <p:sp>
        <p:nvSpPr>
          <p:cNvPr id="6" name="Rectangle 5">
            <a:extLst>
              <a:ext uri="{FF2B5EF4-FFF2-40B4-BE49-F238E27FC236}">
                <a16:creationId xmlns:a16="http://schemas.microsoft.com/office/drawing/2014/main" id="{C2272074-1FA1-48BF-8D19-5FB0756CD92D}"/>
              </a:ext>
            </a:extLst>
          </p:cNvPr>
          <p:cNvSpPr/>
          <p:nvPr/>
        </p:nvSpPr>
        <p:spPr>
          <a:xfrm>
            <a:off x="900112" y="2483982"/>
            <a:ext cx="10391776" cy="2948179"/>
          </a:xfrm>
          <a:prstGeom prst="rect">
            <a:avLst/>
          </a:prstGeom>
        </p:spPr>
        <p:txBody>
          <a:bodyPr wrap="square">
            <a:spAutoFit/>
          </a:bodyPr>
          <a:lstStyle/>
          <a:p>
            <a:pPr>
              <a:lnSpc>
                <a:spcPct val="150000"/>
              </a:lnSpc>
            </a:pPr>
            <a:r>
              <a:rPr lang="en-US" b="1" dirty="0" err="1">
                <a:hlinkClick r:id="rId2" tooltip="django.db.models.CharField">
                  <a:extLst>
                    <a:ext uri="{A12FA001-AC4F-418D-AE19-62706E023703}">
                      <ahyp:hlinkClr xmlns:ahyp="http://schemas.microsoft.com/office/drawing/2018/hyperlinkcolor" val="tx"/>
                    </a:ext>
                  </a:extLst>
                </a:hlinkClick>
              </a:rPr>
              <a:t>CharField</a:t>
            </a:r>
            <a:r>
              <a:rPr lang="en-US" dirty="0"/>
              <a:t> (and its subclasses) require a </a:t>
            </a:r>
            <a:r>
              <a:rPr lang="en-US" b="1" dirty="0" err="1">
                <a:hlinkClick r:id="rId3" tooltip="django.db.models.CharField.max_length">
                  <a:extLst>
                    <a:ext uri="{A12FA001-AC4F-418D-AE19-62706E023703}">
                      <ahyp:hlinkClr xmlns:ahyp="http://schemas.microsoft.com/office/drawing/2018/hyperlinkcolor" val="tx"/>
                    </a:ext>
                  </a:extLst>
                </a:hlinkClick>
              </a:rPr>
              <a:t>max</a:t>
            </a:r>
            <a:r>
              <a:rPr lang="en-US" dirty="0" err="1">
                <a:hlinkClick r:id="rId3" tooltip="django.db.models.CharField.max_length">
                  <a:extLst>
                    <a:ext uri="{A12FA001-AC4F-418D-AE19-62706E023703}">
                      <ahyp:hlinkClr xmlns:ahyp="http://schemas.microsoft.com/office/drawing/2018/hyperlinkcolor" val="tx"/>
                    </a:ext>
                  </a:extLst>
                </a:hlinkClick>
              </a:rPr>
              <a:t>_</a:t>
            </a:r>
            <a:r>
              <a:rPr lang="en-US" b="1" dirty="0" err="1">
                <a:hlinkClick r:id="rId3" tooltip="django.db.models.CharField.max_length">
                  <a:extLst>
                    <a:ext uri="{A12FA001-AC4F-418D-AE19-62706E023703}">
                      <ahyp:hlinkClr xmlns:ahyp="http://schemas.microsoft.com/office/drawing/2018/hyperlinkcolor" val="tx"/>
                    </a:ext>
                  </a:extLst>
                </a:hlinkClick>
              </a:rPr>
              <a:t>length</a:t>
            </a:r>
            <a:r>
              <a:rPr lang="en-US" dirty="0"/>
              <a:t> argument which specifies the size of the </a:t>
            </a:r>
            <a:r>
              <a:rPr lang="en-US" b="1" dirty="0"/>
              <a:t>VARCHAR</a:t>
            </a:r>
            <a:r>
              <a:rPr lang="en-US" dirty="0"/>
              <a:t> database field used to store the data.</a:t>
            </a:r>
            <a:endParaRPr lang="en-US" dirty="0">
              <a:hlinkClick r:id="rId4" tooltip="django.db.models.Field.null">
                <a:extLst>
                  <a:ext uri="{A12FA001-AC4F-418D-AE19-62706E023703}">
                    <ahyp:hlinkClr xmlns:ahyp="http://schemas.microsoft.com/office/drawing/2018/hyperlinkcolor" val="tx"/>
                  </a:ext>
                </a:extLst>
              </a:hlinkClick>
            </a:endParaRPr>
          </a:p>
          <a:p>
            <a:pPr lvl="0" defTabSz="914400" eaLnBrk="0" fontAlgn="base" hangingPunct="0">
              <a:lnSpc>
                <a:spcPct val="150000"/>
              </a:lnSpc>
              <a:spcBef>
                <a:spcPct val="0"/>
              </a:spcBef>
              <a:spcAft>
                <a:spcPct val="0"/>
              </a:spcAft>
            </a:pPr>
            <a:endParaRPr lang="en-US" dirty="0">
              <a:hlinkClick r:id="rId4" tooltip="django.db.models.Field.null">
                <a:extLst>
                  <a:ext uri="{A12FA001-AC4F-418D-AE19-62706E023703}">
                    <ahyp:hlinkClr xmlns:ahyp="http://schemas.microsoft.com/office/drawing/2018/hyperlinkcolor" val="tx"/>
                  </a:ext>
                </a:extLst>
              </a:hlinkClick>
            </a:endParaRPr>
          </a:p>
          <a:p>
            <a:pPr lvl="0" defTabSz="914400" eaLnBrk="0" fontAlgn="base" hangingPunct="0">
              <a:lnSpc>
                <a:spcPct val="150000"/>
              </a:lnSpc>
              <a:spcBef>
                <a:spcPct val="0"/>
              </a:spcBef>
              <a:spcAft>
                <a:spcPct val="0"/>
              </a:spcAft>
            </a:pPr>
            <a:r>
              <a:rPr lang="en-US" b="1" dirty="0">
                <a:hlinkClick r:id="rId4" tooltip="django.db.models.Field.null">
                  <a:extLst>
                    <a:ext uri="{A12FA001-AC4F-418D-AE19-62706E023703}">
                      <ahyp:hlinkClr xmlns:ahyp="http://schemas.microsoft.com/office/drawing/2018/hyperlinkcolor" val="tx"/>
                    </a:ext>
                  </a:extLst>
                </a:hlinkClick>
              </a:rPr>
              <a:t>Null</a:t>
            </a:r>
            <a:r>
              <a:rPr lang="en-US" dirty="0"/>
              <a:t> : If True, Django will store empty values as </a:t>
            </a:r>
            <a:r>
              <a:rPr lang="en-US" b="1" dirty="0"/>
              <a:t>NULL</a:t>
            </a:r>
            <a:r>
              <a:rPr lang="en-US" dirty="0"/>
              <a:t> in the database. Default is False.</a:t>
            </a:r>
          </a:p>
          <a:p>
            <a:pPr lvl="0" defTabSz="914400" eaLnBrk="0" fontAlgn="base" hangingPunct="0">
              <a:lnSpc>
                <a:spcPct val="150000"/>
              </a:lnSpc>
              <a:spcBef>
                <a:spcPct val="0"/>
              </a:spcBef>
              <a:spcAft>
                <a:spcPct val="0"/>
              </a:spcAft>
            </a:pPr>
            <a:r>
              <a:rPr lang="en-US" b="1" dirty="0">
                <a:hlinkClick r:id="rId5" tooltip="django.db.models.Field.blank">
                  <a:extLst>
                    <a:ext uri="{A12FA001-AC4F-418D-AE19-62706E023703}">
                      <ahyp:hlinkClr xmlns:ahyp="http://schemas.microsoft.com/office/drawing/2018/hyperlinkcolor" val="tx"/>
                    </a:ext>
                  </a:extLst>
                </a:hlinkClick>
              </a:rPr>
              <a:t>Blank</a:t>
            </a:r>
            <a:r>
              <a:rPr lang="en-US" dirty="0"/>
              <a:t> : If True, the field is allowed to be </a:t>
            </a:r>
            <a:r>
              <a:rPr lang="en-US" b="1" dirty="0"/>
              <a:t>blank</a:t>
            </a:r>
            <a:r>
              <a:rPr lang="en-US" dirty="0"/>
              <a:t>. Default is False.</a:t>
            </a:r>
          </a:p>
          <a:p>
            <a:pPr marL="457200" lvl="2" defTabSz="914400" eaLnBrk="0" fontAlgn="base" hangingPunct="0">
              <a:lnSpc>
                <a:spcPct val="150000"/>
              </a:lnSpc>
              <a:spcBef>
                <a:spcPct val="0"/>
              </a:spcBef>
              <a:spcAft>
                <a:spcPct val="0"/>
              </a:spcAft>
            </a:pPr>
            <a:r>
              <a:rPr lang="en-US" dirty="0"/>
              <a:t>If a field has </a:t>
            </a:r>
            <a:r>
              <a:rPr lang="en-US" b="1" dirty="0">
                <a:hlinkClick r:id="rId5" tooltip="django.db.models.Field.blank">
                  <a:extLst>
                    <a:ext uri="{A12FA001-AC4F-418D-AE19-62706E023703}">
                      <ahyp:hlinkClr xmlns:ahyp="http://schemas.microsoft.com/office/drawing/2018/hyperlinkcolor" val="tx"/>
                    </a:ext>
                  </a:extLst>
                </a:hlinkClick>
              </a:rPr>
              <a:t>blank=True</a:t>
            </a:r>
            <a:r>
              <a:rPr lang="en-US" dirty="0"/>
              <a:t>, form validation will allow entry of an empty value. </a:t>
            </a:r>
          </a:p>
          <a:p>
            <a:pPr marL="457200" lvl="2" defTabSz="914400" eaLnBrk="0" fontAlgn="base" hangingPunct="0">
              <a:lnSpc>
                <a:spcPct val="150000"/>
              </a:lnSpc>
              <a:spcBef>
                <a:spcPct val="0"/>
              </a:spcBef>
              <a:spcAft>
                <a:spcPct val="0"/>
              </a:spcAft>
            </a:pPr>
            <a:r>
              <a:rPr lang="en-US" dirty="0"/>
              <a:t>If a field has </a:t>
            </a:r>
            <a:r>
              <a:rPr lang="en-US" b="1" dirty="0">
                <a:hlinkClick r:id="rId5" tooltip="django.db.models.Field.blank">
                  <a:extLst>
                    <a:ext uri="{A12FA001-AC4F-418D-AE19-62706E023703}">
                      <ahyp:hlinkClr xmlns:ahyp="http://schemas.microsoft.com/office/drawing/2018/hyperlinkcolor" val="tx"/>
                    </a:ext>
                  </a:extLst>
                </a:hlinkClick>
              </a:rPr>
              <a:t>blank=False</a:t>
            </a:r>
            <a:r>
              <a:rPr lang="en-US" dirty="0"/>
              <a:t>, the field will be required.</a:t>
            </a:r>
          </a:p>
        </p:txBody>
      </p:sp>
    </p:spTree>
    <p:extLst>
      <p:ext uri="{BB962C8B-B14F-4D97-AF65-F5344CB8AC3E}">
        <p14:creationId xmlns:p14="http://schemas.microsoft.com/office/powerpoint/2010/main" val="1907475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15439D-BC34-467C-85C0-C2BF023D5B4E}"/>
              </a:ext>
            </a:extLst>
          </p:cNvPr>
          <p:cNvSpPr>
            <a:spLocks noGrp="1"/>
          </p:cNvSpPr>
          <p:nvPr>
            <p:ph type="title"/>
          </p:nvPr>
        </p:nvSpPr>
        <p:spPr/>
        <p:txBody>
          <a:bodyPr/>
          <a:lstStyle/>
          <a:p>
            <a:r>
              <a:rPr lang="en-US" dirty="0"/>
              <a:t>Choices</a:t>
            </a:r>
          </a:p>
        </p:txBody>
      </p:sp>
      <p:sp>
        <p:nvSpPr>
          <p:cNvPr id="3" name="Slide Number Placeholder 2">
            <a:extLst>
              <a:ext uri="{FF2B5EF4-FFF2-40B4-BE49-F238E27FC236}">
                <a16:creationId xmlns:a16="http://schemas.microsoft.com/office/drawing/2014/main" id="{F1E31CE8-BB83-448B-872F-6AAE2BEC14D8}"/>
              </a:ext>
            </a:extLst>
          </p:cNvPr>
          <p:cNvSpPr>
            <a:spLocks noGrp="1"/>
          </p:cNvSpPr>
          <p:nvPr>
            <p:ph type="sldNum" sz="quarter" idx="12"/>
          </p:nvPr>
        </p:nvSpPr>
        <p:spPr/>
        <p:txBody>
          <a:bodyPr/>
          <a:lstStyle/>
          <a:p>
            <a:fld id="{0D6F892B-1791-4F93-8AFD-83813F10F54D}" type="slidenum">
              <a:rPr lang="en-US" smtClean="0"/>
              <a:t>30</a:t>
            </a:fld>
            <a:endParaRPr lang="en-US"/>
          </a:p>
        </p:txBody>
      </p:sp>
      <p:sp>
        <p:nvSpPr>
          <p:cNvPr id="5" name="Rectangle 4">
            <a:extLst>
              <a:ext uri="{FF2B5EF4-FFF2-40B4-BE49-F238E27FC236}">
                <a16:creationId xmlns:a16="http://schemas.microsoft.com/office/drawing/2014/main" id="{36B341CB-5B8B-4979-9A15-19B07210D6CE}"/>
              </a:ext>
            </a:extLst>
          </p:cNvPr>
          <p:cNvSpPr/>
          <p:nvPr/>
        </p:nvSpPr>
        <p:spPr>
          <a:xfrm>
            <a:off x="1078107" y="2253878"/>
            <a:ext cx="10491038" cy="1286186"/>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dirty="0"/>
              <a:t>A </a:t>
            </a:r>
            <a:r>
              <a:rPr lang="en-US" altLang="en-US" b="1" dirty="0">
                <a:hlinkClick r:id="rId2" tooltip="(in Python v3.10)">
                  <a:extLst>
                    <a:ext uri="{A12FA001-AC4F-418D-AE19-62706E023703}">
                      <ahyp:hlinkClr xmlns:ahyp="http://schemas.microsoft.com/office/drawing/2018/hyperlinkcolor" val="tx"/>
                    </a:ext>
                  </a:extLst>
                </a:hlinkClick>
              </a:rPr>
              <a:t>sequence</a:t>
            </a:r>
            <a:r>
              <a:rPr lang="en-US" altLang="en-US" dirty="0"/>
              <a:t> consisting itself of </a:t>
            </a:r>
            <a:r>
              <a:rPr lang="en-US" altLang="en-US" b="1" dirty="0" err="1"/>
              <a:t>iterables</a:t>
            </a:r>
            <a:r>
              <a:rPr lang="en-US" altLang="en-US" dirty="0"/>
              <a:t> of exactly two items (e.g. [(A, B), (A, B) ...]) to use as choices for this field. If choices are given, they’re enforced by </a:t>
            </a:r>
            <a:r>
              <a:rPr lang="en-US" altLang="en-US" b="1" dirty="0">
                <a:hlinkClick r:id="rId3">
                  <a:extLst>
                    <a:ext uri="{A12FA001-AC4F-418D-AE19-62706E023703}">
                      <ahyp:hlinkClr xmlns:ahyp="http://schemas.microsoft.com/office/drawing/2018/hyperlinkcolor" val="tx"/>
                    </a:ext>
                  </a:extLst>
                </a:hlinkClick>
              </a:rPr>
              <a:t>model</a:t>
            </a:r>
            <a:r>
              <a:rPr lang="en-US" altLang="en-US" dirty="0">
                <a:hlinkClick r:id="rId3">
                  <a:extLst>
                    <a:ext uri="{A12FA001-AC4F-418D-AE19-62706E023703}">
                      <ahyp:hlinkClr xmlns:ahyp="http://schemas.microsoft.com/office/drawing/2018/hyperlinkcolor" val="tx"/>
                    </a:ext>
                  </a:extLst>
                </a:hlinkClick>
              </a:rPr>
              <a:t> </a:t>
            </a:r>
            <a:r>
              <a:rPr lang="en-US" altLang="en-US" b="1" dirty="0">
                <a:hlinkClick r:id="rId3">
                  <a:extLst>
                    <a:ext uri="{A12FA001-AC4F-418D-AE19-62706E023703}">
                      <ahyp:hlinkClr xmlns:ahyp="http://schemas.microsoft.com/office/drawing/2018/hyperlinkcolor" val="tx"/>
                    </a:ext>
                  </a:extLst>
                </a:hlinkClick>
              </a:rPr>
              <a:t>validation</a:t>
            </a:r>
            <a:r>
              <a:rPr lang="en-US" altLang="en-US" dirty="0"/>
              <a:t> and the default form widget will be a select box with these choices instead of the standard text field. </a:t>
            </a:r>
          </a:p>
        </p:txBody>
      </p:sp>
      <p:sp>
        <p:nvSpPr>
          <p:cNvPr id="7" name="Rectangle 6">
            <a:extLst>
              <a:ext uri="{FF2B5EF4-FFF2-40B4-BE49-F238E27FC236}">
                <a16:creationId xmlns:a16="http://schemas.microsoft.com/office/drawing/2014/main" id="{C0C4DE73-A011-4FFB-AE29-A16AEB271CE2}"/>
              </a:ext>
            </a:extLst>
          </p:cNvPr>
          <p:cNvSpPr/>
          <p:nvPr/>
        </p:nvSpPr>
        <p:spPr>
          <a:xfrm>
            <a:off x="1184123" y="3743872"/>
            <a:ext cx="4779355" cy="2123658"/>
          </a:xfrm>
          <a:prstGeom prst="rect">
            <a:avLst/>
          </a:prstGeom>
        </p:spPr>
        <p:style>
          <a:lnRef idx="2">
            <a:schemeClr val="accent3"/>
          </a:lnRef>
          <a:fillRef idx="1">
            <a:schemeClr val="lt1"/>
          </a:fillRef>
          <a:effectRef idx="0">
            <a:schemeClr val="accent3"/>
          </a:effectRef>
          <a:fontRef idx="minor">
            <a:schemeClr val="dk1"/>
          </a:fontRef>
        </p:style>
        <p:txBody>
          <a:bodyPr wrap="square">
            <a:spAutoFit/>
          </a:bodyPr>
          <a:lstStyle/>
          <a:p>
            <a:pPr lvl="0" defTabSz="914400" eaLnBrk="0" fontAlgn="base" hangingPunct="0">
              <a:spcBef>
                <a:spcPct val="0"/>
              </a:spcBef>
              <a:spcAft>
                <a:spcPct val="0"/>
              </a:spcAft>
            </a:pPr>
            <a:r>
              <a:rPr lang="en-US" altLang="en-US" dirty="0">
                <a:latin typeface="Arial" panose="020B0604020202020204" pitchFamily="34" charset="0"/>
              </a:rPr>
              <a:t>YEAR_IN_SCHOOL_CHOICES</a:t>
            </a:r>
            <a:r>
              <a:rPr lang="en-US" altLang="en-US" dirty="0">
                <a:solidFill>
                  <a:srgbClr val="000000"/>
                </a:solidFill>
                <a:latin typeface="JetBrains Mono NL"/>
              </a:rPr>
              <a:t> </a:t>
            </a:r>
            <a:r>
              <a:rPr lang="en-US" altLang="en-US" dirty="0">
                <a:solidFill>
                  <a:srgbClr val="666666"/>
                </a:solidFill>
                <a:latin typeface="Arial" panose="020B0604020202020204" pitchFamily="34" charset="0"/>
              </a:rPr>
              <a:t>=</a:t>
            </a:r>
            <a:r>
              <a:rPr lang="en-US" altLang="en-US" dirty="0">
                <a:solidFill>
                  <a:srgbClr val="000000"/>
                </a:solidFill>
                <a:latin typeface="JetBrains Mono NL"/>
              </a:rPr>
              <a:t> [ </a:t>
            </a:r>
          </a:p>
          <a:p>
            <a:pPr lvl="0" defTabSz="914400" eaLnBrk="0" fontAlgn="base" hangingPunct="0">
              <a:spcBef>
                <a:spcPct val="0"/>
              </a:spcBef>
              <a:spcAft>
                <a:spcPct val="0"/>
              </a:spcAft>
            </a:pPr>
            <a:r>
              <a:rPr lang="en-US" altLang="en-US" dirty="0">
                <a:solidFill>
                  <a:srgbClr val="000000"/>
                </a:solidFill>
                <a:latin typeface="JetBrains Mono NL"/>
              </a:rPr>
              <a:t>	(</a:t>
            </a:r>
            <a:r>
              <a:rPr lang="en-US" altLang="en-US" dirty="0">
                <a:solidFill>
                  <a:srgbClr val="BA2121"/>
                </a:solidFill>
                <a:latin typeface="JetBrains Mono NL"/>
              </a:rPr>
              <a:t>'FR'</a:t>
            </a:r>
            <a:r>
              <a:rPr lang="en-US" altLang="en-US" dirty="0">
                <a:solidFill>
                  <a:srgbClr val="000000"/>
                </a:solidFill>
                <a:latin typeface="JetBrains Mono NL"/>
              </a:rPr>
              <a:t>, </a:t>
            </a:r>
            <a:r>
              <a:rPr lang="en-US" altLang="en-US" dirty="0">
                <a:solidFill>
                  <a:srgbClr val="BA2121"/>
                </a:solidFill>
                <a:latin typeface="JetBrains Mono NL"/>
              </a:rPr>
              <a:t>'Freshman’</a:t>
            </a:r>
            <a:r>
              <a:rPr lang="en-US" altLang="en-US" dirty="0">
                <a:solidFill>
                  <a:srgbClr val="000000"/>
                </a:solidFill>
                <a:latin typeface="JetBrains Mono NL"/>
              </a:rPr>
              <a:t>), </a:t>
            </a:r>
          </a:p>
          <a:p>
            <a:pPr lvl="0" defTabSz="914400" eaLnBrk="0" fontAlgn="base" hangingPunct="0">
              <a:spcBef>
                <a:spcPct val="0"/>
              </a:spcBef>
              <a:spcAft>
                <a:spcPct val="0"/>
              </a:spcAft>
            </a:pPr>
            <a:r>
              <a:rPr lang="en-US" altLang="en-US" dirty="0">
                <a:solidFill>
                  <a:srgbClr val="000000"/>
                </a:solidFill>
                <a:latin typeface="JetBrains Mono NL"/>
              </a:rPr>
              <a:t>	(</a:t>
            </a:r>
            <a:r>
              <a:rPr lang="en-US" altLang="en-US" dirty="0">
                <a:solidFill>
                  <a:srgbClr val="BA2121"/>
                </a:solidFill>
                <a:latin typeface="JetBrains Mono NL"/>
              </a:rPr>
              <a:t>'SO'</a:t>
            </a:r>
            <a:r>
              <a:rPr lang="en-US" altLang="en-US" dirty="0">
                <a:solidFill>
                  <a:srgbClr val="000000"/>
                </a:solidFill>
                <a:latin typeface="JetBrains Mono NL"/>
              </a:rPr>
              <a:t>, </a:t>
            </a:r>
            <a:r>
              <a:rPr lang="en-US" altLang="en-US" dirty="0">
                <a:solidFill>
                  <a:srgbClr val="BA2121"/>
                </a:solidFill>
                <a:latin typeface="JetBrains Mono NL"/>
              </a:rPr>
              <a:t>'Sophomore’</a:t>
            </a:r>
            <a:r>
              <a:rPr lang="en-US" altLang="en-US" dirty="0">
                <a:solidFill>
                  <a:srgbClr val="000000"/>
                </a:solidFill>
                <a:latin typeface="JetBrains Mono NL"/>
              </a:rPr>
              <a:t>), </a:t>
            </a:r>
          </a:p>
          <a:p>
            <a:pPr lvl="0" defTabSz="914400" eaLnBrk="0" fontAlgn="base" hangingPunct="0">
              <a:spcBef>
                <a:spcPct val="0"/>
              </a:spcBef>
              <a:spcAft>
                <a:spcPct val="0"/>
              </a:spcAft>
            </a:pPr>
            <a:r>
              <a:rPr lang="en-US" altLang="en-US" dirty="0">
                <a:solidFill>
                  <a:srgbClr val="000000"/>
                </a:solidFill>
                <a:latin typeface="JetBrains Mono NL"/>
              </a:rPr>
              <a:t>	(</a:t>
            </a:r>
            <a:r>
              <a:rPr lang="en-US" altLang="en-US" dirty="0">
                <a:solidFill>
                  <a:srgbClr val="BA2121"/>
                </a:solidFill>
                <a:latin typeface="JetBrains Mono NL"/>
              </a:rPr>
              <a:t>'JR'</a:t>
            </a:r>
            <a:r>
              <a:rPr lang="en-US" altLang="en-US" dirty="0">
                <a:solidFill>
                  <a:srgbClr val="000000"/>
                </a:solidFill>
                <a:latin typeface="JetBrains Mono NL"/>
              </a:rPr>
              <a:t>, </a:t>
            </a:r>
            <a:r>
              <a:rPr lang="en-US" altLang="en-US" dirty="0">
                <a:solidFill>
                  <a:srgbClr val="BA2121"/>
                </a:solidFill>
                <a:latin typeface="JetBrains Mono NL"/>
              </a:rPr>
              <a:t>'Junior’</a:t>
            </a:r>
            <a:r>
              <a:rPr lang="en-US" altLang="en-US" dirty="0">
                <a:solidFill>
                  <a:srgbClr val="000000"/>
                </a:solidFill>
                <a:latin typeface="JetBrains Mono NL"/>
              </a:rPr>
              <a:t>), </a:t>
            </a:r>
          </a:p>
          <a:p>
            <a:pPr lvl="0" defTabSz="914400" eaLnBrk="0" fontAlgn="base" hangingPunct="0">
              <a:spcBef>
                <a:spcPct val="0"/>
              </a:spcBef>
              <a:spcAft>
                <a:spcPct val="0"/>
              </a:spcAft>
            </a:pPr>
            <a:r>
              <a:rPr lang="en-US" altLang="en-US" dirty="0">
                <a:solidFill>
                  <a:srgbClr val="000000"/>
                </a:solidFill>
                <a:latin typeface="JetBrains Mono NL"/>
              </a:rPr>
              <a:t>	(</a:t>
            </a:r>
            <a:r>
              <a:rPr lang="en-US" altLang="en-US" dirty="0">
                <a:solidFill>
                  <a:srgbClr val="BA2121"/>
                </a:solidFill>
                <a:latin typeface="JetBrains Mono NL"/>
              </a:rPr>
              <a:t>'SR'</a:t>
            </a:r>
            <a:r>
              <a:rPr lang="en-US" altLang="en-US" dirty="0">
                <a:solidFill>
                  <a:srgbClr val="000000"/>
                </a:solidFill>
                <a:latin typeface="JetBrains Mono NL"/>
              </a:rPr>
              <a:t>, </a:t>
            </a:r>
            <a:r>
              <a:rPr lang="en-US" altLang="en-US" dirty="0">
                <a:solidFill>
                  <a:srgbClr val="BA2121"/>
                </a:solidFill>
                <a:latin typeface="JetBrains Mono NL"/>
              </a:rPr>
              <a:t>'Senior’</a:t>
            </a:r>
            <a:r>
              <a:rPr lang="en-US" altLang="en-US" dirty="0">
                <a:solidFill>
                  <a:srgbClr val="000000"/>
                </a:solidFill>
                <a:latin typeface="JetBrains Mono NL"/>
              </a:rPr>
              <a:t>), </a:t>
            </a:r>
          </a:p>
          <a:p>
            <a:pPr lvl="0" defTabSz="914400" eaLnBrk="0" fontAlgn="base" hangingPunct="0">
              <a:spcBef>
                <a:spcPct val="0"/>
              </a:spcBef>
              <a:spcAft>
                <a:spcPct val="0"/>
              </a:spcAft>
            </a:pPr>
            <a:r>
              <a:rPr lang="en-US" altLang="en-US" dirty="0">
                <a:solidFill>
                  <a:srgbClr val="000000"/>
                </a:solidFill>
                <a:latin typeface="JetBrains Mono NL"/>
              </a:rPr>
              <a:t>	(</a:t>
            </a:r>
            <a:r>
              <a:rPr lang="en-US" altLang="en-US" dirty="0">
                <a:solidFill>
                  <a:srgbClr val="BA2121"/>
                </a:solidFill>
                <a:latin typeface="JetBrains Mono NL"/>
              </a:rPr>
              <a:t>'GR'</a:t>
            </a:r>
            <a:r>
              <a:rPr lang="en-US" altLang="en-US" dirty="0">
                <a:solidFill>
                  <a:srgbClr val="000000"/>
                </a:solidFill>
                <a:latin typeface="JetBrains Mono NL"/>
              </a:rPr>
              <a:t>, </a:t>
            </a:r>
            <a:r>
              <a:rPr lang="en-US" altLang="en-US" dirty="0">
                <a:solidFill>
                  <a:srgbClr val="BA2121"/>
                </a:solidFill>
                <a:latin typeface="JetBrains Mono NL"/>
              </a:rPr>
              <a:t>'Graduate’</a:t>
            </a:r>
            <a:r>
              <a:rPr lang="en-US" altLang="en-US" dirty="0">
                <a:solidFill>
                  <a:srgbClr val="000000"/>
                </a:solidFill>
                <a:latin typeface="JetBrains Mono NL"/>
              </a:rPr>
              <a:t>), </a:t>
            </a:r>
          </a:p>
          <a:p>
            <a:pPr lvl="0" defTabSz="914400" eaLnBrk="0" fontAlgn="base" hangingPunct="0">
              <a:spcBef>
                <a:spcPct val="0"/>
              </a:spcBef>
              <a:spcAft>
                <a:spcPct val="0"/>
              </a:spcAft>
            </a:pPr>
            <a:r>
              <a:rPr lang="en-US" altLang="en-US" dirty="0">
                <a:solidFill>
                  <a:srgbClr val="000000"/>
                </a:solidFill>
                <a:latin typeface="JetBrains Mono NL"/>
              </a:rPr>
              <a:t>]</a:t>
            </a:r>
            <a:r>
              <a:rPr lang="en-US" altLang="en-US" sz="2400" dirty="0"/>
              <a:t> </a:t>
            </a:r>
            <a:endParaRPr lang="en-US" altLang="en-US" sz="2800" dirty="0">
              <a:latin typeface="Arial" panose="020B0604020202020204" pitchFamily="34" charset="0"/>
            </a:endParaRPr>
          </a:p>
        </p:txBody>
      </p:sp>
      <p:sp>
        <p:nvSpPr>
          <p:cNvPr id="9" name="Rectangle 8">
            <a:extLst>
              <a:ext uri="{FF2B5EF4-FFF2-40B4-BE49-F238E27FC236}">
                <a16:creationId xmlns:a16="http://schemas.microsoft.com/office/drawing/2014/main" id="{EB2F5720-2063-48C1-9E68-BA4B8ABB64A3}"/>
              </a:ext>
            </a:extLst>
          </p:cNvPr>
          <p:cNvSpPr/>
          <p:nvPr/>
        </p:nvSpPr>
        <p:spPr>
          <a:xfrm>
            <a:off x="1154954" y="6062426"/>
            <a:ext cx="10848851" cy="400110"/>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pPr lvl="0" defTabSz="914400" eaLnBrk="0" fontAlgn="base" hangingPunct="0">
              <a:spcBef>
                <a:spcPct val="30000"/>
              </a:spcBef>
              <a:spcAft>
                <a:spcPct val="0"/>
              </a:spcAft>
            </a:pPr>
            <a:r>
              <a:rPr lang="en-US" altLang="en-US" sz="1600" dirty="0" err="1">
                <a:latin typeface="Arial" panose="020B0604020202020204" pitchFamily="34" charset="0"/>
              </a:rPr>
              <a:t>year_in_school</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err="1">
                <a:latin typeface="Arial" panose="020B0604020202020204" pitchFamily="34" charset="0"/>
              </a:rPr>
              <a:t>models</a:t>
            </a:r>
            <a:r>
              <a:rPr lang="en-US" altLang="en-US" sz="1600" dirty="0" err="1">
                <a:solidFill>
                  <a:srgbClr val="666666"/>
                </a:solidFill>
                <a:latin typeface="Arial" panose="020B0604020202020204" pitchFamily="34" charset="0"/>
              </a:rPr>
              <a:t>.</a:t>
            </a:r>
            <a:r>
              <a:rPr lang="en-US" altLang="en-US" sz="1600" dirty="0" err="1">
                <a:latin typeface="Arial" panose="020B0604020202020204" pitchFamily="34" charset="0"/>
              </a:rPr>
              <a:t>CharField</a:t>
            </a:r>
            <a:r>
              <a:rPr lang="en-US" altLang="en-US" sz="1600" dirty="0">
                <a:solidFill>
                  <a:srgbClr val="000000"/>
                </a:solidFill>
                <a:latin typeface="JetBrains Mono NL"/>
              </a:rPr>
              <a:t>( </a:t>
            </a:r>
            <a:r>
              <a:rPr lang="en-US" altLang="en-US" sz="1600" dirty="0" err="1">
                <a:latin typeface="Arial" panose="020B0604020202020204" pitchFamily="34" charset="0"/>
              </a:rPr>
              <a:t>max_length</a:t>
            </a:r>
            <a:r>
              <a:rPr lang="en-US" altLang="en-US" sz="1600" dirty="0">
                <a:solidFill>
                  <a:srgbClr val="666666"/>
                </a:solidFill>
                <a:latin typeface="Arial" panose="020B0604020202020204" pitchFamily="34" charset="0"/>
              </a:rPr>
              <a:t>=</a:t>
            </a:r>
            <a:r>
              <a:rPr lang="en-US" altLang="en-US" sz="2000" dirty="0">
                <a:solidFill>
                  <a:srgbClr val="666666"/>
                </a:solidFill>
                <a:latin typeface="JetBrains Mono NL"/>
              </a:rPr>
              <a:t>2</a:t>
            </a:r>
            <a:r>
              <a:rPr lang="en-US" altLang="en-US" sz="1600" dirty="0">
                <a:solidFill>
                  <a:srgbClr val="000000"/>
                </a:solidFill>
                <a:latin typeface="JetBrains Mono NL"/>
              </a:rPr>
              <a:t>, </a:t>
            </a:r>
            <a:r>
              <a:rPr lang="en-US" altLang="en-US" sz="1600" dirty="0">
                <a:latin typeface="Arial" panose="020B0604020202020204" pitchFamily="34" charset="0"/>
              </a:rPr>
              <a:t>choices</a:t>
            </a:r>
            <a:r>
              <a:rPr lang="en-US" altLang="en-US" sz="1600" dirty="0">
                <a:solidFill>
                  <a:srgbClr val="666666"/>
                </a:solidFill>
                <a:latin typeface="Arial" panose="020B0604020202020204" pitchFamily="34" charset="0"/>
              </a:rPr>
              <a:t>=</a:t>
            </a:r>
            <a:r>
              <a:rPr lang="en-US" altLang="en-US" sz="1600" b="1" dirty="0">
                <a:latin typeface="Arial" panose="020B0604020202020204" pitchFamily="34" charset="0"/>
              </a:rPr>
              <a:t>YEAR_IN_SCHOOL_CHOICES</a:t>
            </a:r>
            <a:r>
              <a:rPr lang="en-US" altLang="en-US" sz="1600" dirty="0">
                <a:solidFill>
                  <a:srgbClr val="000000"/>
                </a:solidFill>
                <a:latin typeface="JetBrains Mono NL"/>
              </a:rPr>
              <a:t>, </a:t>
            </a:r>
            <a:r>
              <a:rPr lang="en-US" altLang="en-US" sz="1600" dirty="0">
                <a:latin typeface="Arial" panose="020B0604020202020204" pitchFamily="34" charset="0"/>
              </a:rPr>
              <a:t>default</a:t>
            </a:r>
            <a:r>
              <a:rPr lang="en-US" altLang="en-US" sz="1600" dirty="0">
                <a:solidFill>
                  <a:srgbClr val="666666"/>
                </a:solidFill>
                <a:latin typeface="Arial" panose="020B0604020202020204" pitchFamily="34" charset="0"/>
              </a:rPr>
              <a:t>=</a:t>
            </a:r>
            <a:r>
              <a:rPr lang="en-US" altLang="en-US" sz="1600" dirty="0">
                <a:latin typeface="Arial" panose="020B0604020202020204" pitchFamily="34" charset="0"/>
              </a:rPr>
              <a:t>FRESHMAN</a:t>
            </a:r>
            <a:r>
              <a:rPr lang="en-US" altLang="en-US" sz="1600" dirty="0">
                <a:solidFill>
                  <a:srgbClr val="000000"/>
                </a:solidFill>
                <a:latin typeface="JetBrains Mono NL"/>
              </a:rPr>
              <a:t>)</a:t>
            </a:r>
            <a:r>
              <a:rPr lang="en-US" altLang="en-US" sz="2000" dirty="0"/>
              <a:t> </a:t>
            </a:r>
            <a:endParaRPr lang="en-US" altLang="en-US" sz="2400" dirty="0">
              <a:latin typeface="Arial" panose="020B0604020202020204" pitchFamily="34" charset="0"/>
            </a:endParaRPr>
          </a:p>
        </p:txBody>
      </p:sp>
      <p:cxnSp>
        <p:nvCxnSpPr>
          <p:cNvPr id="13" name="Straight Arrow Connector 12">
            <a:extLst>
              <a:ext uri="{FF2B5EF4-FFF2-40B4-BE49-F238E27FC236}">
                <a16:creationId xmlns:a16="http://schemas.microsoft.com/office/drawing/2014/main" id="{5320F936-7797-4E04-8DF4-1C11CD3999A3}"/>
              </a:ext>
            </a:extLst>
          </p:cNvPr>
          <p:cNvCxnSpPr>
            <a:cxnSpLocks/>
          </p:cNvCxnSpPr>
          <p:nvPr/>
        </p:nvCxnSpPr>
        <p:spPr>
          <a:xfrm flipH="1">
            <a:off x="5022574" y="3975652"/>
            <a:ext cx="2935356" cy="0"/>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cxnSp>
        <p:nvCxnSpPr>
          <p:cNvPr id="14" name="Straight Arrow Connector 13">
            <a:extLst>
              <a:ext uri="{FF2B5EF4-FFF2-40B4-BE49-F238E27FC236}">
                <a16:creationId xmlns:a16="http://schemas.microsoft.com/office/drawing/2014/main" id="{06387C5F-5957-4EF7-A847-8414764B97C9}"/>
              </a:ext>
            </a:extLst>
          </p:cNvPr>
          <p:cNvCxnSpPr>
            <a:cxnSpLocks/>
          </p:cNvCxnSpPr>
          <p:nvPr/>
        </p:nvCxnSpPr>
        <p:spPr>
          <a:xfrm>
            <a:off x="7957930" y="3975652"/>
            <a:ext cx="0" cy="2150295"/>
          </a:xfrm>
          <a:prstGeom prst="straightConnector1">
            <a:avLst/>
          </a:prstGeom>
          <a:ln>
            <a:tailEnd type="triangle"/>
          </a:ln>
        </p:spPr>
        <p:style>
          <a:lnRef idx="3">
            <a:schemeClr val="accent2"/>
          </a:lnRef>
          <a:fillRef idx="0">
            <a:schemeClr val="accent2"/>
          </a:fillRef>
          <a:effectRef idx="2">
            <a:schemeClr val="accent2"/>
          </a:effectRef>
          <a:fontRef idx="minor">
            <a:schemeClr val="tx1"/>
          </a:fontRef>
        </p:style>
      </p:cxnSp>
    </p:spTree>
    <p:extLst>
      <p:ext uri="{BB962C8B-B14F-4D97-AF65-F5344CB8AC3E}">
        <p14:creationId xmlns:p14="http://schemas.microsoft.com/office/powerpoint/2010/main" val="28540752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9864E7-9044-4B04-869B-84ED04DDB203}"/>
              </a:ext>
            </a:extLst>
          </p:cNvPr>
          <p:cNvSpPr>
            <a:spLocks noGrp="1"/>
          </p:cNvSpPr>
          <p:nvPr>
            <p:ph type="title"/>
          </p:nvPr>
        </p:nvSpPr>
        <p:spPr/>
        <p:txBody>
          <a:bodyPr/>
          <a:lstStyle/>
          <a:p>
            <a:r>
              <a:rPr lang="en-US" dirty="0"/>
              <a:t>Enumeration Types</a:t>
            </a:r>
          </a:p>
        </p:txBody>
      </p:sp>
      <p:sp>
        <p:nvSpPr>
          <p:cNvPr id="3" name="Slide Number Placeholder 2">
            <a:extLst>
              <a:ext uri="{FF2B5EF4-FFF2-40B4-BE49-F238E27FC236}">
                <a16:creationId xmlns:a16="http://schemas.microsoft.com/office/drawing/2014/main" id="{4C4800E0-12CA-4B6E-B5AA-705F33016F3E}"/>
              </a:ext>
            </a:extLst>
          </p:cNvPr>
          <p:cNvSpPr>
            <a:spLocks noGrp="1"/>
          </p:cNvSpPr>
          <p:nvPr>
            <p:ph type="sldNum" sz="quarter" idx="12"/>
          </p:nvPr>
        </p:nvSpPr>
        <p:spPr/>
        <p:txBody>
          <a:bodyPr/>
          <a:lstStyle/>
          <a:p>
            <a:fld id="{0D6F892B-1791-4F93-8AFD-83813F10F54D}" type="slidenum">
              <a:rPr lang="en-US" smtClean="0"/>
              <a:t>31</a:t>
            </a:fld>
            <a:endParaRPr lang="en-US"/>
          </a:p>
        </p:txBody>
      </p:sp>
      <p:sp>
        <p:nvSpPr>
          <p:cNvPr id="4" name="Rectangle 3">
            <a:extLst>
              <a:ext uri="{FF2B5EF4-FFF2-40B4-BE49-F238E27FC236}">
                <a16:creationId xmlns:a16="http://schemas.microsoft.com/office/drawing/2014/main" id="{CE50F349-FCB1-47C7-8970-AEE55DE466DE}"/>
              </a:ext>
            </a:extLst>
          </p:cNvPr>
          <p:cNvSpPr/>
          <p:nvPr/>
        </p:nvSpPr>
        <p:spPr>
          <a:xfrm>
            <a:off x="1391794" y="2322022"/>
            <a:ext cx="9171574" cy="870688"/>
          </a:xfrm>
          <a:prstGeom prst="rect">
            <a:avLst/>
          </a:prstGeom>
        </p:spPr>
        <p:txBody>
          <a:bodyPr wrap="square">
            <a:spAutoFit/>
          </a:bodyPr>
          <a:lstStyle/>
          <a:p>
            <a:pPr>
              <a:lnSpc>
                <a:spcPct val="150000"/>
              </a:lnSpc>
            </a:pPr>
            <a:r>
              <a:rPr lang="en-US" dirty="0"/>
              <a:t>In addition, Django provides enumeration types that you can subclass to define choices in a concise way:</a:t>
            </a:r>
          </a:p>
        </p:txBody>
      </p:sp>
      <p:sp>
        <p:nvSpPr>
          <p:cNvPr id="6" name="Rectangle 5">
            <a:extLst>
              <a:ext uri="{FF2B5EF4-FFF2-40B4-BE49-F238E27FC236}">
                <a16:creationId xmlns:a16="http://schemas.microsoft.com/office/drawing/2014/main" id="{9CD9F2C3-48BC-4E2E-9DB2-A11C28202DD7}"/>
              </a:ext>
            </a:extLst>
          </p:cNvPr>
          <p:cNvSpPr/>
          <p:nvPr/>
        </p:nvSpPr>
        <p:spPr>
          <a:xfrm>
            <a:off x="1391795" y="3251436"/>
            <a:ext cx="5950702" cy="233910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lvl="0" defTabSz="914400" eaLnBrk="0" fontAlgn="base" hangingPunct="0">
              <a:spcBef>
                <a:spcPct val="30000"/>
              </a:spcBef>
              <a:spcAft>
                <a:spcPct val="0"/>
              </a:spcAft>
            </a:pPr>
            <a:r>
              <a:rPr lang="en-US" altLang="en-US" sz="1600" b="1" dirty="0">
                <a:solidFill>
                  <a:srgbClr val="008000"/>
                </a:solidFill>
                <a:latin typeface="JetBrains Mono NL"/>
              </a:rPr>
              <a:t>class</a:t>
            </a:r>
            <a:r>
              <a:rPr lang="en-US" altLang="en-US" sz="1600" dirty="0">
                <a:solidFill>
                  <a:srgbClr val="000000"/>
                </a:solidFill>
                <a:latin typeface="JetBrains Mono NL"/>
              </a:rPr>
              <a:t> </a:t>
            </a:r>
            <a:r>
              <a:rPr lang="en-US" altLang="en-US" sz="1600" b="1" dirty="0">
                <a:solidFill>
                  <a:srgbClr val="0000FF"/>
                </a:solidFill>
                <a:latin typeface="JetBrains Mono NL"/>
              </a:rPr>
              <a:t>Student</a:t>
            </a:r>
            <a:r>
              <a:rPr lang="en-US" altLang="en-US" sz="1600" dirty="0">
                <a:solidFill>
                  <a:srgbClr val="000000"/>
                </a:solidFill>
                <a:latin typeface="JetBrains Mono NL"/>
              </a:rPr>
              <a:t>(</a:t>
            </a:r>
            <a:r>
              <a:rPr lang="en-US" altLang="en-US" sz="1600" dirty="0" err="1">
                <a:latin typeface="Arial" panose="020B0604020202020204" pitchFamily="34" charset="0"/>
              </a:rPr>
              <a:t>models</a:t>
            </a:r>
            <a:r>
              <a:rPr lang="en-US" altLang="en-US" sz="1600" dirty="0" err="1">
                <a:solidFill>
                  <a:srgbClr val="666666"/>
                </a:solidFill>
                <a:latin typeface="Arial" panose="020B0604020202020204" pitchFamily="34" charset="0"/>
              </a:rPr>
              <a:t>.</a:t>
            </a:r>
            <a:r>
              <a:rPr lang="en-US" altLang="en-US" sz="1600" dirty="0" err="1">
                <a:latin typeface="Arial" panose="020B0604020202020204" pitchFamily="34" charset="0"/>
              </a:rPr>
              <a:t>Model</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b="1" dirty="0">
                <a:solidFill>
                  <a:srgbClr val="000000"/>
                </a:solidFill>
                <a:latin typeface="JetBrains Mono NL"/>
              </a:rPr>
              <a:t>	</a:t>
            </a:r>
            <a:r>
              <a:rPr lang="en-US" altLang="en-US" sz="1600" b="1" dirty="0">
                <a:solidFill>
                  <a:srgbClr val="008000"/>
                </a:solidFill>
                <a:latin typeface="JetBrains Mono NL"/>
              </a:rPr>
              <a:t>class</a:t>
            </a:r>
            <a:r>
              <a:rPr lang="en-US" altLang="en-US" sz="1600" dirty="0">
                <a:solidFill>
                  <a:srgbClr val="000000"/>
                </a:solidFill>
                <a:latin typeface="JetBrains Mono NL"/>
              </a:rPr>
              <a:t> </a:t>
            </a:r>
            <a:r>
              <a:rPr lang="en-US" altLang="en-US" sz="1600" b="1" dirty="0" err="1">
                <a:solidFill>
                  <a:srgbClr val="0000FF"/>
                </a:solidFill>
                <a:latin typeface="JetBrains Mono NL"/>
              </a:rPr>
              <a:t>YearInSchool</a:t>
            </a:r>
            <a:r>
              <a:rPr lang="en-US" altLang="en-US" sz="1600" dirty="0">
                <a:solidFill>
                  <a:srgbClr val="000000"/>
                </a:solidFill>
                <a:latin typeface="JetBrains Mono NL"/>
              </a:rPr>
              <a:t>(</a:t>
            </a:r>
            <a:r>
              <a:rPr lang="en-US" altLang="en-US" sz="1600" dirty="0" err="1">
                <a:latin typeface="Arial" panose="020B0604020202020204" pitchFamily="34" charset="0"/>
              </a:rPr>
              <a:t>models</a:t>
            </a:r>
            <a:r>
              <a:rPr lang="en-US" altLang="en-US" sz="1600" dirty="0" err="1">
                <a:solidFill>
                  <a:srgbClr val="666666"/>
                </a:solidFill>
                <a:latin typeface="Arial" panose="020B0604020202020204" pitchFamily="34" charset="0"/>
              </a:rPr>
              <a:t>.</a:t>
            </a:r>
            <a:r>
              <a:rPr lang="en-US" altLang="en-US" sz="1600" dirty="0" err="1">
                <a:latin typeface="Arial" panose="020B0604020202020204" pitchFamily="34" charset="0"/>
              </a:rPr>
              <a:t>TextChoices</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dirty="0">
                <a:solidFill>
                  <a:srgbClr val="000000"/>
                </a:solidFill>
                <a:latin typeface="JetBrains Mono NL"/>
              </a:rPr>
              <a:t>		</a:t>
            </a:r>
            <a:r>
              <a:rPr lang="en-US" altLang="en-US" sz="1600" dirty="0">
                <a:latin typeface="Arial" panose="020B0604020202020204" pitchFamily="34" charset="0"/>
              </a:rPr>
              <a:t>FRESHMAN</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a:solidFill>
                  <a:srgbClr val="BA2121"/>
                </a:solidFill>
                <a:latin typeface="JetBrains Mono NL"/>
              </a:rPr>
              <a:t>'FR'</a:t>
            </a:r>
            <a:r>
              <a:rPr lang="en-US" altLang="en-US" sz="1600" dirty="0">
                <a:solidFill>
                  <a:srgbClr val="000000"/>
                </a:solidFill>
                <a:latin typeface="JetBrains Mono NL"/>
              </a:rPr>
              <a:t>, </a:t>
            </a:r>
            <a:r>
              <a:rPr lang="en-US" altLang="en-US" sz="1600" dirty="0">
                <a:latin typeface="Arial" panose="020B0604020202020204" pitchFamily="34" charset="0"/>
              </a:rPr>
              <a:t>_</a:t>
            </a:r>
            <a:r>
              <a:rPr lang="en-US" altLang="en-US" sz="1600" dirty="0">
                <a:solidFill>
                  <a:srgbClr val="000000"/>
                </a:solidFill>
                <a:latin typeface="JetBrains Mono NL"/>
              </a:rPr>
              <a:t>(</a:t>
            </a:r>
            <a:r>
              <a:rPr lang="en-US" altLang="en-US" sz="1600" dirty="0">
                <a:solidFill>
                  <a:srgbClr val="BA2121"/>
                </a:solidFill>
                <a:latin typeface="JetBrains Mono NL"/>
              </a:rPr>
              <a:t>'Freshman’</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dirty="0">
                <a:solidFill>
                  <a:srgbClr val="000000"/>
                </a:solidFill>
                <a:latin typeface="JetBrains Mono NL"/>
              </a:rPr>
              <a:t>		</a:t>
            </a:r>
            <a:r>
              <a:rPr lang="en-US" altLang="en-US" sz="1600" dirty="0">
                <a:latin typeface="Arial" panose="020B0604020202020204" pitchFamily="34" charset="0"/>
              </a:rPr>
              <a:t>SOPHOMORE</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a:solidFill>
                  <a:srgbClr val="BA2121"/>
                </a:solidFill>
                <a:latin typeface="JetBrains Mono NL"/>
              </a:rPr>
              <a:t>'SO'</a:t>
            </a:r>
            <a:r>
              <a:rPr lang="en-US" altLang="en-US" sz="1600" dirty="0">
                <a:solidFill>
                  <a:srgbClr val="000000"/>
                </a:solidFill>
                <a:latin typeface="JetBrains Mono NL"/>
              </a:rPr>
              <a:t>, </a:t>
            </a:r>
            <a:r>
              <a:rPr lang="en-US" altLang="en-US" sz="1600" dirty="0">
                <a:latin typeface="Arial" panose="020B0604020202020204" pitchFamily="34" charset="0"/>
              </a:rPr>
              <a:t>_</a:t>
            </a:r>
            <a:r>
              <a:rPr lang="en-US" altLang="en-US" sz="1600" dirty="0">
                <a:solidFill>
                  <a:srgbClr val="000000"/>
                </a:solidFill>
                <a:latin typeface="JetBrains Mono NL"/>
              </a:rPr>
              <a:t>(</a:t>
            </a:r>
            <a:r>
              <a:rPr lang="en-US" altLang="en-US" sz="1600" dirty="0">
                <a:solidFill>
                  <a:srgbClr val="BA2121"/>
                </a:solidFill>
                <a:latin typeface="JetBrains Mono NL"/>
              </a:rPr>
              <a:t>'Sophomore’</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dirty="0">
                <a:solidFill>
                  <a:srgbClr val="000000"/>
                </a:solidFill>
                <a:latin typeface="JetBrains Mono NL"/>
              </a:rPr>
              <a:t>		</a:t>
            </a:r>
            <a:r>
              <a:rPr lang="en-US" altLang="en-US" sz="1600" dirty="0">
                <a:latin typeface="Arial" panose="020B0604020202020204" pitchFamily="34" charset="0"/>
              </a:rPr>
              <a:t>JUNIOR</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a:solidFill>
                  <a:srgbClr val="BA2121"/>
                </a:solidFill>
                <a:latin typeface="JetBrains Mono NL"/>
              </a:rPr>
              <a:t>'JR'</a:t>
            </a:r>
            <a:r>
              <a:rPr lang="en-US" altLang="en-US" sz="1600" dirty="0">
                <a:solidFill>
                  <a:srgbClr val="000000"/>
                </a:solidFill>
                <a:latin typeface="JetBrains Mono NL"/>
              </a:rPr>
              <a:t>, </a:t>
            </a:r>
            <a:r>
              <a:rPr lang="en-US" altLang="en-US" sz="1600" dirty="0">
                <a:latin typeface="Arial" panose="020B0604020202020204" pitchFamily="34" charset="0"/>
              </a:rPr>
              <a:t>_</a:t>
            </a:r>
            <a:r>
              <a:rPr lang="en-US" altLang="en-US" sz="1600" dirty="0">
                <a:solidFill>
                  <a:srgbClr val="000000"/>
                </a:solidFill>
                <a:latin typeface="JetBrains Mono NL"/>
              </a:rPr>
              <a:t>(</a:t>
            </a:r>
            <a:r>
              <a:rPr lang="en-US" altLang="en-US" sz="1600" dirty="0">
                <a:solidFill>
                  <a:srgbClr val="BA2121"/>
                </a:solidFill>
                <a:latin typeface="JetBrains Mono NL"/>
              </a:rPr>
              <a:t>'Junior’</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dirty="0">
                <a:solidFill>
                  <a:srgbClr val="000000"/>
                </a:solidFill>
                <a:latin typeface="JetBrains Mono NL"/>
              </a:rPr>
              <a:t>		</a:t>
            </a:r>
            <a:r>
              <a:rPr lang="en-US" altLang="en-US" sz="1600" dirty="0">
                <a:latin typeface="Arial" panose="020B0604020202020204" pitchFamily="34" charset="0"/>
              </a:rPr>
              <a:t>SENIOR</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a:solidFill>
                  <a:srgbClr val="BA2121"/>
                </a:solidFill>
                <a:latin typeface="JetBrains Mono NL"/>
              </a:rPr>
              <a:t>'SR'</a:t>
            </a:r>
            <a:r>
              <a:rPr lang="en-US" altLang="en-US" sz="1600" dirty="0">
                <a:solidFill>
                  <a:srgbClr val="000000"/>
                </a:solidFill>
                <a:latin typeface="JetBrains Mono NL"/>
              </a:rPr>
              <a:t>, </a:t>
            </a:r>
            <a:r>
              <a:rPr lang="en-US" altLang="en-US" sz="1600" dirty="0">
                <a:latin typeface="Arial" panose="020B0604020202020204" pitchFamily="34" charset="0"/>
              </a:rPr>
              <a:t>_</a:t>
            </a:r>
            <a:r>
              <a:rPr lang="en-US" altLang="en-US" sz="1600" dirty="0">
                <a:solidFill>
                  <a:srgbClr val="000000"/>
                </a:solidFill>
                <a:latin typeface="JetBrains Mono NL"/>
              </a:rPr>
              <a:t>(</a:t>
            </a:r>
            <a:r>
              <a:rPr lang="en-US" altLang="en-US" sz="1600" dirty="0">
                <a:solidFill>
                  <a:srgbClr val="BA2121"/>
                </a:solidFill>
                <a:latin typeface="JetBrains Mono NL"/>
              </a:rPr>
              <a:t>'Senior’</a:t>
            </a:r>
            <a:r>
              <a:rPr lang="en-US" altLang="en-US" sz="1600" dirty="0">
                <a:solidFill>
                  <a:srgbClr val="000000"/>
                </a:solidFill>
                <a:latin typeface="JetBrains Mono NL"/>
              </a:rPr>
              <a:t>) </a:t>
            </a:r>
          </a:p>
          <a:p>
            <a:pPr lvl="0" defTabSz="914400" eaLnBrk="0" fontAlgn="base" hangingPunct="0">
              <a:spcBef>
                <a:spcPct val="30000"/>
              </a:spcBef>
              <a:spcAft>
                <a:spcPct val="0"/>
              </a:spcAft>
            </a:pPr>
            <a:r>
              <a:rPr lang="en-US" altLang="en-US" sz="1600" dirty="0">
                <a:solidFill>
                  <a:srgbClr val="000000"/>
                </a:solidFill>
                <a:latin typeface="JetBrains Mono NL"/>
              </a:rPr>
              <a:t>		</a:t>
            </a:r>
            <a:r>
              <a:rPr lang="en-US" altLang="en-US" sz="1600" dirty="0">
                <a:latin typeface="Arial" panose="020B0604020202020204" pitchFamily="34" charset="0"/>
              </a:rPr>
              <a:t>GRADUATE</a:t>
            </a:r>
            <a:r>
              <a:rPr lang="en-US" altLang="en-US" sz="1600" dirty="0">
                <a:solidFill>
                  <a:srgbClr val="000000"/>
                </a:solidFill>
                <a:latin typeface="JetBrains Mono NL"/>
              </a:rPr>
              <a:t> </a:t>
            </a:r>
            <a:r>
              <a:rPr lang="en-US" altLang="en-US" sz="1600" dirty="0">
                <a:solidFill>
                  <a:srgbClr val="666666"/>
                </a:solidFill>
                <a:latin typeface="Arial" panose="020B0604020202020204" pitchFamily="34" charset="0"/>
              </a:rPr>
              <a:t>=</a:t>
            </a:r>
            <a:r>
              <a:rPr lang="en-US" altLang="en-US" sz="1600" dirty="0">
                <a:solidFill>
                  <a:srgbClr val="000000"/>
                </a:solidFill>
                <a:latin typeface="JetBrains Mono NL"/>
              </a:rPr>
              <a:t> </a:t>
            </a:r>
            <a:r>
              <a:rPr lang="en-US" altLang="en-US" sz="1600" dirty="0">
                <a:solidFill>
                  <a:srgbClr val="BA2121"/>
                </a:solidFill>
                <a:latin typeface="JetBrains Mono NL"/>
              </a:rPr>
              <a:t>'GR'</a:t>
            </a:r>
            <a:r>
              <a:rPr lang="en-US" altLang="en-US" sz="1600" dirty="0">
                <a:solidFill>
                  <a:srgbClr val="000000"/>
                </a:solidFill>
                <a:latin typeface="JetBrains Mono NL"/>
              </a:rPr>
              <a:t>, </a:t>
            </a:r>
            <a:r>
              <a:rPr lang="en-US" altLang="en-US" sz="1600" dirty="0">
                <a:latin typeface="Arial" panose="020B0604020202020204" pitchFamily="34" charset="0"/>
              </a:rPr>
              <a:t>_</a:t>
            </a:r>
            <a:r>
              <a:rPr lang="en-US" altLang="en-US" sz="1600" dirty="0">
                <a:solidFill>
                  <a:srgbClr val="000000"/>
                </a:solidFill>
                <a:latin typeface="JetBrains Mono NL"/>
              </a:rPr>
              <a:t>(</a:t>
            </a:r>
            <a:r>
              <a:rPr lang="en-US" altLang="en-US" sz="1600" dirty="0">
                <a:solidFill>
                  <a:srgbClr val="BA2121"/>
                </a:solidFill>
                <a:latin typeface="JetBrains Mono NL"/>
              </a:rPr>
              <a:t>'Graduate'</a:t>
            </a:r>
            <a:r>
              <a:rPr lang="en-US" altLang="en-US" sz="1600" dirty="0">
                <a:solidFill>
                  <a:srgbClr val="000000"/>
                </a:solidFill>
                <a:latin typeface="JetBrains Mono NL"/>
              </a:rPr>
              <a:t>)</a:t>
            </a:r>
            <a:r>
              <a:rPr lang="en-US" altLang="en-US" sz="2000" dirty="0"/>
              <a:t> </a:t>
            </a:r>
            <a:endParaRPr lang="en-US" altLang="en-US" sz="3600" dirty="0">
              <a:latin typeface="Arial" panose="020B0604020202020204" pitchFamily="34" charset="0"/>
            </a:endParaRPr>
          </a:p>
        </p:txBody>
      </p:sp>
      <p:sp>
        <p:nvSpPr>
          <p:cNvPr id="8" name="Rectangle 7">
            <a:extLst>
              <a:ext uri="{FF2B5EF4-FFF2-40B4-BE49-F238E27FC236}">
                <a16:creationId xmlns:a16="http://schemas.microsoft.com/office/drawing/2014/main" id="{9266F779-616B-4312-80DA-BDE36F3EF9C2}"/>
              </a:ext>
            </a:extLst>
          </p:cNvPr>
          <p:cNvSpPr/>
          <p:nvPr/>
        </p:nvSpPr>
        <p:spPr>
          <a:xfrm>
            <a:off x="1391794" y="5837290"/>
            <a:ext cx="9908552" cy="369332"/>
          </a:xfrm>
          <a:prstGeom prst="rect">
            <a:avLst/>
          </a:prstGeom>
          <a:ln/>
        </p:spPr>
        <p:style>
          <a:lnRef idx="2">
            <a:schemeClr val="accent5"/>
          </a:lnRef>
          <a:fillRef idx="1">
            <a:schemeClr val="lt1"/>
          </a:fillRef>
          <a:effectRef idx="0">
            <a:schemeClr val="accent5"/>
          </a:effectRef>
          <a:fontRef idx="minor">
            <a:schemeClr val="dk1"/>
          </a:fontRef>
        </p:style>
        <p:txBody>
          <a:bodyPr wrap="square">
            <a:spAutoFit/>
          </a:bodyPr>
          <a:lstStyle/>
          <a:p>
            <a:pPr lvl="0" defTabSz="914400" eaLnBrk="0" fontAlgn="base" hangingPunct="0">
              <a:spcBef>
                <a:spcPct val="30000"/>
              </a:spcBef>
              <a:spcAft>
                <a:spcPct val="0"/>
              </a:spcAft>
            </a:pPr>
            <a:r>
              <a:rPr lang="en-US" altLang="en-US" sz="1400" b="1" dirty="0" err="1">
                <a:latin typeface="Arial" panose="020B0604020202020204" pitchFamily="34" charset="0"/>
              </a:rPr>
              <a:t>year_in_school</a:t>
            </a:r>
            <a:r>
              <a:rPr lang="en-US" altLang="en-US" sz="1400" dirty="0">
                <a:solidFill>
                  <a:srgbClr val="000000"/>
                </a:solidFill>
                <a:latin typeface="JetBrains Mono NL"/>
              </a:rPr>
              <a:t> </a:t>
            </a:r>
            <a:r>
              <a:rPr lang="en-US" altLang="en-US" sz="1400" dirty="0">
                <a:solidFill>
                  <a:srgbClr val="666666"/>
                </a:solidFill>
                <a:latin typeface="Arial" panose="020B0604020202020204" pitchFamily="34" charset="0"/>
              </a:rPr>
              <a:t>=</a:t>
            </a:r>
            <a:r>
              <a:rPr lang="en-US" altLang="en-US" sz="1400" dirty="0">
                <a:solidFill>
                  <a:srgbClr val="000000"/>
                </a:solidFill>
                <a:latin typeface="JetBrains Mono NL"/>
              </a:rPr>
              <a:t> </a:t>
            </a:r>
            <a:r>
              <a:rPr lang="en-US" altLang="en-US" sz="1400" dirty="0" err="1">
                <a:latin typeface="Arial" panose="020B0604020202020204" pitchFamily="34" charset="0"/>
              </a:rPr>
              <a:t>models</a:t>
            </a:r>
            <a:r>
              <a:rPr lang="en-US" altLang="en-US" sz="1400" dirty="0" err="1">
                <a:solidFill>
                  <a:srgbClr val="666666"/>
                </a:solidFill>
                <a:latin typeface="Arial" panose="020B0604020202020204" pitchFamily="34" charset="0"/>
              </a:rPr>
              <a:t>.</a:t>
            </a:r>
            <a:r>
              <a:rPr lang="en-US" altLang="en-US" sz="1400" dirty="0" err="1">
                <a:latin typeface="Arial" panose="020B0604020202020204" pitchFamily="34" charset="0"/>
              </a:rPr>
              <a:t>CharField</a:t>
            </a:r>
            <a:r>
              <a:rPr lang="en-US" altLang="en-US" sz="1400" dirty="0">
                <a:solidFill>
                  <a:srgbClr val="000000"/>
                </a:solidFill>
                <a:latin typeface="JetBrains Mono NL"/>
              </a:rPr>
              <a:t>( </a:t>
            </a:r>
            <a:r>
              <a:rPr lang="en-US" altLang="en-US" sz="1400" dirty="0" err="1">
                <a:latin typeface="Arial" panose="020B0604020202020204" pitchFamily="34" charset="0"/>
              </a:rPr>
              <a:t>max_length</a:t>
            </a:r>
            <a:r>
              <a:rPr lang="en-US" altLang="en-US" sz="1400" dirty="0">
                <a:solidFill>
                  <a:srgbClr val="666666"/>
                </a:solidFill>
                <a:latin typeface="Arial" panose="020B0604020202020204" pitchFamily="34" charset="0"/>
              </a:rPr>
              <a:t>=</a:t>
            </a:r>
            <a:r>
              <a:rPr lang="en-US" altLang="en-US" sz="1400" dirty="0">
                <a:solidFill>
                  <a:srgbClr val="666666"/>
                </a:solidFill>
                <a:latin typeface="JetBrains Mono NL"/>
              </a:rPr>
              <a:t>2</a:t>
            </a:r>
            <a:r>
              <a:rPr lang="en-US" altLang="en-US" sz="1400" dirty="0">
                <a:solidFill>
                  <a:srgbClr val="000000"/>
                </a:solidFill>
                <a:latin typeface="JetBrains Mono NL"/>
              </a:rPr>
              <a:t>, </a:t>
            </a:r>
            <a:r>
              <a:rPr lang="en-US" altLang="en-US" sz="1400" dirty="0">
                <a:latin typeface="Arial" panose="020B0604020202020204" pitchFamily="34" charset="0"/>
              </a:rPr>
              <a:t>choices</a:t>
            </a:r>
            <a:r>
              <a:rPr lang="en-US" altLang="en-US" sz="1400" dirty="0">
                <a:solidFill>
                  <a:srgbClr val="666666"/>
                </a:solidFill>
                <a:latin typeface="Arial" panose="020B0604020202020204" pitchFamily="34" charset="0"/>
              </a:rPr>
              <a:t>=</a:t>
            </a:r>
            <a:r>
              <a:rPr lang="en-US" altLang="en-US" sz="1400" b="1" dirty="0" err="1">
                <a:latin typeface="Arial" panose="020B0604020202020204" pitchFamily="34" charset="0"/>
              </a:rPr>
              <a:t>YearInSchool</a:t>
            </a:r>
            <a:r>
              <a:rPr lang="en-US" altLang="en-US" sz="1400" b="1" dirty="0" err="1">
                <a:solidFill>
                  <a:srgbClr val="666666"/>
                </a:solidFill>
                <a:latin typeface="Arial" panose="020B0604020202020204" pitchFamily="34" charset="0"/>
              </a:rPr>
              <a:t>.</a:t>
            </a:r>
            <a:r>
              <a:rPr lang="en-US" altLang="en-US" sz="1400" b="1" dirty="0" err="1">
                <a:latin typeface="Arial" panose="020B0604020202020204" pitchFamily="34" charset="0"/>
              </a:rPr>
              <a:t>choices</a:t>
            </a:r>
            <a:r>
              <a:rPr lang="en-US" altLang="en-US" sz="1400" dirty="0">
                <a:solidFill>
                  <a:srgbClr val="000000"/>
                </a:solidFill>
                <a:latin typeface="JetBrains Mono NL"/>
              </a:rPr>
              <a:t>, </a:t>
            </a:r>
            <a:r>
              <a:rPr lang="en-US" altLang="en-US" sz="1400" dirty="0">
                <a:latin typeface="Arial" panose="020B0604020202020204" pitchFamily="34" charset="0"/>
              </a:rPr>
              <a:t>default</a:t>
            </a:r>
            <a:r>
              <a:rPr lang="en-US" altLang="en-US" sz="1400" dirty="0">
                <a:solidFill>
                  <a:srgbClr val="666666"/>
                </a:solidFill>
                <a:latin typeface="Arial" panose="020B0604020202020204" pitchFamily="34" charset="0"/>
              </a:rPr>
              <a:t>=</a:t>
            </a:r>
            <a:r>
              <a:rPr lang="en-US" altLang="en-US" sz="1400" dirty="0" err="1">
                <a:latin typeface="Arial" panose="020B0604020202020204" pitchFamily="34" charset="0"/>
              </a:rPr>
              <a:t>Y</a:t>
            </a:r>
            <a:r>
              <a:rPr lang="en-US" altLang="en-US" sz="1400" b="1" dirty="0" err="1">
                <a:latin typeface="Arial" panose="020B0604020202020204" pitchFamily="34" charset="0"/>
              </a:rPr>
              <a:t>earInSchool</a:t>
            </a:r>
            <a:r>
              <a:rPr lang="en-US" altLang="en-US" sz="1400" b="1" dirty="0" err="1">
                <a:solidFill>
                  <a:srgbClr val="666666"/>
                </a:solidFill>
                <a:latin typeface="Arial" panose="020B0604020202020204" pitchFamily="34" charset="0"/>
              </a:rPr>
              <a:t>.</a:t>
            </a:r>
            <a:r>
              <a:rPr lang="en-US" altLang="en-US" sz="1400" b="1" dirty="0" err="1">
                <a:latin typeface="Arial" panose="020B0604020202020204" pitchFamily="34" charset="0"/>
              </a:rPr>
              <a:t>FRESHMAN</a:t>
            </a:r>
            <a:r>
              <a:rPr lang="en-US" altLang="en-US" sz="1400" dirty="0">
                <a:solidFill>
                  <a:srgbClr val="000000"/>
                </a:solidFill>
                <a:latin typeface="JetBrains Mono NL"/>
              </a:rPr>
              <a:t> )</a:t>
            </a:r>
            <a:r>
              <a:rPr lang="en-US" altLang="en-US" dirty="0"/>
              <a:t> </a:t>
            </a:r>
            <a:endParaRPr lang="en-US" altLang="en-US" sz="2000" dirty="0">
              <a:latin typeface="Arial" panose="020B0604020202020204" pitchFamily="34" charset="0"/>
            </a:endParaRPr>
          </a:p>
        </p:txBody>
      </p:sp>
    </p:spTree>
    <p:extLst>
      <p:ext uri="{BB962C8B-B14F-4D97-AF65-F5344CB8AC3E}">
        <p14:creationId xmlns:p14="http://schemas.microsoft.com/office/powerpoint/2010/main" val="2879576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7A351-8B3E-4DB3-B32A-FACC3882ACCE}"/>
              </a:ext>
            </a:extLst>
          </p:cNvPr>
          <p:cNvSpPr>
            <a:spLocks noGrp="1"/>
          </p:cNvSpPr>
          <p:nvPr>
            <p:ph type="title"/>
          </p:nvPr>
        </p:nvSpPr>
        <p:spPr/>
        <p:txBody>
          <a:bodyPr/>
          <a:lstStyle/>
          <a:p>
            <a:r>
              <a:rPr lang="en-US" dirty="0"/>
              <a:t>Field Options</a:t>
            </a:r>
          </a:p>
        </p:txBody>
      </p:sp>
      <p:sp>
        <p:nvSpPr>
          <p:cNvPr id="3" name="Slide Number Placeholder 2">
            <a:extLst>
              <a:ext uri="{FF2B5EF4-FFF2-40B4-BE49-F238E27FC236}">
                <a16:creationId xmlns:a16="http://schemas.microsoft.com/office/drawing/2014/main" id="{28611028-3443-42B2-BC2A-FCEB44016F06}"/>
              </a:ext>
            </a:extLst>
          </p:cNvPr>
          <p:cNvSpPr>
            <a:spLocks noGrp="1"/>
          </p:cNvSpPr>
          <p:nvPr>
            <p:ph type="sldNum" sz="quarter" idx="12"/>
          </p:nvPr>
        </p:nvSpPr>
        <p:spPr/>
        <p:txBody>
          <a:bodyPr/>
          <a:lstStyle/>
          <a:p>
            <a:fld id="{0D6F892B-1791-4F93-8AFD-83813F10F54D}" type="slidenum">
              <a:rPr lang="en-US" smtClean="0"/>
              <a:t>32</a:t>
            </a:fld>
            <a:endParaRPr lang="en-US"/>
          </a:p>
        </p:txBody>
      </p:sp>
      <p:sp>
        <p:nvSpPr>
          <p:cNvPr id="5" name="Rectangle 4">
            <a:extLst>
              <a:ext uri="{FF2B5EF4-FFF2-40B4-BE49-F238E27FC236}">
                <a16:creationId xmlns:a16="http://schemas.microsoft.com/office/drawing/2014/main" id="{BD391D93-F78F-4486-9CF2-10B6640492E0}"/>
              </a:ext>
            </a:extLst>
          </p:cNvPr>
          <p:cNvSpPr/>
          <p:nvPr/>
        </p:nvSpPr>
        <p:spPr>
          <a:xfrm>
            <a:off x="1154954" y="2301159"/>
            <a:ext cx="10400942" cy="2255682"/>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sz="2400" b="1" dirty="0">
                <a:solidFill>
                  <a:srgbClr val="07184E"/>
                </a:solidFill>
                <a:latin typeface="JetBrains Mono NL"/>
              </a:rPr>
              <a:t>Primary Key </a:t>
            </a:r>
          </a:p>
          <a:p>
            <a:pPr lvl="0" algn="just" defTabSz="914400" eaLnBrk="0" fontAlgn="base" hangingPunct="0">
              <a:lnSpc>
                <a:spcPct val="150000"/>
              </a:lnSpc>
              <a:spcBef>
                <a:spcPct val="0"/>
              </a:spcBef>
              <a:spcAft>
                <a:spcPct val="0"/>
              </a:spcAft>
            </a:pPr>
            <a:r>
              <a:rPr lang="en-US" altLang="en-US" dirty="0"/>
              <a:t>If </a:t>
            </a:r>
            <a:r>
              <a:rPr lang="en-US" altLang="en-US" b="1" dirty="0"/>
              <a:t>True</a:t>
            </a:r>
            <a:r>
              <a:rPr lang="en-US" altLang="en-US" dirty="0"/>
              <a:t>, this field is the primary key for the model.</a:t>
            </a:r>
          </a:p>
          <a:p>
            <a:pPr lvl="0" algn="just" defTabSz="914400" eaLnBrk="0" fontAlgn="base" hangingPunct="0">
              <a:lnSpc>
                <a:spcPct val="150000"/>
              </a:lnSpc>
              <a:spcBef>
                <a:spcPct val="0"/>
              </a:spcBef>
              <a:spcAft>
                <a:spcPct val="0"/>
              </a:spcAft>
            </a:pPr>
            <a:r>
              <a:rPr lang="en-US" altLang="en-US" dirty="0"/>
              <a:t>If you don’t specify </a:t>
            </a:r>
            <a:r>
              <a:rPr lang="en-US" altLang="en-US" b="1" dirty="0" err="1"/>
              <a:t>primary_key</a:t>
            </a:r>
            <a:r>
              <a:rPr lang="en-US" altLang="en-US" b="1" dirty="0"/>
              <a:t>=True</a:t>
            </a:r>
            <a:r>
              <a:rPr lang="en-US" altLang="en-US" dirty="0"/>
              <a:t> for any field in your model, Django will automatically add a field to hold the primary key, so you don’t need to set </a:t>
            </a:r>
            <a:r>
              <a:rPr lang="en-US" altLang="en-US" b="1" dirty="0" err="1"/>
              <a:t>primary_key</a:t>
            </a:r>
            <a:r>
              <a:rPr lang="en-US" altLang="en-US" b="1" dirty="0"/>
              <a:t>=True</a:t>
            </a:r>
            <a:r>
              <a:rPr lang="en-US" altLang="en-US" dirty="0"/>
              <a:t> on any of your fields unless you want to override the default primary-key behavior. </a:t>
            </a:r>
          </a:p>
        </p:txBody>
      </p:sp>
      <p:sp>
        <p:nvSpPr>
          <p:cNvPr id="8" name="Rectangle 7">
            <a:extLst>
              <a:ext uri="{FF2B5EF4-FFF2-40B4-BE49-F238E27FC236}">
                <a16:creationId xmlns:a16="http://schemas.microsoft.com/office/drawing/2014/main" id="{4AB67F6B-CAFF-4A06-BC66-6D93CA262A7A}"/>
              </a:ext>
            </a:extLst>
          </p:cNvPr>
          <p:cNvSpPr/>
          <p:nvPr/>
        </p:nvSpPr>
        <p:spPr>
          <a:xfrm>
            <a:off x="1264175" y="4954729"/>
            <a:ext cx="8463458" cy="3693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defTabSz="914400" eaLnBrk="0" fontAlgn="base" hangingPunct="0">
              <a:spcBef>
                <a:spcPct val="0"/>
              </a:spcBef>
              <a:spcAft>
                <a:spcPct val="0"/>
              </a:spcAft>
            </a:pPr>
            <a:r>
              <a:rPr lang="en-US" altLang="en-US" dirty="0" err="1">
                <a:latin typeface="Arial" panose="020B0604020202020204" pitchFamily="34" charset="0"/>
              </a:rPr>
              <a:t>person_id</a:t>
            </a:r>
            <a:r>
              <a:rPr lang="en-US" altLang="en-US" dirty="0">
                <a:latin typeface="Arial" panose="020B0604020202020204" pitchFamily="34" charset="0"/>
              </a:rPr>
              <a:t> = </a:t>
            </a:r>
            <a:r>
              <a:rPr lang="en-US" altLang="en-US" dirty="0" err="1">
                <a:latin typeface="Arial" panose="020B0604020202020204" pitchFamily="34" charset="0"/>
              </a:rPr>
              <a:t>models.IntegerField</a:t>
            </a:r>
            <a:r>
              <a:rPr lang="en-US" altLang="en-US" dirty="0">
                <a:latin typeface="Arial" panose="020B0604020202020204" pitchFamily="34" charset="0"/>
              </a:rPr>
              <a:t>(</a:t>
            </a:r>
            <a:r>
              <a:rPr lang="en-US" altLang="en-US" b="1" dirty="0" err="1">
                <a:latin typeface="Arial" panose="020B0604020202020204" pitchFamily="34" charset="0"/>
              </a:rPr>
              <a:t>primary_key</a:t>
            </a:r>
            <a:r>
              <a:rPr lang="en-US" altLang="en-US" dirty="0">
                <a:latin typeface="Arial" panose="020B0604020202020204" pitchFamily="34" charset="0"/>
              </a:rPr>
              <a:t>=</a:t>
            </a:r>
            <a:r>
              <a:rPr lang="en-US" altLang="en-US" b="1" dirty="0">
                <a:latin typeface="Arial" panose="020B0604020202020204" pitchFamily="34" charset="0"/>
              </a:rPr>
              <a:t>True</a:t>
            </a:r>
            <a:r>
              <a:rPr lang="en-US" altLang="en-US" dirty="0">
                <a:latin typeface="Arial" panose="020B0604020202020204" pitchFamily="34" charset="0"/>
              </a:rPr>
              <a:t>)</a:t>
            </a:r>
            <a:endParaRPr lang="en-US" altLang="en-US" sz="2800" dirty="0">
              <a:latin typeface="Arial" panose="020B0604020202020204" pitchFamily="34" charset="0"/>
            </a:endParaRPr>
          </a:p>
        </p:txBody>
      </p:sp>
    </p:spTree>
    <p:extLst>
      <p:ext uri="{BB962C8B-B14F-4D97-AF65-F5344CB8AC3E}">
        <p14:creationId xmlns:p14="http://schemas.microsoft.com/office/powerpoint/2010/main" val="1276574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DF285C-7C00-41C6-803B-2AF33DC83999}"/>
              </a:ext>
            </a:extLst>
          </p:cNvPr>
          <p:cNvSpPr>
            <a:spLocks noGrp="1"/>
          </p:cNvSpPr>
          <p:nvPr>
            <p:ph type="title"/>
          </p:nvPr>
        </p:nvSpPr>
        <p:spPr/>
        <p:txBody>
          <a:bodyPr/>
          <a:lstStyle/>
          <a:p>
            <a:r>
              <a:rPr lang="en-US" dirty="0"/>
              <a:t>Field Options</a:t>
            </a:r>
          </a:p>
        </p:txBody>
      </p:sp>
      <p:sp>
        <p:nvSpPr>
          <p:cNvPr id="3" name="Slide Number Placeholder 2">
            <a:extLst>
              <a:ext uri="{FF2B5EF4-FFF2-40B4-BE49-F238E27FC236}">
                <a16:creationId xmlns:a16="http://schemas.microsoft.com/office/drawing/2014/main" id="{3A12DF35-DD13-4114-9826-1A07D9AFC03C}"/>
              </a:ext>
            </a:extLst>
          </p:cNvPr>
          <p:cNvSpPr>
            <a:spLocks noGrp="1"/>
          </p:cNvSpPr>
          <p:nvPr>
            <p:ph type="sldNum" sz="quarter" idx="12"/>
          </p:nvPr>
        </p:nvSpPr>
        <p:spPr/>
        <p:txBody>
          <a:bodyPr/>
          <a:lstStyle/>
          <a:p>
            <a:fld id="{0D6F892B-1791-4F93-8AFD-83813F10F54D}" type="slidenum">
              <a:rPr lang="en-US" smtClean="0"/>
              <a:t>33</a:t>
            </a:fld>
            <a:endParaRPr lang="en-US"/>
          </a:p>
        </p:txBody>
      </p:sp>
      <p:sp>
        <p:nvSpPr>
          <p:cNvPr id="4" name="Rectangle 3">
            <a:extLst>
              <a:ext uri="{FF2B5EF4-FFF2-40B4-BE49-F238E27FC236}">
                <a16:creationId xmlns:a16="http://schemas.microsoft.com/office/drawing/2014/main" id="{93F9D93D-D523-4328-8C85-AB6D65A42B55}"/>
              </a:ext>
            </a:extLst>
          </p:cNvPr>
          <p:cNvSpPr/>
          <p:nvPr/>
        </p:nvSpPr>
        <p:spPr>
          <a:xfrm>
            <a:off x="1035684" y="2359896"/>
            <a:ext cx="10155055" cy="2671180"/>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sz="2400" b="1" dirty="0">
                <a:solidFill>
                  <a:srgbClr val="07184E"/>
                </a:solidFill>
                <a:latin typeface="JetBrains Mono NL"/>
              </a:rPr>
              <a:t>unique</a:t>
            </a:r>
            <a:endParaRPr lang="en-US" altLang="en-US" dirty="0">
              <a:solidFill>
                <a:srgbClr val="000000"/>
              </a:solidFill>
              <a:latin typeface="Source Sans Pro" panose="020B0503030403020204" pitchFamily="34" charset="0"/>
            </a:endParaRPr>
          </a:p>
          <a:p>
            <a:pPr lvl="0" algn="just" defTabSz="914400" eaLnBrk="0" fontAlgn="base" hangingPunct="0">
              <a:lnSpc>
                <a:spcPct val="150000"/>
              </a:lnSpc>
              <a:spcBef>
                <a:spcPct val="0"/>
              </a:spcBef>
              <a:spcAft>
                <a:spcPct val="0"/>
              </a:spcAft>
            </a:pPr>
            <a:r>
              <a:rPr lang="en-US" altLang="en-US" dirty="0"/>
              <a:t>If </a:t>
            </a:r>
            <a:r>
              <a:rPr lang="en-US" altLang="en-US" b="1" dirty="0"/>
              <a:t>True</a:t>
            </a:r>
            <a:r>
              <a:rPr lang="en-US" altLang="en-US" dirty="0"/>
              <a:t>, this field must be unique throughout the table.</a:t>
            </a:r>
          </a:p>
          <a:p>
            <a:pPr lvl="0" algn="just" defTabSz="914400" eaLnBrk="0" fontAlgn="base" hangingPunct="0">
              <a:lnSpc>
                <a:spcPct val="150000"/>
              </a:lnSpc>
              <a:spcBef>
                <a:spcPct val="0"/>
              </a:spcBef>
              <a:spcAft>
                <a:spcPct val="0"/>
              </a:spcAft>
            </a:pPr>
            <a:r>
              <a:rPr lang="en-US" altLang="en-US" dirty="0"/>
              <a:t>This is enforced at the database level and by model validation. If you try to save a model with a duplicate value in a </a:t>
            </a:r>
            <a:r>
              <a:rPr lang="en-US" altLang="en-US" b="1" dirty="0">
                <a:hlinkClick r:id="rId2" tooltip="django.db.models.Field.unique">
                  <a:extLst>
                    <a:ext uri="{A12FA001-AC4F-418D-AE19-62706E023703}">
                      <ahyp:hlinkClr xmlns:ahyp="http://schemas.microsoft.com/office/drawing/2018/hyperlinkcolor" val="tx"/>
                    </a:ext>
                  </a:extLst>
                </a:hlinkClick>
              </a:rPr>
              <a:t>unique</a:t>
            </a:r>
            <a:r>
              <a:rPr lang="en-US" altLang="en-US" dirty="0"/>
              <a:t> field, a </a:t>
            </a:r>
            <a:r>
              <a:rPr lang="en-US" altLang="en-US" dirty="0" err="1">
                <a:hlinkClick r:id="rId3" tooltip="django.db.IntegrityError">
                  <a:extLst>
                    <a:ext uri="{A12FA001-AC4F-418D-AE19-62706E023703}">
                      <ahyp:hlinkClr xmlns:ahyp="http://schemas.microsoft.com/office/drawing/2018/hyperlinkcolor" val="tx"/>
                    </a:ext>
                  </a:extLst>
                </a:hlinkClick>
              </a:rPr>
              <a:t>django.db.IntegrityError</a:t>
            </a:r>
            <a:r>
              <a:rPr lang="en-US" altLang="en-US" dirty="0"/>
              <a:t> will be raised by the model’s </a:t>
            </a:r>
            <a:r>
              <a:rPr lang="en-US" altLang="en-US" b="1" dirty="0">
                <a:hlinkClick r:id="rId4" tooltip="django.db.models.Model.save">
                  <a:extLst>
                    <a:ext uri="{A12FA001-AC4F-418D-AE19-62706E023703}">
                      <ahyp:hlinkClr xmlns:ahyp="http://schemas.microsoft.com/office/drawing/2018/hyperlinkcolor" val="tx"/>
                    </a:ext>
                  </a:extLst>
                </a:hlinkClick>
              </a:rPr>
              <a:t>save()</a:t>
            </a:r>
            <a:r>
              <a:rPr lang="en-US" altLang="en-US" dirty="0"/>
              <a:t> method.</a:t>
            </a:r>
          </a:p>
          <a:p>
            <a:pPr lvl="0" algn="just" defTabSz="914400" eaLnBrk="0" fontAlgn="base" hangingPunct="0">
              <a:lnSpc>
                <a:spcPct val="150000"/>
              </a:lnSpc>
              <a:spcBef>
                <a:spcPct val="0"/>
              </a:spcBef>
              <a:spcAft>
                <a:spcPct val="0"/>
              </a:spcAft>
            </a:pPr>
            <a:r>
              <a:rPr lang="en-US" altLang="en-US" dirty="0"/>
              <a:t>This option is valid on all field types except </a:t>
            </a:r>
            <a:r>
              <a:rPr lang="en-US" altLang="en-US" b="1" dirty="0" err="1">
                <a:hlinkClick r:id="rId5" tooltip="django.db.models.ManyToManyField">
                  <a:extLst>
                    <a:ext uri="{A12FA001-AC4F-418D-AE19-62706E023703}">
                      <ahyp:hlinkClr xmlns:ahyp="http://schemas.microsoft.com/office/drawing/2018/hyperlinkcolor" val="tx"/>
                    </a:ext>
                  </a:extLst>
                </a:hlinkClick>
              </a:rPr>
              <a:t>ManyToManyField</a:t>
            </a:r>
            <a:r>
              <a:rPr lang="en-US" altLang="en-US" dirty="0"/>
              <a:t> and </a:t>
            </a:r>
            <a:r>
              <a:rPr lang="en-US" altLang="en-US" b="1" dirty="0" err="1">
                <a:hlinkClick r:id="rId6" tooltip="django.db.models.OneToOneField">
                  <a:extLst>
                    <a:ext uri="{A12FA001-AC4F-418D-AE19-62706E023703}">
                      <ahyp:hlinkClr xmlns:ahyp="http://schemas.microsoft.com/office/drawing/2018/hyperlinkcolor" val="tx"/>
                    </a:ext>
                  </a:extLst>
                </a:hlinkClick>
              </a:rPr>
              <a:t>OneToOneField</a:t>
            </a:r>
            <a:r>
              <a:rPr lang="en-US" altLang="en-US" dirty="0"/>
              <a:t>.</a:t>
            </a:r>
          </a:p>
        </p:txBody>
      </p:sp>
      <p:sp>
        <p:nvSpPr>
          <p:cNvPr id="6" name="Rectangle 5">
            <a:extLst>
              <a:ext uri="{FF2B5EF4-FFF2-40B4-BE49-F238E27FC236}">
                <a16:creationId xmlns:a16="http://schemas.microsoft.com/office/drawing/2014/main" id="{4C983C6D-6F0E-40CB-B25B-1B26C36153F6}"/>
              </a:ext>
            </a:extLst>
          </p:cNvPr>
          <p:cNvSpPr/>
          <p:nvPr/>
        </p:nvSpPr>
        <p:spPr>
          <a:xfrm>
            <a:off x="1141702" y="5354823"/>
            <a:ext cx="846345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defTabSz="914400" eaLnBrk="0" fontAlgn="base" hangingPunct="0">
              <a:spcBef>
                <a:spcPct val="0"/>
              </a:spcBef>
              <a:spcAft>
                <a:spcPct val="0"/>
              </a:spcAft>
            </a:pPr>
            <a:r>
              <a:rPr lang="en-US" altLang="en-US" dirty="0">
                <a:latin typeface="Arial" panose="020B0604020202020204" pitchFamily="34" charset="0"/>
              </a:rPr>
              <a:t>sites</a:t>
            </a:r>
            <a:r>
              <a:rPr lang="en-US" altLang="en-US" dirty="0">
                <a:solidFill>
                  <a:srgbClr val="000000"/>
                </a:solidFill>
                <a:latin typeface="JetBrains Mono NL"/>
              </a:rPr>
              <a:t> </a:t>
            </a:r>
            <a:r>
              <a:rPr lang="en-US" altLang="en-US" dirty="0">
                <a:solidFill>
                  <a:srgbClr val="666666"/>
                </a:solidFill>
                <a:latin typeface="Arial" panose="020B0604020202020204" pitchFamily="34" charset="0"/>
              </a:rPr>
              <a:t>=</a:t>
            </a:r>
            <a:r>
              <a:rPr lang="en-US" altLang="en-US" dirty="0">
                <a:solidFill>
                  <a:srgbClr val="000000"/>
                </a:solidFill>
                <a:latin typeface="JetBrains Mono NL"/>
              </a:rPr>
              <a:t> </a:t>
            </a:r>
            <a:r>
              <a:rPr lang="en-US" altLang="en-US" dirty="0" err="1">
                <a:latin typeface="Arial" panose="020B0604020202020204" pitchFamily="34" charset="0"/>
              </a:rPr>
              <a:t>models</a:t>
            </a:r>
            <a:r>
              <a:rPr lang="en-US" altLang="en-US" dirty="0" err="1">
                <a:solidFill>
                  <a:srgbClr val="666666"/>
                </a:solidFill>
                <a:latin typeface="Arial" panose="020B0604020202020204" pitchFamily="34" charset="0"/>
              </a:rPr>
              <a:t>.</a:t>
            </a:r>
            <a:r>
              <a:rPr lang="en-US" altLang="en-US" dirty="0" err="1">
                <a:latin typeface="Arial" panose="020B0604020202020204" pitchFamily="34" charset="0"/>
              </a:rPr>
              <a:t>ManyToManyField</a:t>
            </a:r>
            <a:r>
              <a:rPr lang="en-US" altLang="en-US" dirty="0">
                <a:solidFill>
                  <a:srgbClr val="000000"/>
                </a:solidFill>
                <a:latin typeface="JetBrains Mono NL"/>
              </a:rPr>
              <a:t>(</a:t>
            </a:r>
            <a:r>
              <a:rPr lang="en-US" altLang="en-US" dirty="0">
                <a:latin typeface="Arial" panose="020B0604020202020204" pitchFamily="34" charset="0"/>
              </a:rPr>
              <a:t>Site</a:t>
            </a:r>
            <a:r>
              <a:rPr lang="en-US" altLang="en-US" dirty="0">
                <a:solidFill>
                  <a:srgbClr val="000000"/>
                </a:solidFill>
                <a:latin typeface="JetBrains Mono NL"/>
              </a:rPr>
              <a:t>, </a:t>
            </a:r>
            <a:r>
              <a:rPr lang="en-US" altLang="en-US" b="1" dirty="0">
                <a:solidFill>
                  <a:srgbClr val="000000"/>
                </a:solidFill>
                <a:latin typeface="Arial" panose="020B0604020202020204" pitchFamily="34" charset="0"/>
              </a:rPr>
              <a:t>unique</a:t>
            </a:r>
            <a:r>
              <a:rPr lang="en-US" altLang="en-US" dirty="0">
                <a:solidFill>
                  <a:srgbClr val="000000"/>
                </a:solidFill>
                <a:latin typeface="Arial" panose="020B0604020202020204" pitchFamily="34" charset="0"/>
              </a:rPr>
              <a:t>=</a:t>
            </a:r>
            <a:r>
              <a:rPr lang="en-US" altLang="en-US" b="1" dirty="0">
                <a:solidFill>
                  <a:srgbClr val="000000"/>
                </a:solidFill>
                <a:latin typeface="Arial" panose="020B0604020202020204" pitchFamily="34" charset="0"/>
              </a:rPr>
              <a:t>True</a:t>
            </a:r>
            <a:r>
              <a:rPr lang="en-US" altLang="en-US" dirty="0">
                <a:solidFill>
                  <a:srgbClr val="000000"/>
                </a:solidFill>
                <a:latin typeface="JetBrains Mono NL"/>
              </a:rPr>
              <a:t>)</a:t>
            </a:r>
            <a:r>
              <a:rPr lang="en-US" altLang="en-US" sz="2400" dirty="0"/>
              <a:t> </a:t>
            </a:r>
            <a:endParaRPr lang="en-US" altLang="en-US" sz="2800" dirty="0">
              <a:latin typeface="Arial" panose="020B0604020202020204" pitchFamily="34" charset="0"/>
            </a:endParaRPr>
          </a:p>
        </p:txBody>
      </p:sp>
    </p:spTree>
    <p:extLst>
      <p:ext uri="{BB962C8B-B14F-4D97-AF65-F5344CB8AC3E}">
        <p14:creationId xmlns:p14="http://schemas.microsoft.com/office/powerpoint/2010/main" val="409107479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7200B6-C28A-465F-BBA7-26BF0FE6A85F}"/>
              </a:ext>
            </a:extLst>
          </p:cNvPr>
          <p:cNvSpPr>
            <a:spLocks noGrp="1"/>
          </p:cNvSpPr>
          <p:nvPr>
            <p:ph type="title"/>
          </p:nvPr>
        </p:nvSpPr>
        <p:spPr/>
        <p:txBody>
          <a:bodyPr/>
          <a:lstStyle/>
          <a:p>
            <a:r>
              <a:rPr lang="en-US" dirty="0"/>
              <a:t>Field Option Unique Example</a:t>
            </a:r>
          </a:p>
        </p:txBody>
      </p:sp>
      <p:sp>
        <p:nvSpPr>
          <p:cNvPr id="3" name="Slide Number Placeholder 2">
            <a:extLst>
              <a:ext uri="{FF2B5EF4-FFF2-40B4-BE49-F238E27FC236}">
                <a16:creationId xmlns:a16="http://schemas.microsoft.com/office/drawing/2014/main" id="{7C9E4E77-49F1-434A-9086-4CA8CF203AEE}"/>
              </a:ext>
            </a:extLst>
          </p:cNvPr>
          <p:cNvSpPr>
            <a:spLocks noGrp="1"/>
          </p:cNvSpPr>
          <p:nvPr>
            <p:ph type="sldNum" sz="quarter" idx="12"/>
          </p:nvPr>
        </p:nvSpPr>
        <p:spPr/>
        <p:txBody>
          <a:bodyPr/>
          <a:lstStyle/>
          <a:p>
            <a:fld id="{0D6F892B-1791-4F93-8AFD-83813F10F54D}" type="slidenum">
              <a:rPr lang="en-US" smtClean="0"/>
              <a:t>34</a:t>
            </a:fld>
            <a:endParaRPr lang="en-US"/>
          </a:p>
        </p:txBody>
      </p:sp>
      <p:sp>
        <p:nvSpPr>
          <p:cNvPr id="4" name="Rectangle 3">
            <a:extLst>
              <a:ext uri="{FF2B5EF4-FFF2-40B4-BE49-F238E27FC236}">
                <a16:creationId xmlns:a16="http://schemas.microsoft.com/office/drawing/2014/main" id="{71079784-4C44-4D11-8C2E-D1DB2CC10F8F}"/>
              </a:ext>
            </a:extLst>
          </p:cNvPr>
          <p:cNvSpPr/>
          <p:nvPr/>
        </p:nvSpPr>
        <p:spPr>
          <a:xfrm>
            <a:off x="1154956" y="2157112"/>
            <a:ext cx="1156086" cy="461665"/>
          </a:xfrm>
          <a:prstGeom prst="rect">
            <a:avLst/>
          </a:prstGeom>
        </p:spPr>
        <p:txBody>
          <a:bodyPr wrap="none">
            <a:spAutoFit/>
          </a:bodyPr>
          <a:lstStyle/>
          <a:p>
            <a:r>
              <a:rPr lang="en-US" sz="2400" b="1" dirty="0">
                <a:solidFill>
                  <a:srgbClr val="00B050"/>
                </a:solidFill>
              </a:rPr>
              <a:t>unique</a:t>
            </a:r>
          </a:p>
        </p:txBody>
      </p:sp>
      <p:sp>
        <p:nvSpPr>
          <p:cNvPr id="5" name="Rectangle 4">
            <a:extLst>
              <a:ext uri="{FF2B5EF4-FFF2-40B4-BE49-F238E27FC236}">
                <a16:creationId xmlns:a16="http://schemas.microsoft.com/office/drawing/2014/main" id="{6775E4A6-7B3D-4384-8D21-177789AA76C7}"/>
              </a:ext>
            </a:extLst>
          </p:cNvPr>
          <p:cNvSpPr/>
          <p:nvPr/>
        </p:nvSpPr>
        <p:spPr>
          <a:xfrm>
            <a:off x="1154955" y="2627141"/>
            <a:ext cx="8362683" cy="553998"/>
          </a:xfrm>
          <a:prstGeom prst="rect">
            <a:avLst/>
          </a:prstGeom>
        </p:spPr>
        <p:txBody>
          <a:bodyPr wrap="square">
            <a:spAutoFit/>
          </a:bodyPr>
          <a:lstStyle/>
          <a:p>
            <a:pPr lvl="1" indent="-457200" defTabSz="914400" eaLnBrk="0" fontAlgn="base" hangingPunct="0">
              <a:lnSpc>
                <a:spcPct val="150000"/>
              </a:lnSpc>
              <a:spcBef>
                <a:spcPct val="0"/>
              </a:spcBef>
              <a:spcAft>
                <a:spcPct val="0"/>
              </a:spcAft>
            </a:pPr>
            <a:r>
              <a:rPr lang="en-US" sz="2000" dirty="0">
                <a:latin typeface="Times New Roman" pitchFamily="18" charset="0"/>
                <a:cs typeface="Times New Roman" pitchFamily="18" charset="0"/>
              </a:rPr>
              <a:t>If True, this field must be unique throughout the table.</a:t>
            </a:r>
            <a:endParaRPr lang="en-US" sz="2000" dirty="0">
              <a:solidFill>
                <a:srgbClr val="0C3C26"/>
              </a:solidFill>
              <a:latin typeface="Times New Roman" pitchFamily="18" charset="0"/>
              <a:cs typeface="Times New Roman" pitchFamily="18" charset="0"/>
            </a:endParaRPr>
          </a:p>
        </p:txBody>
      </p:sp>
      <p:sp>
        <p:nvSpPr>
          <p:cNvPr id="6" name="Rectangle 5">
            <a:extLst>
              <a:ext uri="{FF2B5EF4-FFF2-40B4-BE49-F238E27FC236}">
                <a16:creationId xmlns:a16="http://schemas.microsoft.com/office/drawing/2014/main" id="{BCFC6F2D-6EC9-43A6-A17B-0EFAB0D35A76}"/>
              </a:ext>
            </a:extLst>
          </p:cNvPr>
          <p:cNvSpPr/>
          <p:nvPr/>
        </p:nvSpPr>
        <p:spPr>
          <a:xfrm>
            <a:off x="1154954" y="3690176"/>
            <a:ext cx="8027833" cy="870495"/>
          </a:xfrm>
          <a:prstGeom prst="rect">
            <a:avLst/>
          </a:prstGeom>
          <a:ln>
            <a:solidFill>
              <a:schemeClr val="tx1"/>
            </a:solidFill>
          </a:ln>
        </p:spPr>
        <p:txBody>
          <a:bodyPr wrap="square">
            <a:spAutoFit/>
          </a:bodyPr>
          <a:lstStyle/>
          <a:p>
            <a:pPr>
              <a:lnSpc>
                <a:spcPct val="150000"/>
              </a:lnSpc>
            </a:pPr>
            <a:r>
              <a:rPr lang="en-US" dirty="0"/>
              <a:t>class </a:t>
            </a:r>
            <a:r>
              <a:rPr lang="en-US" dirty="0">
                <a:solidFill>
                  <a:srgbClr val="0070C0"/>
                </a:solidFill>
              </a:rPr>
              <a:t>Student</a:t>
            </a:r>
            <a:r>
              <a:rPr lang="en-US" dirty="0"/>
              <a:t>(</a:t>
            </a:r>
            <a:r>
              <a:rPr lang="en-US" dirty="0" err="1"/>
              <a:t>models.Model</a:t>
            </a:r>
            <a:r>
              <a:rPr lang="en-US" dirty="0"/>
              <a:t>):</a:t>
            </a:r>
          </a:p>
          <a:p>
            <a:pPr>
              <a:lnSpc>
                <a:spcPct val="150000"/>
              </a:lnSpc>
            </a:pPr>
            <a:r>
              <a:rPr lang="en-US" dirty="0"/>
              <a:t>	name = </a:t>
            </a:r>
            <a:r>
              <a:rPr lang="en-US" dirty="0" err="1"/>
              <a:t>models.CharField</a:t>
            </a:r>
            <a:r>
              <a:rPr lang="en-US" dirty="0"/>
              <a:t>(</a:t>
            </a:r>
            <a:r>
              <a:rPr lang="en-US" dirty="0" err="1"/>
              <a:t>max_length</a:t>
            </a:r>
            <a:r>
              <a:rPr lang="en-US" dirty="0"/>
              <a:t>=30, </a:t>
            </a:r>
            <a:r>
              <a:rPr lang="en-US" b="1" dirty="0">
                <a:solidFill>
                  <a:srgbClr val="0070C0"/>
                </a:solidFill>
              </a:rPr>
              <a:t>unique</a:t>
            </a:r>
            <a:r>
              <a:rPr lang="en-US" dirty="0"/>
              <a:t>=</a:t>
            </a:r>
            <a:r>
              <a:rPr lang="en-US" b="1" dirty="0">
                <a:solidFill>
                  <a:srgbClr val="0070C0"/>
                </a:solidFill>
              </a:rPr>
              <a:t>True</a:t>
            </a:r>
            <a:r>
              <a:rPr lang="en-US" dirty="0"/>
              <a:t>)</a:t>
            </a:r>
          </a:p>
        </p:txBody>
      </p:sp>
      <p:sp>
        <p:nvSpPr>
          <p:cNvPr id="7" name="Rectangle 6">
            <a:extLst>
              <a:ext uri="{FF2B5EF4-FFF2-40B4-BE49-F238E27FC236}">
                <a16:creationId xmlns:a16="http://schemas.microsoft.com/office/drawing/2014/main" id="{2A9FB977-5E65-480B-943D-0C7ABF679B12}"/>
              </a:ext>
            </a:extLst>
          </p:cNvPr>
          <p:cNvSpPr/>
          <p:nvPr/>
        </p:nvSpPr>
        <p:spPr>
          <a:xfrm>
            <a:off x="1154956" y="3215992"/>
            <a:ext cx="1266693" cy="400110"/>
          </a:xfrm>
          <a:prstGeom prst="rect">
            <a:avLst/>
          </a:prstGeom>
        </p:spPr>
        <p:txBody>
          <a:bodyPr wrap="none">
            <a:spAutoFit/>
          </a:bodyPr>
          <a:lstStyle/>
          <a:p>
            <a:r>
              <a:rPr lang="en-US" sz="2000" b="1" dirty="0">
                <a:solidFill>
                  <a:srgbClr val="00B050"/>
                </a:solidFill>
              </a:rPr>
              <a:t>Example</a:t>
            </a:r>
            <a:endParaRPr lang="en-US" sz="2400" b="1" dirty="0">
              <a:solidFill>
                <a:srgbClr val="00B050"/>
              </a:solidFill>
            </a:endParaRPr>
          </a:p>
        </p:txBody>
      </p:sp>
      <p:pic>
        <p:nvPicPr>
          <p:cNvPr id="8" name="Picture 7" descr="Screen Clipping">
            <a:extLst>
              <a:ext uri="{FF2B5EF4-FFF2-40B4-BE49-F238E27FC236}">
                <a16:creationId xmlns:a16="http://schemas.microsoft.com/office/drawing/2014/main" id="{E4466504-5718-4EC0-A5D2-5123E68D3F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4" y="4846689"/>
            <a:ext cx="4835029" cy="1643909"/>
          </a:xfrm>
          <a:prstGeom prst="rect">
            <a:avLst/>
          </a:prstGeom>
          <a:ln>
            <a:solidFill>
              <a:schemeClr val="tx1"/>
            </a:solidFill>
          </a:ln>
        </p:spPr>
      </p:pic>
    </p:spTree>
    <p:extLst>
      <p:ext uri="{BB962C8B-B14F-4D97-AF65-F5344CB8AC3E}">
        <p14:creationId xmlns:p14="http://schemas.microsoft.com/office/powerpoint/2010/main" val="5573491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3287A-B03F-48EC-AAFC-3C2A4B3BC9AF}"/>
              </a:ext>
            </a:extLst>
          </p:cNvPr>
          <p:cNvSpPr>
            <a:spLocks noGrp="1"/>
          </p:cNvSpPr>
          <p:nvPr>
            <p:ph type="title"/>
          </p:nvPr>
        </p:nvSpPr>
        <p:spPr/>
        <p:txBody>
          <a:bodyPr/>
          <a:lstStyle/>
          <a:p>
            <a:r>
              <a:rPr lang="en-US" dirty="0"/>
              <a:t>Field Options</a:t>
            </a:r>
          </a:p>
        </p:txBody>
      </p:sp>
      <p:sp>
        <p:nvSpPr>
          <p:cNvPr id="3" name="Slide Number Placeholder 2">
            <a:extLst>
              <a:ext uri="{FF2B5EF4-FFF2-40B4-BE49-F238E27FC236}">
                <a16:creationId xmlns:a16="http://schemas.microsoft.com/office/drawing/2014/main" id="{28F1D646-6669-48F2-854C-368EE13A4AE9}"/>
              </a:ext>
            </a:extLst>
          </p:cNvPr>
          <p:cNvSpPr>
            <a:spLocks noGrp="1"/>
          </p:cNvSpPr>
          <p:nvPr>
            <p:ph type="sldNum" sz="quarter" idx="12"/>
          </p:nvPr>
        </p:nvSpPr>
        <p:spPr/>
        <p:txBody>
          <a:bodyPr/>
          <a:lstStyle/>
          <a:p>
            <a:fld id="{0D6F892B-1791-4F93-8AFD-83813F10F54D}" type="slidenum">
              <a:rPr lang="en-US" smtClean="0"/>
              <a:t>35</a:t>
            </a:fld>
            <a:endParaRPr lang="en-US"/>
          </a:p>
        </p:txBody>
      </p:sp>
      <p:sp>
        <p:nvSpPr>
          <p:cNvPr id="5" name="Rectangle 4">
            <a:extLst>
              <a:ext uri="{FF2B5EF4-FFF2-40B4-BE49-F238E27FC236}">
                <a16:creationId xmlns:a16="http://schemas.microsoft.com/office/drawing/2014/main" id="{6AD351F0-83F4-41A4-86F1-40473CDB87EB}"/>
              </a:ext>
            </a:extLst>
          </p:cNvPr>
          <p:cNvSpPr/>
          <p:nvPr/>
        </p:nvSpPr>
        <p:spPr>
          <a:xfrm>
            <a:off x="1078107" y="2421883"/>
            <a:ext cx="10035785" cy="2255682"/>
          </a:xfrm>
          <a:prstGeom prst="rect">
            <a:avLst/>
          </a:prstGeom>
        </p:spPr>
        <p:txBody>
          <a:bodyPr wrap="square">
            <a:spAutoFit/>
          </a:bodyPr>
          <a:lstStyle/>
          <a:p>
            <a:pPr lvl="0" algn="just" defTabSz="914400" eaLnBrk="0" fontAlgn="base" hangingPunct="0">
              <a:lnSpc>
                <a:spcPct val="150000"/>
              </a:lnSpc>
              <a:spcBef>
                <a:spcPct val="0"/>
              </a:spcBef>
              <a:spcAft>
                <a:spcPct val="0"/>
              </a:spcAft>
            </a:pPr>
            <a:r>
              <a:rPr lang="en-US" altLang="en-US" sz="2400" b="1" dirty="0">
                <a:solidFill>
                  <a:srgbClr val="07184E"/>
                </a:solidFill>
                <a:latin typeface="Source Sans Pro" panose="020B0503030403020204" pitchFamily="34" charset="0"/>
              </a:rPr>
              <a:t>Verbose field names</a:t>
            </a:r>
          </a:p>
          <a:p>
            <a:pPr lvl="0" algn="just" defTabSz="914400" eaLnBrk="0" fontAlgn="base" hangingPunct="0">
              <a:lnSpc>
                <a:spcPct val="150000"/>
              </a:lnSpc>
              <a:spcBef>
                <a:spcPct val="0"/>
              </a:spcBef>
              <a:spcAft>
                <a:spcPct val="0"/>
              </a:spcAft>
            </a:pPr>
            <a:r>
              <a:rPr lang="en-US" altLang="en-US" dirty="0"/>
              <a:t>Each field type, except for </a:t>
            </a:r>
            <a:r>
              <a:rPr lang="en-US" altLang="en-US" b="1" dirty="0" err="1">
                <a:hlinkClick r:id="rId2" tooltip="django.db.models.ForeignKey">
                  <a:extLst>
                    <a:ext uri="{A12FA001-AC4F-418D-AE19-62706E023703}">
                      <ahyp:hlinkClr xmlns:ahyp="http://schemas.microsoft.com/office/drawing/2018/hyperlinkcolor" val="tx"/>
                    </a:ext>
                  </a:extLst>
                </a:hlinkClick>
              </a:rPr>
              <a:t>ForeignKey</a:t>
            </a:r>
            <a:r>
              <a:rPr lang="en-US" altLang="en-US" dirty="0"/>
              <a:t>, </a:t>
            </a:r>
            <a:r>
              <a:rPr lang="en-US" altLang="en-US" b="1" dirty="0" err="1">
                <a:hlinkClick r:id="rId3" tooltip="django.db.models.ManyToManyField">
                  <a:extLst>
                    <a:ext uri="{A12FA001-AC4F-418D-AE19-62706E023703}">
                      <ahyp:hlinkClr xmlns:ahyp="http://schemas.microsoft.com/office/drawing/2018/hyperlinkcolor" val="tx"/>
                    </a:ext>
                  </a:extLst>
                </a:hlinkClick>
              </a:rPr>
              <a:t>ManyToManyField</a:t>
            </a:r>
            <a:r>
              <a:rPr lang="en-US" altLang="en-US" dirty="0"/>
              <a:t> and </a:t>
            </a:r>
            <a:r>
              <a:rPr lang="en-US" altLang="en-US" b="1" dirty="0" err="1">
                <a:hlinkClick r:id="rId4" tooltip="django.db.models.OneToOneField">
                  <a:extLst>
                    <a:ext uri="{A12FA001-AC4F-418D-AE19-62706E023703}">
                      <ahyp:hlinkClr xmlns:ahyp="http://schemas.microsoft.com/office/drawing/2018/hyperlinkcolor" val="tx"/>
                    </a:ext>
                  </a:extLst>
                </a:hlinkClick>
              </a:rPr>
              <a:t>OneToOneField</a:t>
            </a:r>
            <a:r>
              <a:rPr lang="en-US" altLang="en-US" dirty="0"/>
              <a:t>, takes an optional first positional argument – a verbose name. If the verbose name isn’t given, Django will automatically create it using the field’s attribute name, converting underscores to spaces. </a:t>
            </a:r>
          </a:p>
        </p:txBody>
      </p:sp>
      <p:sp>
        <p:nvSpPr>
          <p:cNvPr id="8" name="Rectangle 7">
            <a:extLst>
              <a:ext uri="{FF2B5EF4-FFF2-40B4-BE49-F238E27FC236}">
                <a16:creationId xmlns:a16="http://schemas.microsoft.com/office/drawing/2014/main" id="{F0E7A9BA-D1E8-43F1-AE57-49E2CFE1AF3F}"/>
              </a:ext>
            </a:extLst>
          </p:cNvPr>
          <p:cNvSpPr/>
          <p:nvPr/>
        </p:nvSpPr>
        <p:spPr>
          <a:xfrm>
            <a:off x="1184123" y="4835459"/>
            <a:ext cx="8463458" cy="46166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lvl="0" defTabSz="914400" eaLnBrk="0" fontAlgn="base" hangingPunct="0">
              <a:spcBef>
                <a:spcPct val="0"/>
              </a:spcBef>
              <a:spcAft>
                <a:spcPct val="0"/>
              </a:spcAft>
            </a:pPr>
            <a:r>
              <a:rPr lang="en-US" altLang="en-US" dirty="0">
                <a:latin typeface="Arial" panose="020B0604020202020204" pitchFamily="34" charset="0"/>
              </a:rPr>
              <a:t>sites</a:t>
            </a:r>
            <a:r>
              <a:rPr lang="en-US" altLang="en-US" dirty="0">
                <a:solidFill>
                  <a:srgbClr val="000000"/>
                </a:solidFill>
                <a:latin typeface="JetBrains Mono NL"/>
              </a:rPr>
              <a:t> </a:t>
            </a:r>
            <a:r>
              <a:rPr lang="en-US" altLang="en-US" dirty="0">
                <a:solidFill>
                  <a:srgbClr val="666666"/>
                </a:solidFill>
                <a:latin typeface="Arial" panose="020B0604020202020204" pitchFamily="34" charset="0"/>
              </a:rPr>
              <a:t>=</a:t>
            </a:r>
            <a:r>
              <a:rPr lang="en-US" altLang="en-US" dirty="0">
                <a:solidFill>
                  <a:srgbClr val="000000"/>
                </a:solidFill>
                <a:latin typeface="JetBrains Mono NL"/>
              </a:rPr>
              <a:t> </a:t>
            </a:r>
            <a:r>
              <a:rPr lang="en-US" altLang="en-US" dirty="0" err="1">
                <a:latin typeface="Arial" panose="020B0604020202020204" pitchFamily="34" charset="0"/>
              </a:rPr>
              <a:t>models</a:t>
            </a:r>
            <a:r>
              <a:rPr lang="en-US" altLang="en-US" dirty="0" err="1">
                <a:solidFill>
                  <a:srgbClr val="666666"/>
                </a:solidFill>
                <a:latin typeface="Arial" panose="020B0604020202020204" pitchFamily="34" charset="0"/>
              </a:rPr>
              <a:t>.</a:t>
            </a:r>
            <a:r>
              <a:rPr lang="en-US" altLang="en-US" dirty="0" err="1">
                <a:latin typeface="Arial" panose="020B0604020202020204" pitchFamily="34" charset="0"/>
              </a:rPr>
              <a:t>ManyToManyField</a:t>
            </a:r>
            <a:r>
              <a:rPr lang="en-US" altLang="en-US" dirty="0">
                <a:solidFill>
                  <a:srgbClr val="000000"/>
                </a:solidFill>
                <a:latin typeface="JetBrains Mono NL"/>
              </a:rPr>
              <a:t>(</a:t>
            </a:r>
            <a:r>
              <a:rPr lang="en-US" altLang="en-US" dirty="0">
                <a:latin typeface="Arial" panose="020B0604020202020204" pitchFamily="34" charset="0"/>
              </a:rPr>
              <a:t>Site</a:t>
            </a:r>
            <a:r>
              <a:rPr lang="en-US" altLang="en-US" dirty="0">
                <a:solidFill>
                  <a:srgbClr val="000000"/>
                </a:solidFill>
                <a:latin typeface="JetBrains Mono NL"/>
              </a:rPr>
              <a:t>, </a:t>
            </a:r>
            <a:r>
              <a:rPr lang="en-US" altLang="en-US" dirty="0" err="1">
                <a:latin typeface="Arial" panose="020B0604020202020204" pitchFamily="34" charset="0"/>
              </a:rPr>
              <a:t>verbose_name</a:t>
            </a:r>
            <a:r>
              <a:rPr lang="en-US" altLang="en-US" dirty="0">
                <a:solidFill>
                  <a:srgbClr val="666666"/>
                </a:solidFill>
                <a:latin typeface="Arial" panose="020B0604020202020204" pitchFamily="34" charset="0"/>
              </a:rPr>
              <a:t>=</a:t>
            </a:r>
            <a:r>
              <a:rPr lang="en-US" altLang="en-US" dirty="0">
                <a:solidFill>
                  <a:srgbClr val="BA2121"/>
                </a:solidFill>
                <a:latin typeface="JetBrains Mono NL"/>
              </a:rPr>
              <a:t>"list of sites"</a:t>
            </a:r>
            <a:r>
              <a:rPr lang="en-US" altLang="en-US" dirty="0">
                <a:solidFill>
                  <a:srgbClr val="000000"/>
                </a:solidFill>
                <a:latin typeface="JetBrains Mono NL"/>
              </a:rPr>
              <a:t>)</a:t>
            </a:r>
            <a:r>
              <a:rPr lang="en-US" altLang="en-US" sz="2400" dirty="0"/>
              <a:t> </a:t>
            </a:r>
            <a:endParaRPr lang="en-US" altLang="en-US" sz="2800" dirty="0">
              <a:latin typeface="Arial" panose="020B0604020202020204" pitchFamily="34" charset="0"/>
            </a:endParaRPr>
          </a:p>
        </p:txBody>
      </p:sp>
    </p:spTree>
    <p:extLst>
      <p:ext uri="{BB962C8B-B14F-4D97-AF65-F5344CB8AC3E}">
        <p14:creationId xmlns:p14="http://schemas.microsoft.com/office/powerpoint/2010/main" val="40943159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B0E71-FE0E-48C0-B237-45799E7C4954}"/>
              </a:ext>
            </a:extLst>
          </p:cNvPr>
          <p:cNvSpPr>
            <a:spLocks noGrp="1"/>
          </p:cNvSpPr>
          <p:nvPr>
            <p:ph type="title"/>
          </p:nvPr>
        </p:nvSpPr>
        <p:spPr/>
        <p:txBody>
          <a:bodyPr/>
          <a:lstStyle/>
          <a:p>
            <a:r>
              <a:rPr lang="en-US" dirty="0"/>
              <a:t>Verbose Field Option Example </a:t>
            </a:r>
          </a:p>
        </p:txBody>
      </p:sp>
      <p:sp>
        <p:nvSpPr>
          <p:cNvPr id="3" name="Slide Number Placeholder 2">
            <a:extLst>
              <a:ext uri="{FF2B5EF4-FFF2-40B4-BE49-F238E27FC236}">
                <a16:creationId xmlns:a16="http://schemas.microsoft.com/office/drawing/2014/main" id="{50EF1129-49EE-4F62-9464-9BC470E10D10}"/>
              </a:ext>
            </a:extLst>
          </p:cNvPr>
          <p:cNvSpPr>
            <a:spLocks noGrp="1"/>
          </p:cNvSpPr>
          <p:nvPr>
            <p:ph type="sldNum" sz="quarter" idx="12"/>
          </p:nvPr>
        </p:nvSpPr>
        <p:spPr/>
        <p:txBody>
          <a:bodyPr/>
          <a:lstStyle/>
          <a:p>
            <a:fld id="{0D6F892B-1791-4F93-8AFD-83813F10F54D}" type="slidenum">
              <a:rPr lang="en-US" smtClean="0"/>
              <a:t>36</a:t>
            </a:fld>
            <a:endParaRPr lang="en-US"/>
          </a:p>
        </p:txBody>
      </p:sp>
      <p:sp>
        <p:nvSpPr>
          <p:cNvPr id="4" name="Rectangle 3">
            <a:extLst>
              <a:ext uri="{FF2B5EF4-FFF2-40B4-BE49-F238E27FC236}">
                <a16:creationId xmlns:a16="http://schemas.microsoft.com/office/drawing/2014/main" id="{274A988D-1234-4EBA-B115-01E3F359303C}"/>
              </a:ext>
            </a:extLst>
          </p:cNvPr>
          <p:cNvSpPr/>
          <p:nvPr/>
        </p:nvSpPr>
        <p:spPr>
          <a:xfrm>
            <a:off x="1445042" y="2923329"/>
            <a:ext cx="9024176" cy="1418786"/>
          </a:xfrm>
          <a:prstGeom prst="rect">
            <a:avLst/>
          </a:prstGeom>
          <a:ln>
            <a:solidFill>
              <a:schemeClr val="tx1"/>
            </a:solidFill>
          </a:ln>
        </p:spPr>
        <p:txBody>
          <a:bodyPr wrap="square">
            <a:spAutoFit/>
          </a:bodyPr>
          <a:lstStyle/>
          <a:p>
            <a:pPr>
              <a:lnSpc>
                <a:spcPct val="150000"/>
              </a:lnSpc>
            </a:pPr>
            <a:r>
              <a:rPr lang="en-US" sz="2000" dirty="0"/>
              <a:t>class </a:t>
            </a:r>
            <a:r>
              <a:rPr lang="en-US" sz="2000" b="1" dirty="0">
                <a:solidFill>
                  <a:srgbClr val="0070C0"/>
                </a:solidFill>
              </a:rPr>
              <a:t>Teacher</a:t>
            </a:r>
            <a:r>
              <a:rPr lang="en-US" sz="2000" dirty="0"/>
              <a:t>(</a:t>
            </a:r>
            <a:r>
              <a:rPr lang="en-US" sz="2000" dirty="0" err="1"/>
              <a:t>models.Model</a:t>
            </a:r>
            <a:r>
              <a:rPr lang="en-US" sz="2000" dirty="0"/>
              <a:t>):</a:t>
            </a:r>
          </a:p>
          <a:p>
            <a:pPr>
              <a:lnSpc>
                <a:spcPct val="150000"/>
              </a:lnSpc>
            </a:pPr>
            <a:r>
              <a:rPr lang="en-US" sz="2000" dirty="0"/>
              <a:t>	id = </a:t>
            </a:r>
            <a:r>
              <a:rPr lang="en-US" sz="2000" dirty="0" err="1"/>
              <a:t>models.AutoField</a:t>
            </a:r>
            <a:r>
              <a:rPr lang="en-US" sz="2000" dirty="0"/>
              <a:t>(</a:t>
            </a:r>
            <a:r>
              <a:rPr lang="en-US" sz="2000" dirty="0" err="1"/>
              <a:t>primary_key</a:t>
            </a:r>
            <a:r>
              <a:rPr lang="en-US" sz="2000" dirty="0"/>
              <a:t>=True)</a:t>
            </a:r>
          </a:p>
          <a:p>
            <a:pPr>
              <a:lnSpc>
                <a:spcPct val="150000"/>
              </a:lnSpc>
            </a:pPr>
            <a:r>
              <a:rPr lang="en-US" sz="2000" dirty="0"/>
              <a:t>	name = </a:t>
            </a:r>
            <a:r>
              <a:rPr lang="en-US" sz="2000" dirty="0" err="1"/>
              <a:t>models.CharField</a:t>
            </a:r>
            <a:r>
              <a:rPr lang="en-US" sz="2000" dirty="0"/>
              <a:t>("Enter Teacher Name",  </a:t>
            </a:r>
            <a:r>
              <a:rPr lang="en-US" sz="2000" dirty="0" err="1"/>
              <a:t>max_length</a:t>
            </a:r>
            <a:r>
              <a:rPr lang="en-US" sz="2000" dirty="0"/>
              <a:t>=30)</a:t>
            </a:r>
          </a:p>
        </p:txBody>
      </p:sp>
      <p:sp>
        <p:nvSpPr>
          <p:cNvPr id="5" name="Rectangle 4">
            <a:extLst>
              <a:ext uri="{FF2B5EF4-FFF2-40B4-BE49-F238E27FC236}">
                <a16:creationId xmlns:a16="http://schemas.microsoft.com/office/drawing/2014/main" id="{A0445AB9-9E2E-44A5-B251-9AB0199E9EA8}"/>
              </a:ext>
            </a:extLst>
          </p:cNvPr>
          <p:cNvSpPr/>
          <p:nvPr/>
        </p:nvSpPr>
        <p:spPr>
          <a:xfrm>
            <a:off x="1325776" y="2356381"/>
            <a:ext cx="1441420" cy="461665"/>
          </a:xfrm>
          <a:prstGeom prst="rect">
            <a:avLst/>
          </a:prstGeom>
        </p:spPr>
        <p:txBody>
          <a:bodyPr wrap="none">
            <a:spAutoFit/>
          </a:bodyPr>
          <a:lstStyle/>
          <a:p>
            <a:r>
              <a:rPr lang="en-US" sz="2400" b="1" dirty="0">
                <a:solidFill>
                  <a:srgbClr val="00B050"/>
                </a:solidFill>
              </a:rPr>
              <a:t>Example</a:t>
            </a:r>
          </a:p>
        </p:txBody>
      </p:sp>
      <p:pic>
        <p:nvPicPr>
          <p:cNvPr id="6" name="Picture 5" descr="Screen Clipping">
            <a:extLst>
              <a:ext uri="{FF2B5EF4-FFF2-40B4-BE49-F238E27FC236}">
                <a16:creationId xmlns:a16="http://schemas.microsoft.com/office/drawing/2014/main" id="{3AA9E0AF-0AB0-48D0-9864-3C92D4758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45046" y="4636383"/>
            <a:ext cx="5334744" cy="1247949"/>
          </a:xfrm>
          <a:prstGeom prst="rect">
            <a:avLst/>
          </a:prstGeom>
          <a:ln>
            <a:solidFill>
              <a:schemeClr val="tx1"/>
            </a:solidFill>
          </a:ln>
        </p:spPr>
      </p:pic>
      <p:sp>
        <p:nvSpPr>
          <p:cNvPr id="7" name="Arrow: Striped Right 6">
            <a:extLst>
              <a:ext uri="{FF2B5EF4-FFF2-40B4-BE49-F238E27FC236}">
                <a16:creationId xmlns:a16="http://schemas.microsoft.com/office/drawing/2014/main" id="{8D339DC6-51F2-4A18-8C60-66B3A93C42B5}"/>
              </a:ext>
            </a:extLst>
          </p:cNvPr>
          <p:cNvSpPr/>
          <p:nvPr/>
        </p:nvSpPr>
        <p:spPr>
          <a:xfrm rot="16200000">
            <a:off x="2014329" y="5757090"/>
            <a:ext cx="768627" cy="397566"/>
          </a:xfrm>
          <a:prstGeom prst="stripedRightArrow">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Tree>
    <p:extLst>
      <p:ext uri="{BB962C8B-B14F-4D97-AF65-F5344CB8AC3E}">
        <p14:creationId xmlns:p14="http://schemas.microsoft.com/office/powerpoint/2010/main" val="41256706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itle 14">
            <a:extLst>
              <a:ext uri="{FF2B5EF4-FFF2-40B4-BE49-F238E27FC236}">
                <a16:creationId xmlns:a16="http://schemas.microsoft.com/office/drawing/2014/main" id="{82DE0D62-AAD7-4D50-AD06-F7CC05D96117}"/>
              </a:ext>
            </a:extLst>
          </p:cNvPr>
          <p:cNvSpPr>
            <a:spLocks noGrp="1"/>
          </p:cNvSpPr>
          <p:nvPr>
            <p:ph type="ctrTitle"/>
          </p:nvPr>
        </p:nvSpPr>
        <p:spPr>
          <a:xfrm>
            <a:off x="1683171" y="2650434"/>
            <a:ext cx="8825658" cy="1133033"/>
          </a:xfrm>
        </p:spPr>
        <p:txBody>
          <a:bodyPr/>
          <a:lstStyle/>
          <a:p>
            <a:r>
              <a:rPr lang="en-US" sz="7200" dirty="0"/>
              <a:t>Thanks for Reading</a:t>
            </a:r>
          </a:p>
        </p:txBody>
      </p:sp>
      <p:sp>
        <p:nvSpPr>
          <p:cNvPr id="2" name="Slide Number Placeholder 1">
            <a:extLst>
              <a:ext uri="{FF2B5EF4-FFF2-40B4-BE49-F238E27FC236}">
                <a16:creationId xmlns:a16="http://schemas.microsoft.com/office/drawing/2014/main" id="{139E480B-C7EA-408E-8634-B1C2B4707A09}"/>
              </a:ext>
            </a:extLst>
          </p:cNvPr>
          <p:cNvSpPr>
            <a:spLocks noGrp="1"/>
          </p:cNvSpPr>
          <p:nvPr>
            <p:ph type="sldNum" sz="quarter" idx="12"/>
          </p:nvPr>
        </p:nvSpPr>
        <p:spPr/>
        <p:txBody>
          <a:bodyPr/>
          <a:lstStyle/>
          <a:p>
            <a:fld id="{0D6F892B-1791-4F93-8AFD-83813F10F54D}" type="slidenum">
              <a:rPr lang="en-US" smtClean="0"/>
              <a:t>37</a:t>
            </a:fld>
            <a:endParaRPr lang="en-US"/>
          </a:p>
        </p:txBody>
      </p:sp>
    </p:spTree>
    <p:extLst>
      <p:ext uri="{BB962C8B-B14F-4D97-AF65-F5344CB8AC3E}">
        <p14:creationId xmlns:p14="http://schemas.microsoft.com/office/powerpoint/2010/main" val="233446018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Aspect">
      <a:dk1>
        <a:sysClr val="windowText" lastClr="000000"/>
      </a:dk1>
      <a:lt1>
        <a:sysClr val="window" lastClr="FFFFFF"/>
      </a:lt1>
      <a:dk2>
        <a:srgbClr val="323232"/>
      </a:dk2>
      <a:lt2>
        <a:srgbClr val="E3DED1"/>
      </a:lt2>
      <a:accent1>
        <a:srgbClr val="F07F09"/>
      </a:accent1>
      <a:accent2>
        <a:srgbClr val="9F2936"/>
      </a:accent2>
      <a:accent3>
        <a:srgbClr val="1B587C"/>
      </a:accent3>
      <a:accent4>
        <a:srgbClr val="4E8542"/>
      </a:accent4>
      <a:accent5>
        <a:srgbClr val="604878"/>
      </a:accent5>
      <a:accent6>
        <a:srgbClr val="C19859"/>
      </a:accent6>
      <a:hlink>
        <a:srgbClr val="6B9F25"/>
      </a:hlink>
      <a:folHlink>
        <a:srgbClr val="B26B02"/>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1719</TotalTime>
  <Words>2370</Words>
  <Application>Microsoft Office PowerPoint</Application>
  <PresentationFormat>Widescreen</PresentationFormat>
  <Paragraphs>231</Paragraphs>
  <Slides>37</Slides>
  <Notes>0</Notes>
  <HiddenSlides>0</HiddenSlides>
  <MMClips>0</MMClips>
  <ScaleCrop>false</ScaleCrop>
  <HeadingPairs>
    <vt:vector size="6" baseType="variant">
      <vt:variant>
        <vt:lpstr>Fonts Used</vt:lpstr>
      </vt:variant>
      <vt:variant>
        <vt:i4>13</vt:i4>
      </vt:variant>
      <vt:variant>
        <vt:lpstr>Theme</vt:lpstr>
      </vt:variant>
      <vt:variant>
        <vt:i4>1</vt:i4>
      </vt:variant>
      <vt:variant>
        <vt:lpstr>Slide Titles</vt:lpstr>
      </vt:variant>
      <vt:variant>
        <vt:i4>37</vt:i4>
      </vt:variant>
    </vt:vector>
  </HeadingPairs>
  <TitlesOfParts>
    <vt:vector size="51" baseType="lpstr">
      <vt:lpstr>Arial</vt:lpstr>
      <vt:lpstr>Arial Rounded MT Bold</vt:lpstr>
      <vt:lpstr>Calibri</vt:lpstr>
      <vt:lpstr>Century Gothic</vt:lpstr>
      <vt:lpstr>Fira Mono</vt:lpstr>
      <vt:lpstr>Georgia</vt:lpstr>
      <vt:lpstr>inherit</vt:lpstr>
      <vt:lpstr>JetBrains Mono NL</vt:lpstr>
      <vt:lpstr>Source Code Pro</vt:lpstr>
      <vt:lpstr>Source Sans Pro</vt:lpstr>
      <vt:lpstr>Times New Roman</vt:lpstr>
      <vt:lpstr>Wingdings</vt:lpstr>
      <vt:lpstr>Wingdings 3</vt:lpstr>
      <vt:lpstr>Ion Boardroom</vt:lpstr>
      <vt:lpstr>Part 8  ORM in Django</vt:lpstr>
      <vt:lpstr>What is ORM?</vt:lpstr>
      <vt:lpstr>The Problem Solved by ORM</vt:lpstr>
      <vt:lpstr>Queryset in Django</vt:lpstr>
      <vt:lpstr>What is Model in Django?</vt:lpstr>
      <vt:lpstr>Django Model</vt:lpstr>
      <vt:lpstr>Create Your First Django Model</vt:lpstr>
      <vt:lpstr>Add Your App in Django Project</vt:lpstr>
      <vt:lpstr>What is Migrate?</vt:lpstr>
      <vt:lpstr>Migrate Your Model</vt:lpstr>
      <vt:lpstr>Your Model Coding</vt:lpstr>
      <vt:lpstr>Playing With the API</vt:lpstr>
      <vt:lpstr>Django Database Queries</vt:lpstr>
      <vt:lpstr>What is Django Admin.?</vt:lpstr>
      <vt:lpstr>Setup Django Admin Site</vt:lpstr>
      <vt:lpstr>Continue… </vt:lpstr>
      <vt:lpstr>Continue…</vt:lpstr>
      <vt:lpstr>Continue…</vt:lpstr>
      <vt:lpstr>Continue…</vt:lpstr>
      <vt:lpstr>Continue…</vt:lpstr>
      <vt:lpstr>What is Super User.?</vt:lpstr>
      <vt:lpstr>Create Super User</vt:lpstr>
      <vt:lpstr>Admin Login (Super User)</vt:lpstr>
      <vt:lpstr>Django Admin Dashboard image</vt:lpstr>
      <vt:lpstr>Register Your Model</vt:lpstr>
      <vt:lpstr>Here’s Your Model</vt:lpstr>
      <vt:lpstr>Add Person to Person Model</vt:lpstr>
      <vt:lpstr>List of All Added Persons</vt:lpstr>
      <vt:lpstr>Field Option</vt:lpstr>
      <vt:lpstr>Choices</vt:lpstr>
      <vt:lpstr>Enumeration Types</vt:lpstr>
      <vt:lpstr>Field Options</vt:lpstr>
      <vt:lpstr>Field Options</vt:lpstr>
      <vt:lpstr>Field Option Unique Example</vt:lpstr>
      <vt:lpstr>Field Options</vt:lpstr>
      <vt:lpstr>Verbose Field Option Example </vt:lpstr>
      <vt:lpstr>Thanks for Reading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Babar Ali</dc:creator>
  <cp:lastModifiedBy>Babar Ali</cp:lastModifiedBy>
  <cp:revision>1069</cp:revision>
  <dcterms:created xsi:type="dcterms:W3CDTF">2021-12-18T06:39:36Z</dcterms:created>
  <dcterms:modified xsi:type="dcterms:W3CDTF">2022-04-12T12:37:25Z</dcterms:modified>
</cp:coreProperties>
</file>