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7"/>
  </p:notesMasterIdLst>
  <p:sldIdLst>
    <p:sldId id="256" r:id="rId2"/>
    <p:sldId id="268" r:id="rId3"/>
    <p:sldId id="267" r:id="rId4"/>
    <p:sldId id="269" r:id="rId5"/>
    <p:sldId id="270" r:id="rId6"/>
    <p:sldId id="271" r:id="rId7"/>
    <p:sldId id="273" r:id="rId8"/>
    <p:sldId id="272" r:id="rId9"/>
    <p:sldId id="274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75" r:id="rId19"/>
    <p:sldId id="284" r:id="rId20"/>
    <p:sldId id="285" r:id="rId21"/>
    <p:sldId id="286" r:id="rId22"/>
    <p:sldId id="287" r:id="rId23"/>
    <p:sldId id="288" r:id="rId24"/>
    <p:sldId id="289" r:id="rId25"/>
    <p:sldId id="26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969" autoAdjust="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6004A-E5BA-4323-B230-D07DF3AE4AC4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C687A-6336-4FD6-9A97-A491B0F4A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2A0BBD3-5292-4DD0-B5EC-12B9116242D4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E9B2F-C327-40AF-A201-BF3E4998D22D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407A-6666-46CF-969A-DF7271EF79E1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6DFD-3F6A-4F3E-8C3C-12DDE79FDFC0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66C4-D3E6-470A-8DF6-F975A03AAF7D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1F60-00DA-4884-8E68-6ECEAFAB67F9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90DEF-5262-4290-9B94-CF89965E8FA5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CB9-CFD6-4DDE-B195-CDA0DE64318C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63F5-6072-45E9-9D45-1B5800B328D6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3C1B7-C1B0-400F-8A94-A2DEFAFDA6E2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59B2-7D22-4D3E-817C-902ADACB41FD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CC6F-0488-472C-80A3-1A1E0D307CC9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448B-2032-46C3-B0C1-7FA33DD423BB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4B79-142F-4C2B-8741-2A336FA2051E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48D3-304B-473C-87B8-E081A175EAE5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DF2F9F0-1126-4048-A7DD-21472A1E561E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B7A6C47-88FD-4C8E-A236-5E73FAE05211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299089E-C205-4381-A4C2-4462C22AEA15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188907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5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Introduction to Python List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059C2F-C8AD-4F9F-AA00-021C44F8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in Python</a:t>
            </a:r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9F18D276-9C75-4383-B227-6315DE024908}"/>
              </a:ext>
            </a:extLst>
          </p:cNvPr>
          <p:cNvSpPr/>
          <p:nvPr/>
        </p:nvSpPr>
        <p:spPr>
          <a:xfrm>
            <a:off x="5148469" y="2541104"/>
            <a:ext cx="1895061" cy="706964"/>
          </a:xfrm>
          <a:prstGeom prst="flowChartTerminator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Array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7F2E01-0A90-44CA-8037-8CAD2AE23831}"/>
              </a:ext>
            </a:extLst>
          </p:cNvPr>
          <p:cNvCxnSpPr>
            <a:cxnSpLocks/>
          </p:cNvCxnSpPr>
          <p:nvPr/>
        </p:nvCxnSpPr>
        <p:spPr>
          <a:xfrm flipH="1">
            <a:off x="6095999" y="3234816"/>
            <a:ext cx="1" cy="3432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90643B-BD52-4A5C-8712-D6C01E9E7E65}"/>
              </a:ext>
            </a:extLst>
          </p:cNvPr>
          <p:cNvCxnSpPr>
            <a:cxnSpLocks/>
          </p:cNvCxnSpPr>
          <p:nvPr/>
        </p:nvCxnSpPr>
        <p:spPr>
          <a:xfrm flipH="1">
            <a:off x="3220279" y="3578087"/>
            <a:ext cx="5751442" cy="5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87957F-C844-44E3-949F-59662FFF25AB}"/>
              </a:ext>
            </a:extLst>
          </p:cNvPr>
          <p:cNvCxnSpPr/>
          <p:nvPr/>
        </p:nvCxnSpPr>
        <p:spPr>
          <a:xfrm>
            <a:off x="3220279" y="3587384"/>
            <a:ext cx="0" cy="40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Cylinder 20">
            <a:extLst>
              <a:ext uri="{FF2B5EF4-FFF2-40B4-BE49-F238E27FC236}">
                <a16:creationId xmlns:a16="http://schemas.microsoft.com/office/drawing/2014/main" id="{DD8EA455-D97F-49F0-8395-FBF121A49540}"/>
              </a:ext>
            </a:extLst>
          </p:cNvPr>
          <p:cNvSpPr/>
          <p:nvPr/>
        </p:nvSpPr>
        <p:spPr>
          <a:xfrm>
            <a:off x="2743205" y="3988904"/>
            <a:ext cx="954148" cy="1190129"/>
          </a:xfrm>
          <a:prstGeom prst="can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b="1" dirty="0"/>
              <a:t>List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0AAB05-E457-4FA5-BE4C-A99CB419A986}"/>
              </a:ext>
            </a:extLst>
          </p:cNvPr>
          <p:cNvCxnSpPr/>
          <p:nvPr/>
        </p:nvCxnSpPr>
        <p:spPr>
          <a:xfrm>
            <a:off x="5148469" y="3587384"/>
            <a:ext cx="0" cy="40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Cylinder 22">
            <a:extLst>
              <a:ext uri="{FF2B5EF4-FFF2-40B4-BE49-F238E27FC236}">
                <a16:creationId xmlns:a16="http://schemas.microsoft.com/office/drawing/2014/main" id="{425BFA97-820D-4EB5-B1EE-ABE376CDC4A4}"/>
              </a:ext>
            </a:extLst>
          </p:cNvPr>
          <p:cNvSpPr/>
          <p:nvPr/>
        </p:nvSpPr>
        <p:spPr>
          <a:xfrm>
            <a:off x="4671395" y="3988904"/>
            <a:ext cx="954148" cy="1190129"/>
          </a:xfrm>
          <a:prstGeom prst="can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b="1" dirty="0"/>
              <a:t>Tuple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2EE72C-6832-4069-8753-089F4B0D70B5}"/>
              </a:ext>
            </a:extLst>
          </p:cNvPr>
          <p:cNvCxnSpPr/>
          <p:nvPr/>
        </p:nvCxnSpPr>
        <p:spPr>
          <a:xfrm>
            <a:off x="7043530" y="3587384"/>
            <a:ext cx="0" cy="40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Cylinder 24">
            <a:extLst>
              <a:ext uri="{FF2B5EF4-FFF2-40B4-BE49-F238E27FC236}">
                <a16:creationId xmlns:a16="http://schemas.microsoft.com/office/drawing/2014/main" id="{9D4DB697-0F41-41A0-B9FA-B3A1D4B41A34}"/>
              </a:ext>
            </a:extLst>
          </p:cNvPr>
          <p:cNvSpPr/>
          <p:nvPr/>
        </p:nvSpPr>
        <p:spPr>
          <a:xfrm>
            <a:off x="6566456" y="3988904"/>
            <a:ext cx="954148" cy="1190129"/>
          </a:xfrm>
          <a:prstGeom prst="can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b="1" dirty="0"/>
              <a:t>Set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D51F9CE-4C58-4F9A-96AC-A3C442E60A1D}"/>
              </a:ext>
            </a:extLst>
          </p:cNvPr>
          <p:cNvCxnSpPr/>
          <p:nvPr/>
        </p:nvCxnSpPr>
        <p:spPr>
          <a:xfrm>
            <a:off x="8971721" y="3587384"/>
            <a:ext cx="0" cy="40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Cylinder 26">
            <a:extLst>
              <a:ext uri="{FF2B5EF4-FFF2-40B4-BE49-F238E27FC236}">
                <a16:creationId xmlns:a16="http://schemas.microsoft.com/office/drawing/2014/main" id="{A8D375D8-FC8C-4D0F-898F-61B3F0F86040}"/>
              </a:ext>
            </a:extLst>
          </p:cNvPr>
          <p:cNvSpPr/>
          <p:nvPr/>
        </p:nvSpPr>
        <p:spPr>
          <a:xfrm>
            <a:off x="8494647" y="3988904"/>
            <a:ext cx="954148" cy="1190129"/>
          </a:xfrm>
          <a:prstGeom prst="can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Dict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634C6-7605-4AE5-BC54-DBC421C8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38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38420" y="2282255"/>
            <a:ext cx="9597886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 list is a collection Of </a:t>
            </a:r>
            <a:r>
              <a:rPr lang="en-US" sz="2000" b="1" dirty="0"/>
              <a:t>Ordered</a:t>
            </a:r>
            <a:r>
              <a:rPr lang="en-US" sz="2000" dirty="0"/>
              <a:t>, </a:t>
            </a:r>
            <a:r>
              <a:rPr lang="en-US" sz="2000" b="1" dirty="0"/>
              <a:t>Changeable</a:t>
            </a:r>
            <a:r>
              <a:rPr lang="en-US" sz="2000" dirty="0"/>
              <a:t>, and allow </a:t>
            </a:r>
            <a:r>
              <a:rPr lang="en-US" sz="2000" b="1" dirty="0"/>
              <a:t>duplicate</a:t>
            </a:r>
            <a:r>
              <a:rPr lang="en-US" sz="2000" dirty="0"/>
              <a:t> values.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To create a list, the elements are placed inside square brackets ([]), separated by commas.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What is List in Python?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0BC75-4510-4EDB-8A33-817B92CCB526}"/>
              </a:ext>
            </a:extLst>
          </p:cNvPr>
          <p:cNvSpPr txBox="1"/>
          <p:nvPr/>
        </p:nvSpPr>
        <p:spPr>
          <a:xfrm>
            <a:off x="1245704" y="4337780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Creating List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81D74E-4DC5-44AB-8A79-B8395F11CB6E}"/>
              </a:ext>
            </a:extLst>
          </p:cNvPr>
          <p:cNvSpPr txBox="1"/>
          <p:nvPr/>
        </p:nvSpPr>
        <p:spPr>
          <a:xfrm>
            <a:off x="1311965" y="5032167"/>
            <a:ext cx="404439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 = [20, 40, 14, 70, 80]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E4503-AEB0-47CC-9D5F-A8C5F29141AB}"/>
              </a:ext>
            </a:extLst>
          </p:cNvPr>
          <p:cNvSpPr/>
          <p:nvPr/>
        </p:nvSpPr>
        <p:spPr>
          <a:xfrm>
            <a:off x="6765850" y="4337780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A4B0F1-5069-4D3F-8D23-32602190BF16}"/>
              </a:ext>
            </a:extLst>
          </p:cNvPr>
          <p:cNvSpPr/>
          <p:nvPr/>
        </p:nvSpPr>
        <p:spPr>
          <a:xfrm>
            <a:off x="6906868" y="443483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591435-4966-4B9A-9B73-4A6C041B04D7}"/>
              </a:ext>
            </a:extLst>
          </p:cNvPr>
          <p:cNvSpPr/>
          <p:nvPr/>
        </p:nvSpPr>
        <p:spPr>
          <a:xfrm>
            <a:off x="6906868" y="490207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DBBDB-98E3-48D3-97D1-0E538CCDE5A8}"/>
              </a:ext>
            </a:extLst>
          </p:cNvPr>
          <p:cNvSpPr/>
          <p:nvPr/>
        </p:nvSpPr>
        <p:spPr>
          <a:xfrm>
            <a:off x="6906868" y="539295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736813-793F-4E71-93AF-9826EB56CA7C}"/>
              </a:ext>
            </a:extLst>
          </p:cNvPr>
          <p:cNvSpPr/>
          <p:nvPr/>
        </p:nvSpPr>
        <p:spPr>
          <a:xfrm>
            <a:off x="6906868" y="585435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5" name="Arrow: Curved Left 4">
            <a:extLst>
              <a:ext uri="{FF2B5EF4-FFF2-40B4-BE49-F238E27FC236}">
                <a16:creationId xmlns:a16="http://schemas.microsoft.com/office/drawing/2014/main" id="{29BD046E-122B-4ABD-B235-F10051C938D1}"/>
              </a:ext>
            </a:extLst>
          </p:cNvPr>
          <p:cNvSpPr/>
          <p:nvPr/>
        </p:nvSpPr>
        <p:spPr>
          <a:xfrm rot="15620081">
            <a:off x="5208546" y="2451790"/>
            <a:ext cx="828728" cy="3984422"/>
          </a:xfrm>
          <a:prstGeom prst="curvedLeftArrow">
            <a:avLst>
              <a:gd name="adj1" fmla="val 22239"/>
              <a:gd name="adj2" fmla="val 92398"/>
              <a:gd name="adj3" fmla="val 3274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C01576-D57F-459B-9599-071C21CB182A}"/>
              </a:ext>
            </a:extLst>
          </p:cNvPr>
          <p:cNvCxnSpPr/>
          <p:nvPr/>
        </p:nvCxnSpPr>
        <p:spPr>
          <a:xfrm>
            <a:off x="8126068" y="4598504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38E0C0-A01C-4D4A-A097-4777B3934B49}"/>
              </a:ext>
            </a:extLst>
          </p:cNvPr>
          <p:cNvCxnSpPr/>
          <p:nvPr/>
        </p:nvCxnSpPr>
        <p:spPr>
          <a:xfrm>
            <a:off x="8126068" y="5071923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B881CA-AC15-4D5B-9973-DF7D1D98A3B7}"/>
              </a:ext>
            </a:extLst>
          </p:cNvPr>
          <p:cNvCxnSpPr/>
          <p:nvPr/>
        </p:nvCxnSpPr>
        <p:spPr>
          <a:xfrm>
            <a:off x="8126068" y="5585792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78651A-5E24-4EE4-9778-7F10FFC4D1F3}"/>
              </a:ext>
            </a:extLst>
          </p:cNvPr>
          <p:cNvCxnSpPr/>
          <p:nvPr/>
        </p:nvCxnSpPr>
        <p:spPr>
          <a:xfrm>
            <a:off x="8126068" y="604961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itle 7">
            <a:extLst>
              <a:ext uri="{FF2B5EF4-FFF2-40B4-BE49-F238E27FC236}">
                <a16:creationId xmlns:a16="http://schemas.microsoft.com/office/drawing/2014/main" id="{F8711ABE-68EF-42C5-9DE5-6590897EF60E}"/>
              </a:ext>
            </a:extLst>
          </p:cNvPr>
          <p:cNvSpPr txBox="1">
            <a:spLocks/>
          </p:cNvSpPr>
          <p:nvPr/>
        </p:nvSpPr>
        <p:spPr bwMode="gray">
          <a:xfrm>
            <a:off x="1367457" y="2080493"/>
            <a:ext cx="5610896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8CEBB4-F523-4F44-8B55-2178ABFF2170}"/>
              </a:ext>
            </a:extLst>
          </p:cNvPr>
          <p:cNvSpPr txBox="1"/>
          <p:nvPr/>
        </p:nvSpPr>
        <p:spPr>
          <a:xfrm>
            <a:off x="8595725" y="4302664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num[0]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CA052F-6DF0-413E-916C-6CB3EFEB02E2}"/>
              </a:ext>
            </a:extLst>
          </p:cNvPr>
          <p:cNvSpPr txBox="1"/>
          <p:nvPr/>
        </p:nvSpPr>
        <p:spPr>
          <a:xfrm>
            <a:off x="8595725" y="4756743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num[1]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5B303D-18F1-4351-A2E0-3189AF1A4DD1}"/>
              </a:ext>
            </a:extLst>
          </p:cNvPr>
          <p:cNvSpPr txBox="1"/>
          <p:nvPr/>
        </p:nvSpPr>
        <p:spPr>
          <a:xfrm>
            <a:off x="8595725" y="5275045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num[2]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BEC889-0A3D-453B-85AB-0FE7373FFF86}"/>
              </a:ext>
            </a:extLst>
          </p:cNvPr>
          <p:cNvSpPr txBox="1"/>
          <p:nvPr/>
        </p:nvSpPr>
        <p:spPr>
          <a:xfrm>
            <a:off x="8595725" y="572951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num[3]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3960-E975-4A93-9633-2334E37F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What is List in Python?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5" y="223915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10255167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When we say that lists are ordered, it means that the items have a defined order, and that order will not change. If you add a new item to a list, the new item will be placed at the end of the list.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4261461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E75FFE-00A7-4A4D-9125-9EA4EF3D5C2C}"/>
              </a:ext>
            </a:extLst>
          </p:cNvPr>
          <p:cNvSpPr txBox="1"/>
          <p:nvPr/>
        </p:nvSpPr>
        <p:spPr>
          <a:xfrm>
            <a:off x="1221216" y="4770320"/>
            <a:ext cx="404439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 = [20, 40, 14]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F95F7C-59AF-4F9F-A691-CD5CBA493401}"/>
              </a:ext>
            </a:extLst>
          </p:cNvPr>
          <p:cNvSpPr/>
          <p:nvPr/>
        </p:nvSpPr>
        <p:spPr>
          <a:xfrm>
            <a:off x="5599658" y="4337780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9BB9C7-70E6-402A-84D7-1C9A7F1E02C3}"/>
              </a:ext>
            </a:extLst>
          </p:cNvPr>
          <p:cNvSpPr/>
          <p:nvPr/>
        </p:nvSpPr>
        <p:spPr>
          <a:xfrm>
            <a:off x="5740676" y="490207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F53A3C-D3F1-4A01-A1FC-BDB801AC5205}"/>
              </a:ext>
            </a:extLst>
          </p:cNvPr>
          <p:cNvSpPr/>
          <p:nvPr/>
        </p:nvSpPr>
        <p:spPr>
          <a:xfrm>
            <a:off x="5740676" y="539295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23218-4B7D-468D-8D78-002061127E56}"/>
              </a:ext>
            </a:extLst>
          </p:cNvPr>
          <p:cNvSpPr/>
          <p:nvPr/>
        </p:nvSpPr>
        <p:spPr>
          <a:xfrm>
            <a:off x="5740676" y="585435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F917C0-A517-44D6-846F-69D89D13645F}"/>
              </a:ext>
            </a:extLst>
          </p:cNvPr>
          <p:cNvSpPr/>
          <p:nvPr/>
        </p:nvSpPr>
        <p:spPr>
          <a:xfrm>
            <a:off x="8580622" y="4337780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7C3DE3-36AD-489F-BEA1-20D90A3E35AF}"/>
              </a:ext>
            </a:extLst>
          </p:cNvPr>
          <p:cNvSpPr/>
          <p:nvPr/>
        </p:nvSpPr>
        <p:spPr>
          <a:xfrm>
            <a:off x="8721640" y="443483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70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B719968-92A6-4A3E-9D33-73A14A288D19}"/>
              </a:ext>
            </a:extLst>
          </p:cNvPr>
          <p:cNvSpPr/>
          <p:nvPr/>
        </p:nvSpPr>
        <p:spPr>
          <a:xfrm>
            <a:off x="8721640" y="490207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E99173-D57D-4698-ABB3-506ABCFE5B28}"/>
              </a:ext>
            </a:extLst>
          </p:cNvPr>
          <p:cNvSpPr/>
          <p:nvPr/>
        </p:nvSpPr>
        <p:spPr>
          <a:xfrm>
            <a:off x="8721640" y="539295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1CCF4F-4FA1-4B44-B3F3-8A6772B96814}"/>
              </a:ext>
            </a:extLst>
          </p:cNvPr>
          <p:cNvSpPr/>
          <p:nvPr/>
        </p:nvSpPr>
        <p:spPr>
          <a:xfrm>
            <a:off x="8721640" y="585435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E0C907-AD8F-4E3E-820E-1534E4A8ECF1}"/>
              </a:ext>
            </a:extLst>
          </p:cNvPr>
          <p:cNvSpPr txBox="1"/>
          <p:nvPr/>
        </p:nvSpPr>
        <p:spPr>
          <a:xfrm>
            <a:off x="1240975" y="5332684"/>
            <a:ext cx="404439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 = [20, 40, 14, 70]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E81171B-6686-4DF3-87E7-B9898EEC2912}"/>
              </a:ext>
            </a:extLst>
          </p:cNvPr>
          <p:cNvSpPr/>
          <p:nvPr/>
        </p:nvSpPr>
        <p:spPr>
          <a:xfrm>
            <a:off x="4349330" y="5089042"/>
            <a:ext cx="1073426" cy="327303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List</a:t>
            </a:r>
            <a:endParaRPr lang="en-US" sz="1600" dirty="0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622369B4-3A03-4A52-871C-6FC310228203}"/>
              </a:ext>
            </a:extLst>
          </p:cNvPr>
          <p:cNvSpPr/>
          <p:nvPr/>
        </p:nvSpPr>
        <p:spPr>
          <a:xfrm>
            <a:off x="7199552" y="4492293"/>
            <a:ext cx="1310561" cy="36370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value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7F0034-7DAB-4ED9-BCE4-62A4E742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66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What is List in Python?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5" y="223915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Changeable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10043132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list is changeable, meaning that we can change, add and remove items in a list after it has been created.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4261461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E75FFE-00A7-4A4D-9125-9EA4EF3D5C2C}"/>
              </a:ext>
            </a:extLst>
          </p:cNvPr>
          <p:cNvSpPr txBox="1"/>
          <p:nvPr/>
        </p:nvSpPr>
        <p:spPr>
          <a:xfrm>
            <a:off x="1221216" y="4770320"/>
            <a:ext cx="404439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 = [20, 40, 14, 90]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F95F7C-59AF-4F9F-A691-CD5CBA493401}"/>
              </a:ext>
            </a:extLst>
          </p:cNvPr>
          <p:cNvSpPr/>
          <p:nvPr/>
        </p:nvSpPr>
        <p:spPr>
          <a:xfrm>
            <a:off x="5599658" y="4337780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9BB9C7-70E6-402A-84D7-1C9A7F1E02C3}"/>
              </a:ext>
            </a:extLst>
          </p:cNvPr>
          <p:cNvSpPr/>
          <p:nvPr/>
        </p:nvSpPr>
        <p:spPr>
          <a:xfrm>
            <a:off x="5740676" y="490207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F53A3C-D3F1-4A01-A1FC-BDB801AC5205}"/>
              </a:ext>
            </a:extLst>
          </p:cNvPr>
          <p:cNvSpPr/>
          <p:nvPr/>
        </p:nvSpPr>
        <p:spPr>
          <a:xfrm>
            <a:off x="5740676" y="539295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23218-4B7D-468D-8D78-002061127E56}"/>
              </a:ext>
            </a:extLst>
          </p:cNvPr>
          <p:cNvSpPr/>
          <p:nvPr/>
        </p:nvSpPr>
        <p:spPr>
          <a:xfrm>
            <a:off x="5740676" y="585435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F917C0-A517-44D6-846F-69D89D13645F}"/>
              </a:ext>
            </a:extLst>
          </p:cNvPr>
          <p:cNvSpPr/>
          <p:nvPr/>
        </p:nvSpPr>
        <p:spPr>
          <a:xfrm>
            <a:off x="8580622" y="4337780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7C3DE3-36AD-489F-BEA1-20D90A3E35AF}"/>
              </a:ext>
            </a:extLst>
          </p:cNvPr>
          <p:cNvSpPr/>
          <p:nvPr/>
        </p:nvSpPr>
        <p:spPr>
          <a:xfrm>
            <a:off x="8721640" y="443483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70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B719968-92A6-4A3E-9D33-73A14A288D19}"/>
              </a:ext>
            </a:extLst>
          </p:cNvPr>
          <p:cNvSpPr/>
          <p:nvPr/>
        </p:nvSpPr>
        <p:spPr>
          <a:xfrm>
            <a:off x="8721640" y="490207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49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E99173-D57D-4698-ABB3-506ABCFE5B28}"/>
              </a:ext>
            </a:extLst>
          </p:cNvPr>
          <p:cNvSpPr/>
          <p:nvPr/>
        </p:nvSpPr>
        <p:spPr>
          <a:xfrm>
            <a:off x="8721640" y="539295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1CCF4F-4FA1-4B44-B3F3-8A6772B96814}"/>
              </a:ext>
            </a:extLst>
          </p:cNvPr>
          <p:cNvSpPr/>
          <p:nvPr/>
        </p:nvSpPr>
        <p:spPr>
          <a:xfrm>
            <a:off x="8721640" y="585435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60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E0C907-AD8F-4E3E-820E-1534E4A8ECF1}"/>
              </a:ext>
            </a:extLst>
          </p:cNvPr>
          <p:cNvSpPr txBox="1"/>
          <p:nvPr/>
        </p:nvSpPr>
        <p:spPr>
          <a:xfrm>
            <a:off x="1240975" y="5332684"/>
            <a:ext cx="404439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 = [</a:t>
            </a:r>
            <a:r>
              <a:rPr lang="en-US" sz="2000" b="1" dirty="0">
                <a:solidFill>
                  <a:srgbClr val="FF0000"/>
                </a:solidFill>
              </a:rPr>
              <a:t>60</a:t>
            </a:r>
            <a:r>
              <a:rPr lang="en-US" sz="2000" dirty="0"/>
              <a:t>, 40, </a:t>
            </a:r>
            <a:r>
              <a:rPr lang="en-US" sz="2000" b="1" dirty="0">
                <a:solidFill>
                  <a:srgbClr val="FF0000"/>
                </a:solidFill>
              </a:rPr>
              <a:t>49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FF0000"/>
                </a:solidFill>
              </a:rPr>
              <a:t>70</a:t>
            </a:r>
            <a:r>
              <a:rPr lang="en-US" sz="2000" dirty="0"/>
              <a:t>]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E81171B-6686-4DF3-87E7-B9898EEC2912}"/>
              </a:ext>
            </a:extLst>
          </p:cNvPr>
          <p:cNvSpPr/>
          <p:nvPr/>
        </p:nvSpPr>
        <p:spPr>
          <a:xfrm>
            <a:off x="4227443" y="5053712"/>
            <a:ext cx="1334491" cy="36370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Unchanged</a:t>
            </a: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622369B4-3A03-4A52-871C-6FC310228203}"/>
              </a:ext>
            </a:extLst>
          </p:cNvPr>
          <p:cNvSpPr/>
          <p:nvPr/>
        </p:nvSpPr>
        <p:spPr>
          <a:xfrm>
            <a:off x="7138619" y="5053160"/>
            <a:ext cx="1428589" cy="364253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Change value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6E3336-F216-428B-AD23-087D46634FA0}"/>
              </a:ext>
            </a:extLst>
          </p:cNvPr>
          <p:cNvSpPr/>
          <p:nvPr/>
        </p:nvSpPr>
        <p:spPr>
          <a:xfrm>
            <a:off x="5740676" y="4434838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69886F-E800-4667-AB25-D177196C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55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What is List in Python?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5" y="223915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Duplicate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1004313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Since lists are indexed, list can have items with same value.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785202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E75FFE-00A7-4A4D-9125-9EA4EF3D5C2C}"/>
              </a:ext>
            </a:extLst>
          </p:cNvPr>
          <p:cNvSpPr txBox="1"/>
          <p:nvPr/>
        </p:nvSpPr>
        <p:spPr>
          <a:xfrm>
            <a:off x="1221216" y="4294061"/>
            <a:ext cx="404439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 = [20, </a:t>
            </a:r>
            <a:r>
              <a:rPr lang="en-US" sz="2000" b="1" dirty="0">
                <a:solidFill>
                  <a:srgbClr val="FF0000"/>
                </a:solidFill>
              </a:rPr>
              <a:t>40</a:t>
            </a:r>
            <a:r>
              <a:rPr lang="en-US" sz="2000" dirty="0"/>
              <a:t>, 14, </a:t>
            </a:r>
            <a:r>
              <a:rPr lang="en-US" sz="2000" b="1" dirty="0">
                <a:solidFill>
                  <a:srgbClr val="FF0000"/>
                </a:solidFill>
              </a:rPr>
              <a:t>40</a:t>
            </a:r>
            <a:r>
              <a:rPr lang="en-US" sz="2000" dirty="0"/>
              <a:t>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F95F7C-59AF-4F9F-A691-CD5CBA493401}"/>
              </a:ext>
            </a:extLst>
          </p:cNvPr>
          <p:cNvSpPr/>
          <p:nvPr/>
        </p:nvSpPr>
        <p:spPr>
          <a:xfrm>
            <a:off x="5599658" y="3766953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9BB9C7-70E6-402A-84D7-1C9A7F1E02C3}"/>
              </a:ext>
            </a:extLst>
          </p:cNvPr>
          <p:cNvSpPr/>
          <p:nvPr/>
        </p:nvSpPr>
        <p:spPr>
          <a:xfrm>
            <a:off x="5740676" y="433124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F53A3C-D3F1-4A01-A1FC-BDB801AC5205}"/>
              </a:ext>
            </a:extLst>
          </p:cNvPr>
          <p:cNvSpPr/>
          <p:nvPr/>
        </p:nvSpPr>
        <p:spPr>
          <a:xfrm>
            <a:off x="5740676" y="482212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23218-4B7D-468D-8D78-002061127E56}"/>
              </a:ext>
            </a:extLst>
          </p:cNvPr>
          <p:cNvSpPr/>
          <p:nvPr/>
        </p:nvSpPr>
        <p:spPr>
          <a:xfrm>
            <a:off x="5740676" y="528353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6E3336-F216-428B-AD23-087D46634FA0}"/>
              </a:ext>
            </a:extLst>
          </p:cNvPr>
          <p:cNvSpPr/>
          <p:nvPr/>
        </p:nvSpPr>
        <p:spPr>
          <a:xfrm>
            <a:off x="5740676" y="386401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B5E6AF9C-D069-44AE-AB59-EFC2262DD4C4}"/>
              </a:ext>
            </a:extLst>
          </p:cNvPr>
          <p:cNvSpPr/>
          <p:nvPr/>
        </p:nvSpPr>
        <p:spPr>
          <a:xfrm>
            <a:off x="6959876" y="4016034"/>
            <a:ext cx="1140157" cy="1019792"/>
          </a:xfrm>
          <a:prstGeom prst="chevron">
            <a:avLst>
              <a:gd name="adj" fmla="val 11050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495C4-DC77-4E16-AE6F-AF8611F8FB8A}"/>
              </a:ext>
            </a:extLst>
          </p:cNvPr>
          <p:cNvSpPr txBox="1"/>
          <p:nvPr/>
        </p:nvSpPr>
        <p:spPr>
          <a:xfrm>
            <a:off x="8100033" y="4248508"/>
            <a:ext cx="2436273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Duplicate Values.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43DCC-4F4F-4D17-AB69-21E9E9BA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2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983466" cy="706964"/>
          </a:xfrm>
        </p:spPr>
        <p:txBody>
          <a:bodyPr/>
          <a:lstStyle/>
          <a:p>
            <a:r>
              <a:rPr lang="en-US" dirty="0"/>
              <a:t>List in different Data Types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5" y="2239156"/>
            <a:ext cx="4384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List in different Data Types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1004313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List also support different data types in a single list.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30DAA0-ACCD-4036-BBF5-D18AE84FC73B}"/>
              </a:ext>
            </a:extLst>
          </p:cNvPr>
          <p:cNvSpPr/>
          <p:nvPr/>
        </p:nvSpPr>
        <p:spPr>
          <a:xfrm>
            <a:off x="1276709" y="4029080"/>
            <a:ext cx="6422804" cy="203132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my_list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"Yasir"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40.5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3.4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my_list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my_list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my_list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E72EAC-FAA5-479E-871B-BB2BA241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83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Len()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5" y="223915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Len()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1004313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Length function is used to count the total items of a lists.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D05241-148A-4C14-A29C-460013588D2C}"/>
              </a:ext>
            </a:extLst>
          </p:cNvPr>
          <p:cNvSpPr/>
          <p:nvPr/>
        </p:nvSpPr>
        <p:spPr>
          <a:xfrm>
            <a:off x="1274223" y="5134058"/>
            <a:ext cx="4083667" cy="147732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endParaRPr lang="pt-BR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count_num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count_num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2818A-33EE-46F8-A38B-E745CB4488F2}"/>
              </a:ext>
            </a:extLst>
          </p:cNvPr>
          <p:cNvSpPr/>
          <p:nvPr/>
        </p:nvSpPr>
        <p:spPr>
          <a:xfrm>
            <a:off x="1274223" y="4007623"/>
            <a:ext cx="4083667" cy="92333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endParaRPr lang="pt-BR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3F3823B3-5A13-4882-942F-A3BD32E77C85}"/>
              </a:ext>
            </a:extLst>
          </p:cNvPr>
          <p:cNvSpPr/>
          <p:nvPr/>
        </p:nvSpPr>
        <p:spPr>
          <a:xfrm>
            <a:off x="5291630" y="4484955"/>
            <a:ext cx="1311965" cy="1334260"/>
          </a:xfrm>
          <a:prstGeom prst="chevron">
            <a:avLst>
              <a:gd name="adj" fmla="val 863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7EDF7-7A57-431F-BD23-E0BD9D8A2DA1}"/>
              </a:ext>
            </a:extLst>
          </p:cNvPr>
          <p:cNvSpPr txBox="1"/>
          <p:nvPr/>
        </p:nvSpPr>
        <p:spPr>
          <a:xfrm>
            <a:off x="6603595" y="4831695"/>
            <a:ext cx="1642495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as you wish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B36BCE-248E-40BC-898F-BAA6DF77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7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Insert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Insert()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845287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You can enter a value by position or indexed using insert function.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508E44-DD85-4313-8FA6-5483F11E0D20}"/>
              </a:ext>
            </a:extLst>
          </p:cNvPr>
          <p:cNvSpPr/>
          <p:nvPr/>
        </p:nvSpPr>
        <p:spPr>
          <a:xfrm>
            <a:off x="1260970" y="4039500"/>
            <a:ext cx="6096000" cy="15081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"Babar"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Arif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"Manzar"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"New"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43E45F-EBB4-43DB-8A54-12DE7644DCD8}"/>
              </a:ext>
            </a:extLst>
          </p:cNvPr>
          <p:cNvSpPr/>
          <p:nvPr/>
        </p:nvSpPr>
        <p:spPr>
          <a:xfrm>
            <a:off x="7830004" y="3942065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922F2-83C7-45D4-B02A-13E1B06D8879}"/>
              </a:ext>
            </a:extLst>
          </p:cNvPr>
          <p:cNvSpPr/>
          <p:nvPr/>
        </p:nvSpPr>
        <p:spPr>
          <a:xfrm>
            <a:off x="7971022" y="450636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Arif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2EB26-ED81-44AE-9F02-C563EDCFAC91}"/>
              </a:ext>
            </a:extLst>
          </p:cNvPr>
          <p:cNvSpPr/>
          <p:nvPr/>
        </p:nvSpPr>
        <p:spPr>
          <a:xfrm>
            <a:off x="7971022" y="499724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2AE702-00E5-4A18-9CD8-3FB21F2247D1}"/>
              </a:ext>
            </a:extLst>
          </p:cNvPr>
          <p:cNvSpPr/>
          <p:nvPr/>
        </p:nvSpPr>
        <p:spPr>
          <a:xfrm>
            <a:off x="7971022" y="545864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CDA4A9-F00E-444B-BC07-7409EF4A83B3}"/>
              </a:ext>
            </a:extLst>
          </p:cNvPr>
          <p:cNvSpPr/>
          <p:nvPr/>
        </p:nvSpPr>
        <p:spPr>
          <a:xfrm>
            <a:off x="9879014" y="3942065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B9323-E0D8-49FD-9E06-52850C274C63}"/>
              </a:ext>
            </a:extLst>
          </p:cNvPr>
          <p:cNvSpPr/>
          <p:nvPr/>
        </p:nvSpPr>
        <p:spPr>
          <a:xfrm>
            <a:off x="10020032" y="450636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ADC776-7B58-4E64-A08F-6E3AAFB433B5}"/>
              </a:ext>
            </a:extLst>
          </p:cNvPr>
          <p:cNvSpPr/>
          <p:nvPr/>
        </p:nvSpPr>
        <p:spPr>
          <a:xfrm>
            <a:off x="10020032" y="499724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7D6884-726A-411C-9B29-787A08AF7559}"/>
              </a:ext>
            </a:extLst>
          </p:cNvPr>
          <p:cNvSpPr/>
          <p:nvPr/>
        </p:nvSpPr>
        <p:spPr>
          <a:xfrm>
            <a:off x="10020032" y="545864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193B93-4791-45F6-80D2-CC1EF9DF4F9A}"/>
              </a:ext>
            </a:extLst>
          </p:cNvPr>
          <p:cNvSpPr/>
          <p:nvPr/>
        </p:nvSpPr>
        <p:spPr>
          <a:xfrm>
            <a:off x="7971022" y="403416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Manzar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561EBE-7AC2-4F49-AACC-AA3E16D89B69}"/>
              </a:ext>
            </a:extLst>
          </p:cNvPr>
          <p:cNvSpPr/>
          <p:nvPr/>
        </p:nvSpPr>
        <p:spPr>
          <a:xfrm>
            <a:off x="10020032" y="401548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Manzar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D134AEE-9460-4052-8BD0-7F6C846D36F0}"/>
              </a:ext>
            </a:extLst>
          </p:cNvPr>
          <p:cNvSpPr/>
          <p:nvPr/>
        </p:nvSpPr>
        <p:spPr>
          <a:xfrm>
            <a:off x="9427239" y="4688663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8037C96-31B8-4944-A5FF-49C9A4815118}"/>
              </a:ext>
            </a:extLst>
          </p:cNvPr>
          <p:cNvSpPr/>
          <p:nvPr/>
        </p:nvSpPr>
        <p:spPr>
          <a:xfrm>
            <a:off x="7404733" y="4688663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7B6A8C-959B-4DFF-BBD1-208D9C02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93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Sort()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Sort()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 sort() function data is sorted by lowest to greatest or ascending form. The data either number or.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811705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E3571F-75AA-4E2C-AC1D-ED1769805790}"/>
              </a:ext>
            </a:extLst>
          </p:cNvPr>
          <p:cNvSpPr/>
          <p:nvPr/>
        </p:nvSpPr>
        <p:spPr>
          <a:xfrm>
            <a:off x="1258957" y="4477984"/>
            <a:ext cx="6096000" cy="203132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de-DE" dirty="0">
                <a:solidFill>
                  <a:srgbClr val="CE9178"/>
                </a:solidFill>
                <a:latin typeface="Consolas" panose="020B0609020204030204" pitchFamily="49" charset="0"/>
              </a:rPr>
              <a:t>"Babar"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CE9178"/>
                </a:solidFill>
                <a:latin typeface="Consolas" panose="020B0609020204030204" pitchFamily="49" charset="0"/>
              </a:rPr>
              <a:t>"Arif"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CE9178"/>
                </a:solidFill>
                <a:latin typeface="Consolas" panose="020B0609020204030204" pitchFamily="49" charset="0"/>
              </a:rPr>
              <a:t>"Manzar"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DCDCAA"/>
                </a:solidFill>
                <a:latin typeface="Consolas" panose="020B0609020204030204" pitchFamily="49" charset="0"/>
              </a:rPr>
              <a:t>sort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py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8CD9BB-057C-478C-8032-D6225DFFF48A}"/>
              </a:ext>
            </a:extLst>
          </p:cNvPr>
          <p:cNvSpPr/>
          <p:nvPr/>
        </p:nvSpPr>
        <p:spPr>
          <a:xfrm>
            <a:off x="7830004" y="4154098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56F0AB-8A0B-4C9E-802C-BA26C94898C1}"/>
              </a:ext>
            </a:extLst>
          </p:cNvPr>
          <p:cNvSpPr/>
          <p:nvPr/>
        </p:nvSpPr>
        <p:spPr>
          <a:xfrm>
            <a:off x="7971022" y="471839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Arif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365718-A4E0-4975-BDF1-423A2BDBED9A}"/>
              </a:ext>
            </a:extLst>
          </p:cNvPr>
          <p:cNvSpPr/>
          <p:nvPr/>
        </p:nvSpPr>
        <p:spPr>
          <a:xfrm>
            <a:off x="7971022" y="520927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123F7F-E716-4D8A-B10A-9E82491A06C6}"/>
              </a:ext>
            </a:extLst>
          </p:cNvPr>
          <p:cNvSpPr/>
          <p:nvPr/>
        </p:nvSpPr>
        <p:spPr>
          <a:xfrm>
            <a:off x="7971022" y="5670677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8F94C-9AA8-4777-9B78-E01EDE6F8602}"/>
              </a:ext>
            </a:extLst>
          </p:cNvPr>
          <p:cNvSpPr/>
          <p:nvPr/>
        </p:nvSpPr>
        <p:spPr>
          <a:xfrm>
            <a:off x="9879014" y="4154098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2E37D1-2F01-4AC4-BCBD-0E067537E57F}"/>
              </a:ext>
            </a:extLst>
          </p:cNvPr>
          <p:cNvSpPr/>
          <p:nvPr/>
        </p:nvSpPr>
        <p:spPr>
          <a:xfrm>
            <a:off x="10020032" y="4718394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B7D847-008B-4BC6-B31F-707EDAD1136F}"/>
              </a:ext>
            </a:extLst>
          </p:cNvPr>
          <p:cNvSpPr/>
          <p:nvPr/>
        </p:nvSpPr>
        <p:spPr>
          <a:xfrm>
            <a:off x="10020032" y="5209274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E5C60D-5740-475D-9500-5AE3100A07ED}"/>
              </a:ext>
            </a:extLst>
          </p:cNvPr>
          <p:cNvSpPr/>
          <p:nvPr/>
        </p:nvSpPr>
        <p:spPr>
          <a:xfrm>
            <a:off x="10020032" y="5670677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Arif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D31825-9549-4E0D-BBB0-88F9560DB83B}"/>
              </a:ext>
            </a:extLst>
          </p:cNvPr>
          <p:cNvSpPr/>
          <p:nvPr/>
        </p:nvSpPr>
        <p:spPr>
          <a:xfrm>
            <a:off x="7971022" y="4246197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Manzar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8BB619-247E-453B-9CE6-1484553DF584}"/>
              </a:ext>
            </a:extLst>
          </p:cNvPr>
          <p:cNvSpPr/>
          <p:nvPr/>
        </p:nvSpPr>
        <p:spPr>
          <a:xfrm>
            <a:off x="10020032" y="4227514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Manzar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A14E951-833C-4428-9B8E-A9C45C1A6A4C}"/>
              </a:ext>
            </a:extLst>
          </p:cNvPr>
          <p:cNvSpPr/>
          <p:nvPr/>
        </p:nvSpPr>
        <p:spPr>
          <a:xfrm>
            <a:off x="9427239" y="4900696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78BD6E6-BFAE-4ACE-B9F0-4F2653106865}"/>
              </a:ext>
            </a:extLst>
          </p:cNvPr>
          <p:cNvSpPr/>
          <p:nvPr/>
        </p:nvSpPr>
        <p:spPr>
          <a:xfrm>
            <a:off x="7414592" y="4900696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58E83D-C85D-4491-95D7-0ECA63AE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495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reverse()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reverse()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4" y="2700821"/>
            <a:ext cx="10718993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 reverse() function the list items is reverse by indexed. The value in descending form.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80400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E3571F-75AA-4E2C-AC1D-ED1769805790}"/>
              </a:ext>
            </a:extLst>
          </p:cNvPr>
          <p:cNvSpPr/>
          <p:nvPr/>
        </p:nvSpPr>
        <p:spPr>
          <a:xfrm>
            <a:off x="1258957" y="4146679"/>
            <a:ext cx="6096000" cy="147732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de-DE" dirty="0">
                <a:solidFill>
                  <a:srgbClr val="CE9178"/>
                </a:solidFill>
                <a:latin typeface="Consolas" panose="020B0609020204030204" pitchFamily="49" charset="0"/>
              </a:rPr>
              <a:t>"Babar"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CE9178"/>
                </a:solidFill>
                <a:latin typeface="Consolas" panose="020B0609020204030204" pitchFamily="49" charset="0"/>
              </a:rPr>
              <a:t>"Arif"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CE9178"/>
                </a:solidFill>
                <a:latin typeface="Consolas" panose="020B0609020204030204" pitchFamily="49" charset="0"/>
              </a:rPr>
              <a:t>"Manzar"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DCDCAA"/>
                </a:solidFill>
                <a:latin typeface="Consolas" panose="020B0609020204030204" pitchFamily="49" charset="0"/>
              </a:rPr>
              <a:t>reverse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15E02C-6BAD-4D28-8DDC-8AA64AE24E20}"/>
              </a:ext>
            </a:extLst>
          </p:cNvPr>
          <p:cNvSpPr/>
          <p:nvPr/>
        </p:nvSpPr>
        <p:spPr>
          <a:xfrm>
            <a:off x="7830004" y="3942065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C4A7B0-146D-4B87-B91D-FBAD2AE48503}"/>
              </a:ext>
            </a:extLst>
          </p:cNvPr>
          <p:cNvSpPr/>
          <p:nvPr/>
        </p:nvSpPr>
        <p:spPr>
          <a:xfrm>
            <a:off x="7971022" y="450636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Arif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2BF7C7-D251-495C-893E-33C9E563E18C}"/>
              </a:ext>
            </a:extLst>
          </p:cNvPr>
          <p:cNvSpPr/>
          <p:nvPr/>
        </p:nvSpPr>
        <p:spPr>
          <a:xfrm>
            <a:off x="7971022" y="499724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35FAED-F31F-41C4-9529-D2D9A68B7485}"/>
              </a:ext>
            </a:extLst>
          </p:cNvPr>
          <p:cNvSpPr/>
          <p:nvPr/>
        </p:nvSpPr>
        <p:spPr>
          <a:xfrm>
            <a:off x="7971022" y="545864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D7F108-5622-4C7D-8C22-15E8334DA2DD}"/>
              </a:ext>
            </a:extLst>
          </p:cNvPr>
          <p:cNvSpPr/>
          <p:nvPr/>
        </p:nvSpPr>
        <p:spPr>
          <a:xfrm>
            <a:off x="9879014" y="3942065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65DA48-40C3-4A9E-8247-AB436BBDA45A}"/>
              </a:ext>
            </a:extLst>
          </p:cNvPr>
          <p:cNvSpPr/>
          <p:nvPr/>
        </p:nvSpPr>
        <p:spPr>
          <a:xfrm>
            <a:off x="10020032" y="4506361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75360F-039C-4BA9-B660-1E6CD0B3E0EC}"/>
              </a:ext>
            </a:extLst>
          </p:cNvPr>
          <p:cNvSpPr/>
          <p:nvPr/>
        </p:nvSpPr>
        <p:spPr>
          <a:xfrm>
            <a:off x="10020032" y="4997241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Arif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B94073-5179-4F7C-A6E4-C8B9B815E6D2}"/>
              </a:ext>
            </a:extLst>
          </p:cNvPr>
          <p:cNvSpPr/>
          <p:nvPr/>
        </p:nvSpPr>
        <p:spPr>
          <a:xfrm>
            <a:off x="10020032" y="5458644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Manzar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F6F1F9-6B02-472B-99B5-E1B394A0B586}"/>
              </a:ext>
            </a:extLst>
          </p:cNvPr>
          <p:cNvSpPr/>
          <p:nvPr/>
        </p:nvSpPr>
        <p:spPr>
          <a:xfrm>
            <a:off x="7971022" y="403416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Manzar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A92E32-F644-4A1B-A4B5-D87C7112684A}"/>
              </a:ext>
            </a:extLst>
          </p:cNvPr>
          <p:cNvSpPr/>
          <p:nvPr/>
        </p:nvSpPr>
        <p:spPr>
          <a:xfrm>
            <a:off x="10020032" y="4015481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EDF3E9C-DBBF-49F7-A7DA-F83A5ED9DB5F}"/>
              </a:ext>
            </a:extLst>
          </p:cNvPr>
          <p:cNvSpPr/>
          <p:nvPr/>
        </p:nvSpPr>
        <p:spPr>
          <a:xfrm>
            <a:off x="7434470" y="4688663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2E365FD-DFB5-483B-93C3-4693D254A91A}"/>
              </a:ext>
            </a:extLst>
          </p:cNvPr>
          <p:cNvSpPr/>
          <p:nvPr/>
        </p:nvSpPr>
        <p:spPr>
          <a:xfrm>
            <a:off x="9427239" y="4688663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FE88-2FC5-4688-AEE8-0D6DFF34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94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Accessing Items Of a List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List Items Access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This is possible to access single items of a list by index.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A546A-EE47-4F75-841F-55688FC14E5D}"/>
              </a:ext>
            </a:extLst>
          </p:cNvPr>
          <p:cNvSpPr/>
          <p:nvPr/>
        </p:nvSpPr>
        <p:spPr>
          <a:xfrm>
            <a:off x="1247719" y="4000903"/>
            <a:ext cx="4516977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89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120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67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Access single Items of a list.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46BFF-B1F9-4FB3-A940-20979F9EE917}"/>
              </a:ext>
            </a:extLst>
          </p:cNvPr>
          <p:cNvSpPr/>
          <p:nvPr/>
        </p:nvSpPr>
        <p:spPr>
          <a:xfrm>
            <a:off x="6964633" y="3657942"/>
            <a:ext cx="1501237" cy="2926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63000E-2D14-42BC-8B97-318AE50E1FD1}"/>
              </a:ext>
            </a:extLst>
          </p:cNvPr>
          <p:cNvSpPr/>
          <p:nvPr/>
        </p:nvSpPr>
        <p:spPr>
          <a:xfrm>
            <a:off x="7105651" y="375500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56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676FEA-B689-41FA-992B-07A2B80838F3}"/>
              </a:ext>
            </a:extLst>
          </p:cNvPr>
          <p:cNvSpPr/>
          <p:nvPr/>
        </p:nvSpPr>
        <p:spPr>
          <a:xfrm>
            <a:off x="7105651" y="422223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90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96E2F-6067-4DB3-9400-74882FDA3754}"/>
              </a:ext>
            </a:extLst>
          </p:cNvPr>
          <p:cNvSpPr/>
          <p:nvPr/>
        </p:nvSpPr>
        <p:spPr>
          <a:xfrm>
            <a:off x="7105651" y="471311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89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D1A0B-2748-406D-A770-898A19583E94}"/>
              </a:ext>
            </a:extLst>
          </p:cNvPr>
          <p:cNvSpPr/>
          <p:nvPr/>
        </p:nvSpPr>
        <p:spPr>
          <a:xfrm>
            <a:off x="7105651" y="517452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6B22DF-CFB3-423B-BE24-A59E220774FF}"/>
              </a:ext>
            </a:extLst>
          </p:cNvPr>
          <p:cNvCxnSpPr/>
          <p:nvPr/>
        </p:nvCxnSpPr>
        <p:spPr>
          <a:xfrm>
            <a:off x="8324851" y="391866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C7966C-E31C-48EB-BAC0-A50D9AE7C1B8}"/>
              </a:ext>
            </a:extLst>
          </p:cNvPr>
          <p:cNvCxnSpPr/>
          <p:nvPr/>
        </p:nvCxnSpPr>
        <p:spPr>
          <a:xfrm>
            <a:off x="8324851" y="4392086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D7F031-742A-4907-8758-1033A1DFC6CF}"/>
              </a:ext>
            </a:extLst>
          </p:cNvPr>
          <p:cNvCxnSpPr/>
          <p:nvPr/>
        </p:nvCxnSpPr>
        <p:spPr>
          <a:xfrm>
            <a:off x="8324851" y="490595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300B70-B11B-40F5-BE98-B5593A87D162}"/>
              </a:ext>
            </a:extLst>
          </p:cNvPr>
          <p:cNvCxnSpPr/>
          <p:nvPr/>
        </p:nvCxnSpPr>
        <p:spPr>
          <a:xfrm>
            <a:off x="8324851" y="5369781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487E7F7-6DB3-4964-B33F-353AE489F157}"/>
              </a:ext>
            </a:extLst>
          </p:cNvPr>
          <p:cNvSpPr txBox="1"/>
          <p:nvPr/>
        </p:nvSpPr>
        <p:spPr>
          <a:xfrm>
            <a:off x="8794508" y="36228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num[0]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EF3AC-0751-456C-A692-D3EF323ACBC3}"/>
              </a:ext>
            </a:extLst>
          </p:cNvPr>
          <p:cNvSpPr txBox="1"/>
          <p:nvPr/>
        </p:nvSpPr>
        <p:spPr>
          <a:xfrm>
            <a:off x="8794508" y="407690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num[1]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6C144-9C70-4826-9DA7-8D2820DDD832}"/>
              </a:ext>
            </a:extLst>
          </p:cNvPr>
          <p:cNvSpPr txBox="1"/>
          <p:nvPr/>
        </p:nvSpPr>
        <p:spPr>
          <a:xfrm>
            <a:off x="8794508" y="459520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num[2]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F0019-D993-4AAA-A606-9889B34B3650}"/>
              </a:ext>
            </a:extLst>
          </p:cNvPr>
          <p:cNvSpPr txBox="1"/>
          <p:nvPr/>
        </p:nvSpPr>
        <p:spPr>
          <a:xfrm>
            <a:off x="8794508" y="5049680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num[3]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FF409E-5DB7-4C14-AE52-E6639E520015}"/>
              </a:ext>
            </a:extLst>
          </p:cNvPr>
          <p:cNvSpPr/>
          <p:nvPr/>
        </p:nvSpPr>
        <p:spPr>
          <a:xfrm>
            <a:off x="7105651" y="56676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B43D-84B0-4DF3-A79B-FEF218F57F18}"/>
              </a:ext>
            </a:extLst>
          </p:cNvPr>
          <p:cNvSpPr/>
          <p:nvPr/>
        </p:nvSpPr>
        <p:spPr>
          <a:xfrm>
            <a:off x="7105651" y="612583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67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3D86DA-8588-4178-BCCE-CAD61474EB48}"/>
              </a:ext>
            </a:extLst>
          </p:cNvPr>
          <p:cNvCxnSpPr/>
          <p:nvPr/>
        </p:nvCxnSpPr>
        <p:spPr>
          <a:xfrm>
            <a:off x="8333168" y="585922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3B5392-A4E5-4673-AB4A-394ABA3F2B64}"/>
              </a:ext>
            </a:extLst>
          </p:cNvPr>
          <p:cNvSpPr txBox="1"/>
          <p:nvPr/>
        </p:nvSpPr>
        <p:spPr>
          <a:xfrm>
            <a:off x="8802825" y="55391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num[4]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6AAEF6-191C-45DF-931A-B94BE75578B7}"/>
              </a:ext>
            </a:extLst>
          </p:cNvPr>
          <p:cNvCxnSpPr/>
          <p:nvPr/>
        </p:nvCxnSpPr>
        <p:spPr>
          <a:xfrm>
            <a:off x="8333168" y="630264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F98846F-B66E-40A4-BF20-00B974CD81A6}"/>
              </a:ext>
            </a:extLst>
          </p:cNvPr>
          <p:cNvSpPr txBox="1"/>
          <p:nvPr/>
        </p:nvSpPr>
        <p:spPr>
          <a:xfrm>
            <a:off x="8802825" y="598254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num[5]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59AABD-3126-4ACE-A56C-123D5206B691}"/>
              </a:ext>
            </a:extLst>
          </p:cNvPr>
          <p:cNvSpPr/>
          <p:nvPr/>
        </p:nvSpPr>
        <p:spPr>
          <a:xfrm>
            <a:off x="6020935" y="4744205"/>
            <a:ext cx="727614" cy="477317"/>
          </a:xfrm>
          <a:prstGeom prst="rightArrow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A9337D-8CF8-4752-8E68-F088BCB7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723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Using Negative Indexes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Negative Indexes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This is possible to access list item by using negative </a:t>
            </a:r>
            <a:r>
              <a:rPr lang="en-US" sz="2000" dirty="0" err="1"/>
              <a:t>idexes</a:t>
            </a:r>
            <a:r>
              <a:rPr lang="en-US" sz="20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A546A-EE47-4F75-841F-55688FC14E5D}"/>
              </a:ext>
            </a:extLst>
          </p:cNvPr>
          <p:cNvSpPr/>
          <p:nvPr/>
        </p:nvSpPr>
        <p:spPr>
          <a:xfrm>
            <a:off x="1247719" y="4067163"/>
            <a:ext cx="4516977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89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120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67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Access single Items of a list.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[-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[-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[-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46BFF-B1F9-4FB3-A940-20979F9EE917}"/>
              </a:ext>
            </a:extLst>
          </p:cNvPr>
          <p:cNvSpPr/>
          <p:nvPr/>
        </p:nvSpPr>
        <p:spPr>
          <a:xfrm>
            <a:off x="6964633" y="3657942"/>
            <a:ext cx="1501237" cy="2926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63000E-2D14-42BC-8B97-318AE50E1FD1}"/>
              </a:ext>
            </a:extLst>
          </p:cNvPr>
          <p:cNvSpPr/>
          <p:nvPr/>
        </p:nvSpPr>
        <p:spPr>
          <a:xfrm>
            <a:off x="7105651" y="375500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676FEA-B689-41FA-992B-07A2B80838F3}"/>
              </a:ext>
            </a:extLst>
          </p:cNvPr>
          <p:cNvSpPr/>
          <p:nvPr/>
        </p:nvSpPr>
        <p:spPr>
          <a:xfrm>
            <a:off x="7105651" y="422223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96E2F-6067-4DB3-9400-74882FDA3754}"/>
              </a:ext>
            </a:extLst>
          </p:cNvPr>
          <p:cNvSpPr/>
          <p:nvPr/>
        </p:nvSpPr>
        <p:spPr>
          <a:xfrm>
            <a:off x="7105651" y="471311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89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D1A0B-2748-406D-A770-898A19583E94}"/>
              </a:ext>
            </a:extLst>
          </p:cNvPr>
          <p:cNvSpPr/>
          <p:nvPr/>
        </p:nvSpPr>
        <p:spPr>
          <a:xfrm>
            <a:off x="7105651" y="517452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6B22DF-CFB3-423B-BE24-A59E220774FF}"/>
              </a:ext>
            </a:extLst>
          </p:cNvPr>
          <p:cNvCxnSpPr/>
          <p:nvPr/>
        </p:nvCxnSpPr>
        <p:spPr>
          <a:xfrm>
            <a:off x="8324851" y="391866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C7966C-E31C-48EB-BAC0-A50D9AE7C1B8}"/>
              </a:ext>
            </a:extLst>
          </p:cNvPr>
          <p:cNvCxnSpPr/>
          <p:nvPr/>
        </p:nvCxnSpPr>
        <p:spPr>
          <a:xfrm>
            <a:off x="8324851" y="4392086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D7F031-742A-4907-8758-1033A1DFC6CF}"/>
              </a:ext>
            </a:extLst>
          </p:cNvPr>
          <p:cNvCxnSpPr/>
          <p:nvPr/>
        </p:nvCxnSpPr>
        <p:spPr>
          <a:xfrm>
            <a:off x="8324851" y="490595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300B70-B11B-40F5-BE98-B5593A87D162}"/>
              </a:ext>
            </a:extLst>
          </p:cNvPr>
          <p:cNvCxnSpPr/>
          <p:nvPr/>
        </p:nvCxnSpPr>
        <p:spPr>
          <a:xfrm>
            <a:off x="8324851" y="5369781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487E7F7-6DB3-4964-B33F-353AE489F157}"/>
              </a:ext>
            </a:extLst>
          </p:cNvPr>
          <p:cNvSpPr txBox="1"/>
          <p:nvPr/>
        </p:nvSpPr>
        <p:spPr>
          <a:xfrm>
            <a:off x="8794508" y="36228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num[-6]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EF3AC-0751-456C-A692-D3EF323ACBC3}"/>
              </a:ext>
            </a:extLst>
          </p:cNvPr>
          <p:cNvSpPr txBox="1"/>
          <p:nvPr/>
        </p:nvSpPr>
        <p:spPr>
          <a:xfrm>
            <a:off x="8794508" y="407690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num[-5]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6C144-9C70-4826-9DA7-8D2820DDD832}"/>
              </a:ext>
            </a:extLst>
          </p:cNvPr>
          <p:cNvSpPr txBox="1"/>
          <p:nvPr/>
        </p:nvSpPr>
        <p:spPr>
          <a:xfrm>
            <a:off x="8794508" y="459520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num[-4]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F0019-D993-4AAA-A606-9889B34B3650}"/>
              </a:ext>
            </a:extLst>
          </p:cNvPr>
          <p:cNvSpPr txBox="1"/>
          <p:nvPr/>
        </p:nvSpPr>
        <p:spPr>
          <a:xfrm>
            <a:off x="8794508" y="5049680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num[-3]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FF409E-5DB7-4C14-AE52-E6639E520015}"/>
              </a:ext>
            </a:extLst>
          </p:cNvPr>
          <p:cNvSpPr/>
          <p:nvPr/>
        </p:nvSpPr>
        <p:spPr>
          <a:xfrm>
            <a:off x="7105651" y="56676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B43D-84B0-4DF3-A79B-FEF218F57F18}"/>
              </a:ext>
            </a:extLst>
          </p:cNvPr>
          <p:cNvSpPr/>
          <p:nvPr/>
        </p:nvSpPr>
        <p:spPr>
          <a:xfrm>
            <a:off x="7105651" y="612583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67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3D86DA-8588-4178-BCCE-CAD61474EB48}"/>
              </a:ext>
            </a:extLst>
          </p:cNvPr>
          <p:cNvCxnSpPr/>
          <p:nvPr/>
        </p:nvCxnSpPr>
        <p:spPr>
          <a:xfrm>
            <a:off x="8333168" y="585922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3B5392-A4E5-4673-AB4A-394ABA3F2B64}"/>
              </a:ext>
            </a:extLst>
          </p:cNvPr>
          <p:cNvSpPr txBox="1"/>
          <p:nvPr/>
        </p:nvSpPr>
        <p:spPr>
          <a:xfrm>
            <a:off x="8802825" y="55391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num[-2]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6AAEF6-191C-45DF-931A-B94BE75578B7}"/>
              </a:ext>
            </a:extLst>
          </p:cNvPr>
          <p:cNvCxnSpPr/>
          <p:nvPr/>
        </p:nvCxnSpPr>
        <p:spPr>
          <a:xfrm>
            <a:off x="8333168" y="630264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F98846F-B66E-40A4-BF20-00B974CD81A6}"/>
              </a:ext>
            </a:extLst>
          </p:cNvPr>
          <p:cNvSpPr txBox="1"/>
          <p:nvPr/>
        </p:nvSpPr>
        <p:spPr>
          <a:xfrm>
            <a:off x="8802825" y="598254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num[-1]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59AABD-3126-4ACE-A56C-123D5206B691}"/>
              </a:ext>
            </a:extLst>
          </p:cNvPr>
          <p:cNvSpPr/>
          <p:nvPr/>
        </p:nvSpPr>
        <p:spPr>
          <a:xfrm>
            <a:off x="6020935" y="4744205"/>
            <a:ext cx="727614" cy="477317"/>
          </a:xfrm>
          <a:prstGeom prst="rightArrow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72D48-6B4B-4FDA-9C7A-44DEF21B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10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Range using “:”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Range Using “:”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 “:” is used to show the list items by indexes range.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A546A-EE47-4F75-841F-55688FC14E5D}"/>
              </a:ext>
            </a:extLst>
          </p:cNvPr>
          <p:cNvSpPr/>
          <p:nvPr/>
        </p:nvSpPr>
        <p:spPr>
          <a:xfrm>
            <a:off x="1335480" y="4404541"/>
            <a:ext cx="4516977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89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120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67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Access list items using “:”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[2:5])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[:5])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[2:])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46BFF-B1F9-4FB3-A940-20979F9EE917}"/>
              </a:ext>
            </a:extLst>
          </p:cNvPr>
          <p:cNvSpPr/>
          <p:nvPr/>
        </p:nvSpPr>
        <p:spPr>
          <a:xfrm>
            <a:off x="6964633" y="3657942"/>
            <a:ext cx="1501237" cy="2926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63000E-2D14-42BC-8B97-318AE50E1FD1}"/>
              </a:ext>
            </a:extLst>
          </p:cNvPr>
          <p:cNvSpPr/>
          <p:nvPr/>
        </p:nvSpPr>
        <p:spPr>
          <a:xfrm>
            <a:off x="7105651" y="375500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676FEA-B689-41FA-992B-07A2B80838F3}"/>
              </a:ext>
            </a:extLst>
          </p:cNvPr>
          <p:cNvSpPr/>
          <p:nvPr/>
        </p:nvSpPr>
        <p:spPr>
          <a:xfrm>
            <a:off x="7105651" y="4222239"/>
            <a:ext cx="1219200" cy="3646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90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96E2F-6067-4DB3-9400-74882FDA3754}"/>
              </a:ext>
            </a:extLst>
          </p:cNvPr>
          <p:cNvSpPr/>
          <p:nvPr/>
        </p:nvSpPr>
        <p:spPr>
          <a:xfrm>
            <a:off x="7105651" y="4713119"/>
            <a:ext cx="1219200" cy="3646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89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D1A0B-2748-406D-A770-898A19583E94}"/>
              </a:ext>
            </a:extLst>
          </p:cNvPr>
          <p:cNvSpPr/>
          <p:nvPr/>
        </p:nvSpPr>
        <p:spPr>
          <a:xfrm>
            <a:off x="7105651" y="5174522"/>
            <a:ext cx="1219200" cy="3646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96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6B22DF-CFB3-423B-BE24-A59E220774FF}"/>
              </a:ext>
            </a:extLst>
          </p:cNvPr>
          <p:cNvCxnSpPr/>
          <p:nvPr/>
        </p:nvCxnSpPr>
        <p:spPr>
          <a:xfrm>
            <a:off x="8324851" y="391866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C7966C-E31C-48EB-BAC0-A50D9AE7C1B8}"/>
              </a:ext>
            </a:extLst>
          </p:cNvPr>
          <p:cNvCxnSpPr/>
          <p:nvPr/>
        </p:nvCxnSpPr>
        <p:spPr>
          <a:xfrm>
            <a:off x="8324851" y="4392086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D7F031-742A-4907-8758-1033A1DFC6CF}"/>
              </a:ext>
            </a:extLst>
          </p:cNvPr>
          <p:cNvCxnSpPr/>
          <p:nvPr/>
        </p:nvCxnSpPr>
        <p:spPr>
          <a:xfrm>
            <a:off x="8324851" y="490595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300B70-B11B-40F5-BE98-B5593A87D162}"/>
              </a:ext>
            </a:extLst>
          </p:cNvPr>
          <p:cNvCxnSpPr/>
          <p:nvPr/>
        </p:nvCxnSpPr>
        <p:spPr>
          <a:xfrm>
            <a:off x="8324851" y="5369781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487E7F7-6DB3-4964-B33F-353AE489F157}"/>
              </a:ext>
            </a:extLst>
          </p:cNvPr>
          <p:cNvSpPr txBox="1"/>
          <p:nvPr/>
        </p:nvSpPr>
        <p:spPr>
          <a:xfrm>
            <a:off x="8794508" y="36228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num[5]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EF3AC-0751-456C-A692-D3EF323ACBC3}"/>
              </a:ext>
            </a:extLst>
          </p:cNvPr>
          <p:cNvSpPr txBox="1"/>
          <p:nvPr/>
        </p:nvSpPr>
        <p:spPr>
          <a:xfrm>
            <a:off x="8794508" y="407690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num[4]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6C144-9C70-4826-9DA7-8D2820DDD832}"/>
              </a:ext>
            </a:extLst>
          </p:cNvPr>
          <p:cNvSpPr txBox="1"/>
          <p:nvPr/>
        </p:nvSpPr>
        <p:spPr>
          <a:xfrm>
            <a:off x="8794508" y="459520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num[3]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F0019-D993-4AAA-A606-9889B34B3650}"/>
              </a:ext>
            </a:extLst>
          </p:cNvPr>
          <p:cNvSpPr txBox="1"/>
          <p:nvPr/>
        </p:nvSpPr>
        <p:spPr>
          <a:xfrm>
            <a:off x="8794508" y="5049680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num[2]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FF409E-5DB7-4C14-AE52-E6639E520015}"/>
              </a:ext>
            </a:extLst>
          </p:cNvPr>
          <p:cNvSpPr/>
          <p:nvPr/>
        </p:nvSpPr>
        <p:spPr>
          <a:xfrm>
            <a:off x="7105651" y="56676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B43D-84B0-4DF3-A79B-FEF218F57F18}"/>
              </a:ext>
            </a:extLst>
          </p:cNvPr>
          <p:cNvSpPr/>
          <p:nvPr/>
        </p:nvSpPr>
        <p:spPr>
          <a:xfrm>
            <a:off x="7105651" y="612583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67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3D86DA-8588-4178-BCCE-CAD61474EB48}"/>
              </a:ext>
            </a:extLst>
          </p:cNvPr>
          <p:cNvCxnSpPr/>
          <p:nvPr/>
        </p:nvCxnSpPr>
        <p:spPr>
          <a:xfrm>
            <a:off x="8333168" y="585922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3B5392-A4E5-4673-AB4A-394ABA3F2B64}"/>
              </a:ext>
            </a:extLst>
          </p:cNvPr>
          <p:cNvSpPr txBox="1"/>
          <p:nvPr/>
        </p:nvSpPr>
        <p:spPr>
          <a:xfrm>
            <a:off x="8802825" y="55391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num[1]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6AAEF6-191C-45DF-931A-B94BE75578B7}"/>
              </a:ext>
            </a:extLst>
          </p:cNvPr>
          <p:cNvCxnSpPr/>
          <p:nvPr/>
        </p:nvCxnSpPr>
        <p:spPr>
          <a:xfrm>
            <a:off x="8333168" y="630264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F98846F-B66E-40A4-BF20-00B974CD81A6}"/>
              </a:ext>
            </a:extLst>
          </p:cNvPr>
          <p:cNvSpPr txBox="1"/>
          <p:nvPr/>
        </p:nvSpPr>
        <p:spPr>
          <a:xfrm>
            <a:off x="8802825" y="598254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num[0]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59AABD-3126-4ACE-A56C-123D5206B691}"/>
              </a:ext>
            </a:extLst>
          </p:cNvPr>
          <p:cNvSpPr/>
          <p:nvPr/>
        </p:nvSpPr>
        <p:spPr>
          <a:xfrm>
            <a:off x="6020935" y="4744205"/>
            <a:ext cx="727614" cy="477317"/>
          </a:xfrm>
          <a:prstGeom prst="rightArrow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B00D0D-1FFA-4E4B-8A16-FB8C3A05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6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Change Item Value in List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List Change Value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To change the list items used index value.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46BFF-B1F9-4FB3-A940-20979F9EE917}"/>
              </a:ext>
            </a:extLst>
          </p:cNvPr>
          <p:cNvSpPr/>
          <p:nvPr/>
        </p:nvSpPr>
        <p:spPr>
          <a:xfrm>
            <a:off x="6964633" y="3622827"/>
            <a:ext cx="1501237" cy="29612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676FEA-B689-41FA-992B-07A2B80838F3}"/>
              </a:ext>
            </a:extLst>
          </p:cNvPr>
          <p:cNvSpPr/>
          <p:nvPr/>
        </p:nvSpPr>
        <p:spPr>
          <a:xfrm>
            <a:off x="7105651" y="375841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96E2F-6067-4DB3-9400-74882FDA3754}"/>
              </a:ext>
            </a:extLst>
          </p:cNvPr>
          <p:cNvSpPr/>
          <p:nvPr/>
        </p:nvSpPr>
        <p:spPr>
          <a:xfrm>
            <a:off x="7105651" y="424929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D1A0B-2748-406D-A770-898A19583E94}"/>
              </a:ext>
            </a:extLst>
          </p:cNvPr>
          <p:cNvSpPr/>
          <p:nvPr/>
        </p:nvSpPr>
        <p:spPr>
          <a:xfrm>
            <a:off x="7105651" y="4710695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6B22DF-CFB3-423B-BE24-A59E220774FF}"/>
              </a:ext>
            </a:extLst>
          </p:cNvPr>
          <p:cNvCxnSpPr/>
          <p:nvPr/>
        </p:nvCxnSpPr>
        <p:spPr>
          <a:xfrm>
            <a:off x="8324851" y="391866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C7966C-E31C-48EB-BAC0-A50D9AE7C1B8}"/>
              </a:ext>
            </a:extLst>
          </p:cNvPr>
          <p:cNvCxnSpPr/>
          <p:nvPr/>
        </p:nvCxnSpPr>
        <p:spPr>
          <a:xfrm>
            <a:off x="8324851" y="4392086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D7F031-742A-4907-8758-1033A1DFC6CF}"/>
              </a:ext>
            </a:extLst>
          </p:cNvPr>
          <p:cNvCxnSpPr/>
          <p:nvPr/>
        </p:nvCxnSpPr>
        <p:spPr>
          <a:xfrm>
            <a:off x="8324851" y="490595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300B70-B11B-40F5-BE98-B5593A87D162}"/>
              </a:ext>
            </a:extLst>
          </p:cNvPr>
          <p:cNvCxnSpPr/>
          <p:nvPr/>
        </p:nvCxnSpPr>
        <p:spPr>
          <a:xfrm>
            <a:off x="8324851" y="5369781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487E7F7-6DB3-4964-B33F-353AE489F157}"/>
              </a:ext>
            </a:extLst>
          </p:cNvPr>
          <p:cNvSpPr txBox="1"/>
          <p:nvPr/>
        </p:nvSpPr>
        <p:spPr>
          <a:xfrm>
            <a:off x="8794508" y="36228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num[5]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EF3AC-0751-456C-A692-D3EF323ACBC3}"/>
              </a:ext>
            </a:extLst>
          </p:cNvPr>
          <p:cNvSpPr txBox="1"/>
          <p:nvPr/>
        </p:nvSpPr>
        <p:spPr>
          <a:xfrm>
            <a:off x="8794508" y="407690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num[4]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6C144-9C70-4826-9DA7-8D2820DDD832}"/>
              </a:ext>
            </a:extLst>
          </p:cNvPr>
          <p:cNvSpPr txBox="1"/>
          <p:nvPr/>
        </p:nvSpPr>
        <p:spPr>
          <a:xfrm>
            <a:off x="8794508" y="459520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num[3]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F0019-D993-4AAA-A606-9889B34B3650}"/>
              </a:ext>
            </a:extLst>
          </p:cNvPr>
          <p:cNvSpPr txBox="1"/>
          <p:nvPr/>
        </p:nvSpPr>
        <p:spPr>
          <a:xfrm>
            <a:off x="8794508" y="5049680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num[2]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FF409E-5DB7-4C14-AE52-E6639E520015}"/>
              </a:ext>
            </a:extLst>
          </p:cNvPr>
          <p:cNvSpPr/>
          <p:nvPr/>
        </p:nvSpPr>
        <p:spPr>
          <a:xfrm>
            <a:off x="7105651" y="56676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B43D-84B0-4DF3-A79B-FEF218F57F18}"/>
              </a:ext>
            </a:extLst>
          </p:cNvPr>
          <p:cNvSpPr/>
          <p:nvPr/>
        </p:nvSpPr>
        <p:spPr>
          <a:xfrm>
            <a:off x="7105651" y="612583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56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3D86DA-8588-4178-BCCE-CAD61474EB48}"/>
              </a:ext>
            </a:extLst>
          </p:cNvPr>
          <p:cNvCxnSpPr/>
          <p:nvPr/>
        </p:nvCxnSpPr>
        <p:spPr>
          <a:xfrm>
            <a:off x="8333168" y="585922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3B5392-A4E5-4673-AB4A-394ABA3F2B64}"/>
              </a:ext>
            </a:extLst>
          </p:cNvPr>
          <p:cNvSpPr txBox="1"/>
          <p:nvPr/>
        </p:nvSpPr>
        <p:spPr>
          <a:xfrm>
            <a:off x="8802825" y="55391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num[1]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6AAEF6-191C-45DF-931A-B94BE75578B7}"/>
              </a:ext>
            </a:extLst>
          </p:cNvPr>
          <p:cNvCxnSpPr/>
          <p:nvPr/>
        </p:nvCxnSpPr>
        <p:spPr>
          <a:xfrm>
            <a:off x="8333168" y="630264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F98846F-B66E-40A4-BF20-00B974CD81A6}"/>
              </a:ext>
            </a:extLst>
          </p:cNvPr>
          <p:cNvSpPr txBox="1"/>
          <p:nvPr/>
        </p:nvSpPr>
        <p:spPr>
          <a:xfrm>
            <a:off x="8802825" y="598254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num[0]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59AABD-3126-4ACE-A56C-123D5206B691}"/>
              </a:ext>
            </a:extLst>
          </p:cNvPr>
          <p:cNvSpPr/>
          <p:nvPr/>
        </p:nvSpPr>
        <p:spPr>
          <a:xfrm>
            <a:off x="6020935" y="4651440"/>
            <a:ext cx="727614" cy="477317"/>
          </a:xfrm>
          <a:prstGeom prst="rightArrow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76264E-A44D-4E9B-B52B-152C4CF770AF}"/>
              </a:ext>
            </a:extLst>
          </p:cNvPr>
          <p:cNvSpPr/>
          <p:nvPr/>
        </p:nvSpPr>
        <p:spPr>
          <a:xfrm>
            <a:off x="1207962" y="4157280"/>
            <a:ext cx="4649897" cy="147732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56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89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96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120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67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# Change List Value.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400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4F0835-267A-4D19-AD52-E44FCF378DD7}"/>
              </a:ext>
            </a:extLst>
          </p:cNvPr>
          <p:cNvSpPr/>
          <p:nvPr/>
        </p:nvSpPr>
        <p:spPr>
          <a:xfrm>
            <a:off x="7099061" y="5193135"/>
            <a:ext cx="1219200" cy="3646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A0EC73-4FFE-42B7-BB43-367C206A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80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Append()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Append() Function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Append() function is used to add items in last index of a list.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9BE69-E20B-4EB9-A2B8-CFAE01AE77D0}"/>
              </a:ext>
            </a:extLst>
          </p:cNvPr>
          <p:cNvSpPr/>
          <p:nvPr/>
        </p:nvSpPr>
        <p:spPr>
          <a:xfrm>
            <a:off x="1245705" y="4051164"/>
            <a:ext cx="6096000" cy="1754326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"Wajid"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"Salman"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"Younus"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Add Item using append function.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"New Name"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3A2948-EADB-4B3A-B1CF-CD4A10513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91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Pop()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Pop() </a:t>
            </a:r>
            <a:r>
              <a:rPr lang="en-US" sz="2400" b="1" dirty="0"/>
              <a:t>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 simple pop() function is used to remove the last index item in a list.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9BE69-E20B-4EB9-A2B8-CFAE01AE77D0}"/>
              </a:ext>
            </a:extLst>
          </p:cNvPr>
          <p:cNvSpPr/>
          <p:nvPr/>
        </p:nvSpPr>
        <p:spPr>
          <a:xfrm>
            <a:off x="1245705" y="4051164"/>
            <a:ext cx="6096000" cy="147732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“Babar"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Arif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"Manzar"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Remove item In a list using pop() method.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5C581-EE97-45CA-954C-72E90AAE3F1E}"/>
              </a:ext>
            </a:extLst>
          </p:cNvPr>
          <p:cNvSpPr/>
          <p:nvPr/>
        </p:nvSpPr>
        <p:spPr>
          <a:xfrm>
            <a:off x="7830004" y="3769788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729219-AF73-4499-B852-0B417CC5A7BA}"/>
              </a:ext>
            </a:extLst>
          </p:cNvPr>
          <p:cNvSpPr/>
          <p:nvPr/>
        </p:nvSpPr>
        <p:spPr>
          <a:xfrm>
            <a:off x="7971022" y="433408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Arif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05CE9E-6275-4DB6-A2DE-9534301208CD}"/>
              </a:ext>
            </a:extLst>
          </p:cNvPr>
          <p:cNvSpPr/>
          <p:nvPr/>
        </p:nvSpPr>
        <p:spPr>
          <a:xfrm>
            <a:off x="7971022" y="482496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61D5D-8942-4EB9-80A8-11BE4481154A}"/>
              </a:ext>
            </a:extLst>
          </p:cNvPr>
          <p:cNvSpPr/>
          <p:nvPr/>
        </p:nvSpPr>
        <p:spPr>
          <a:xfrm>
            <a:off x="7971022" y="5286367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8348A-6428-4BDB-B633-4A2FAB7CD431}"/>
              </a:ext>
            </a:extLst>
          </p:cNvPr>
          <p:cNvSpPr/>
          <p:nvPr/>
        </p:nvSpPr>
        <p:spPr>
          <a:xfrm>
            <a:off x="9879014" y="3769788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3133BD-0C44-4C07-A8DA-E737107BB245}"/>
              </a:ext>
            </a:extLst>
          </p:cNvPr>
          <p:cNvSpPr/>
          <p:nvPr/>
        </p:nvSpPr>
        <p:spPr>
          <a:xfrm>
            <a:off x="10020032" y="4334084"/>
            <a:ext cx="1219200" cy="3646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Arif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BCCACB-07B2-4261-A5BE-51E6BFABC0EE}"/>
              </a:ext>
            </a:extLst>
          </p:cNvPr>
          <p:cNvSpPr/>
          <p:nvPr/>
        </p:nvSpPr>
        <p:spPr>
          <a:xfrm>
            <a:off x="10020032" y="4824964"/>
            <a:ext cx="1219200" cy="3646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53650B-C89D-4600-888D-0E1E9B11DAC7}"/>
              </a:ext>
            </a:extLst>
          </p:cNvPr>
          <p:cNvSpPr/>
          <p:nvPr/>
        </p:nvSpPr>
        <p:spPr>
          <a:xfrm>
            <a:off x="10020032" y="5286367"/>
            <a:ext cx="1219200" cy="3646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67EDD6-12F9-496E-88B8-4177C1B8E3CD}"/>
              </a:ext>
            </a:extLst>
          </p:cNvPr>
          <p:cNvSpPr/>
          <p:nvPr/>
        </p:nvSpPr>
        <p:spPr>
          <a:xfrm>
            <a:off x="7971022" y="3861887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Manzar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4C8E24-4297-4D03-B8D8-ACB0DDCE9651}"/>
              </a:ext>
            </a:extLst>
          </p:cNvPr>
          <p:cNvSpPr/>
          <p:nvPr/>
        </p:nvSpPr>
        <p:spPr>
          <a:xfrm>
            <a:off x="10020032" y="3843204"/>
            <a:ext cx="1219200" cy="3646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DF4B35B-128F-433C-AD35-72A7B83139E8}"/>
              </a:ext>
            </a:extLst>
          </p:cNvPr>
          <p:cNvSpPr/>
          <p:nvPr/>
        </p:nvSpPr>
        <p:spPr>
          <a:xfrm>
            <a:off x="9427239" y="4516386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F84BB7-395A-4682-8122-642F3C7B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860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Pop() Function by Index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Pop()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59255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 pop() function you can remove or delete items by index number.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AB6657-E8A5-491E-A263-A228BF9635BA}"/>
              </a:ext>
            </a:extLst>
          </p:cNvPr>
          <p:cNvSpPr/>
          <p:nvPr/>
        </p:nvSpPr>
        <p:spPr>
          <a:xfrm>
            <a:off x="1285461" y="4120179"/>
            <a:ext cx="6096000" cy="203132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"Babar"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Arif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"Manzar"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6D02AD-519C-4D03-B2C9-5CA4A7826F6B}"/>
              </a:ext>
            </a:extLst>
          </p:cNvPr>
          <p:cNvSpPr/>
          <p:nvPr/>
        </p:nvSpPr>
        <p:spPr>
          <a:xfrm>
            <a:off x="7830004" y="4114341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CD9428-5359-4225-9C08-5DF80C60CEED}"/>
              </a:ext>
            </a:extLst>
          </p:cNvPr>
          <p:cNvSpPr/>
          <p:nvPr/>
        </p:nvSpPr>
        <p:spPr>
          <a:xfrm>
            <a:off x="7971022" y="4678637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Arif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74FC2-B975-4F18-8830-81FD9319E590}"/>
              </a:ext>
            </a:extLst>
          </p:cNvPr>
          <p:cNvSpPr/>
          <p:nvPr/>
        </p:nvSpPr>
        <p:spPr>
          <a:xfrm>
            <a:off x="7971022" y="5169517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C042D3-DD5E-40D7-A5D8-AA85CA8E54DB}"/>
              </a:ext>
            </a:extLst>
          </p:cNvPr>
          <p:cNvSpPr/>
          <p:nvPr/>
        </p:nvSpPr>
        <p:spPr>
          <a:xfrm>
            <a:off x="7971022" y="563092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7BC9E2-B9E4-426B-88B2-5F8981F1892F}"/>
              </a:ext>
            </a:extLst>
          </p:cNvPr>
          <p:cNvSpPr/>
          <p:nvPr/>
        </p:nvSpPr>
        <p:spPr>
          <a:xfrm>
            <a:off x="9879014" y="4114341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80CDAA-1A2B-431D-B198-16F819ECE260}"/>
              </a:ext>
            </a:extLst>
          </p:cNvPr>
          <p:cNvSpPr/>
          <p:nvPr/>
        </p:nvSpPr>
        <p:spPr>
          <a:xfrm>
            <a:off x="10020032" y="4678637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ABA0FC-92F9-4180-9C4C-D061B5131C53}"/>
              </a:ext>
            </a:extLst>
          </p:cNvPr>
          <p:cNvSpPr/>
          <p:nvPr/>
        </p:nvSpPr>
        <p:spPr>
          <a:xfrm>
            <a:off x="10020032" y="5169517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Kamran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DAB64E-AC93-4EEF-A8A2-5B5B866927B7}"/>
              </a:ext>
            </a:extLst>
          </p:cNvPr>
          <p:cNvSpPr/>
          <p:nvPr/>
        </p:nvSpPr>
        <p:spPr>
          <a:xfrm>
            <a:off x="10020032" y="563092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Babar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1AC44B-5D2E-4477-815A-F0ED745E753B}"/>
              </a:ext>
            </a:extLst>
          </p:cNvPr>
          <p:cNvSpPr/>
          <p:nvPr/>
        </p:nvSpPr>
        <p:spPr>
          <a:xfrm>
            <a:off x="7971022" y="420644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Manzar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4AF67A-4EF4-4586-99EE-6FF65F7EE2EB}"/>
              </a:ext>
            </a:extLst>
          </p:cNvPr>
          <p:cNvSpPr/>
          <p:nvPr/>
        </p:nvSpPr>
        <p:spPr>
          <a:xfrm>
            <a:off x="10020032" y="4187757"/>
            <a:ext cx="1219200" cy="36460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FF261FA-A7CF-4E7F-A828-4260D3CDB6BD}"/>
              </a:ext>
            </a:extLst>
          </p:cNvPr>
          <p:cNvSpPr/>
          <p:nvPr/>
        </p:nvSpPr>
        <p:spPr>
          <a:xfrm>
            <a:off x="9427239" y="4860939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FA262A6-16B0-403D-9708-03FD63302103}"/>
              </a:ext>
            </a:extLst>
          </p:cNvPr>
          <p:cNvSpPr/>
          <p:nvPr/>
        </p:nvSpPr>
        <p:spPr>
          <a:xfrm>
            <a:off x="7427844" y="4860939"/>
            <a:ext cx="355777" cy="30857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F5973B-E018-434D-B1D6-62A0ADB3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148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Extend()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Extend() Method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10225296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To append elements from another list to the current list, use the extend() method.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The elements will be added to the end of the list.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74544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F019F7-53E0-4409-AC40-DC08D30A0D87}"/>
              </a:ext>
            </a:extLst>
          </p:cNvPr>
          <p:cNvSpPr/>
          <p:nvPr/>
        </p:nvSpPr>
        <p:spPr>
          <a:xfrm>
            <a:off x="1261335" y="4317615"/>
            <a:ext cx="5351500" cy="203132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college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"Wahab"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"Saleem"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Saheer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school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"Musa"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Haris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"Jamal"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college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extend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school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college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6AF126-5D5B-405F-B8C2-2D19183A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80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Extend()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Diagram 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377FB8-FB42-4D6F-BF2C-125E78DAC022}"/>
              </a:ext>
            </a:extLst>
          </p:cNvPr>
          <p:cNvSpPr/>
          <p:nvPr/>
        </p:nvSpPr>
        <p:spPr>
          <a:xfrm>
            <a:off x="3258004" y="2903524"/>
            <a:ext cx="1501237" cy="15165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EE4523-96E4-43EF-A8D0-9AA3751CF192}"/>
              </a:ext>
            </a:extLst>
          </p:cNvPr>
          <p:cNvSpPr/>
          <p:nvPr/>
        </p:nvSpPr>
        <p:spPr>
          <a:xfrm>
            <a:off x="3399022" y="346782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1A3213-6788-4B70-A991-45DE6B692FBE}"/>
              </a:ext>
            </a:extLst>
          </p:cNvPr>
          <p:cNvSpPr/>
          <p:nvPr/>
        </p:nvSpPr>
        <p:spPr>
          <a:xfrm>
            <a:off x="3399022" y="395870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Saheer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9581E9-632E-4075-874F-CD7621565A12}"/>
              </a:ext>
            </a:extLst>
          </p:cNvPr>
          <p:cNvSpPr/>
          <p:nvPr/>
        </p:nvSpPr>
        <p:spPr>
          <a:xfrm>
            <a:off x="3258004" y="4599185"/>
            <a:ext cx="1501237" cy="16301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AFA956-C25A-4C46-9230-2BD9994251E6}"/>
              </a:ext>
            </a:extLst>
          </p:cNvPr>
          <p:cNvSpPr/>
          <p:nvPr/>
        </p:nvSpPr>
        <p:spPr>
          <a:xfrm>
            <a:off x="3399022" y="4748491"/>
            <a:ext cx="1219200" cy="3646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Musa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A082B9-C0B2-43A4-B3C8-19CBBA394075}"/>
              </a:ext>
            </a:extLst>
          </p:cNvPr>
          <p:cNvSpPr/>
          <p:nvPr/>
        </p:nvSpPr>
        <p:spPr>
          <a:xfrm>
            <a:off x="3399022" y="523937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Haris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686D9E-BD6C-4E1A-BD63-50C1071A9D55}"/>
              </a:ext>
            </a:extLst>
          </p:cNvPr>
          <p:cNvSpPr/>
          <p:nvPr/>
        </p:nvSpPr>
        <p:spPr>
          <a:xfrm>
            <a:off x="3399022" y="5700774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Jamal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DBCC03-9A98-4EC0-8119-28C8BDBF141C}"/>
              </a:ext>
            </a:extLst>
          </p:cNvPr>
          <p:cNvSpPr/>
          <p:nvPr/>
        </p:nvSpPr>
        <p:spPr>
          <a:xfrm>
            <a:off x="3399022" y="29956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Wahab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EBC0CCF2-F2C6-43BB-9E02-F173CFFC8566}"/>
              </a:ext>
            </a:extLst>
          </p:cNvPr>
          <p:cNvSpPr/>
          <p:nvPr/>
        </p:nvSpPr>
        <p:spPr>
          <a:xfrm>
            <a:off x="4759239" y="3613112"/>
            <a:ext cx="2449939" cy="1833900"/>
          </a:xfrm>
          <a:prstGeom prst="chevron">
            <a:avLst>
              <a:gd name="adj" fmla="val 12275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4EBA93-63AF-439C-832B-C332664A751E}"/>
              </a:ext>
            </a:extLst>
          </p:cNvPr>
          <p:cNvSpPr/>
          <p:nvPr/>
        </p:nvSpPr>
        <p:spPr>
          <a:xfrm>
            <a:off x="7266947" y="3058605"/>
            <a:ext cx="1501237" cy="30638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C9BC2D-15AE-4AA5-8604-692ECFD1ADF1}"/>
              </a:ext>
            </a:extLst>
          </p:cNvPr>
          <p:cNvSpPr/>
          <p:nvPr/>
        </p:nvSpPr>
        <p:spPr>
          <a:xfrm>
            <a:off x="7407965" y="3622901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E83044-6907-43B8-9FD9-D841BCB91118}"/>
              </a:ext>
            </a:extLst>
          </p:cNvPr>
          <p:cNvSpPr/>
          <p:nvPr/>
        </p:nvSpPr>
        <p:spPr>
          <a:xfrm>
            <a:off x="7407965" y="4113781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Saheer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01C1D7-9CEB-4104-A8B4-B28F46EA5481}"/>
              </a:ext>
            </a:extLst>
          </p:cNvPr>
          <p:cNvSpPr/>
          <p:nvPr/>
        </p:nvSpPr>
        <p:spPr>
          <a:xfrm>
            <a:off x="7407965" y="3150704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Wahab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4ACD38-A475-4083-A6DF-89BBD31C52F6}"/>
              </a:ext>
            </a:extLst>
          </p:cNvPr>
          <p:cNvSpPr/>
          <p:nvPr/>
        </p:nvSpPr>
        <p:spPr>
          <a:xfrm>
            <a:off x="7407965" y="5115156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Haris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F2DE86-6CDF-4DD4-8822-FE2A0A723741}"/>
              </a:ext>
            </a:extLst>
          </p:cNvPr>
          <p:cNvSpPr/>
          <p:nvPr/>
        </p:nvSpPr>
        <p:spPr>
          <a:xfrm>
            <a:off x="7407965" y="5606036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Jamal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631A43-6FCE-414C-B54D-FDD6D1970E5F}"/>
              </a:ext>
            </a:extLst>
          </p:cNvPr>
          <p:cNvSpPr/>
          <p:nvPr/>
        </p:nvSpPr>
        <p:spPr>
          <a:xfrm>
            <a:off x="7407965" y="4642959"/>
            <a:ext cx="1219200" cy="3646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Musa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01DBC4-E16B-4AA0-AF4C-BDFC7D1A998D}"/>
              </a:ext>
            </a:extLst>
          </p:cNvPr>
          <p:cNvSpPr txBox="1"/>
          <p:nvPr/>
        </p:nvSpPr>
        <p:spPr>
          <a:xfrm>
            <a:off x="2323354" y="3333006"/>
            <a:ext cx="1017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List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6C4974-5B81-4CFB-AF7A-08D5D87D667B}"/>
              </a:ext>
            </a:extLst>
          </p:cNvPr>
          <p:cNvSpPr txBox="1"/>
          <p:nvPr/>
        </p:nvSpPr>
        <p:spPr>
          <a:xfrm>
            <a:off x="2323354" y="5203866"/>
            <a:ext cx="1017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List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169037-221F-448C-8148-449E7F2C798A}"/>
              </a:ext>
            </a:extLst>
          </p:cNvPr>
          <p:cNvSpPr txBox="1"/>
          <p:nvPr/>
        </p:nvSpPr>
        <p:spPr>
          <a:xfrm>
            <a:off x="5579249" y="4360785"/>
            <a:ext cx="1258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Combined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DC058C-12AC-4922-AF29-BF58D58B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74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Loop Through a List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Loop Through a List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1022529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You can loop through the list items by using a for loop.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657E0B-B2E9-47EA-9DCD-148B85F561F5}"/>
              </a:ext>
            </a:extLst>
          </p:cNvPr>
          <p:cNvSpPr/>
          <p:nvPr/>
        </p:nvSpPr>
        <p:spPr>
          <a:xfrm>
            <a:off x="1272209" y="4120179"/>
            <a:ext cx="5128591" cy="120032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"Mango"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E294F-A710-42D9-B8AB-6F04CCA2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00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Rang and Length Function in Loop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Range() and Len()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1022529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Range function get the length of a list and list function is get the items of a list.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15922A-0B4C-4E07-935D-709E57CF6B19}"/>
              </a:ext>
            </a:extLst>
          </p:cNvPr>
          <p:cNvSpPr/>
          <p:nvPr/>
        </p:nvSpPr>
        <p:spPr>
          <a:xfrm>
            <a:off x="1272209" y="4123703"/>
            <a:ext cx="6096000" cy="120032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"Mango"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0BB006-B5FA-4BC1-8ADC-4D231081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369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Copy() Function of a List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4" y="2343012"/>
            <a:ext cx="10573220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You cannot copy a list simply by typing </a:t>
            </a:r>
            <a:r>
              <a:rPr lang="en-US" sz="2000" b="1" dirty="0"/>
              <a:t>list1</a:t>
            </a:r>
            <a:r>
              <a:rPr lang="en-US" sz="2000" dirty="0"/>
              <a:t> = </a:t>
            </a:r>
            <a:r>
              <a:rPr lang="en-US" sz="2000" b="1" dirty="0"/>
              <a:t>list2</a:t>
            </a:r>
            <a:r>
              <a:rPr lang="en-US" sz="2000" dirty="0"/>
              <a:t>, because: </a:t>
            </a:r>
            <a:r>
              <a:rPr lang="en-US" sz="2000" b="1" dirty="0"/>
              <a:t>list2</a:t>
            </a:r>
            <a:r>
              <a:rPr lang="en-US" sz="2000" dirty="0"/>
              <a:t> will only be a reference to </a:t>
            </a:r>
            <a:r>
              <a:rPr lang="en-US" sz="2000" b="1" dirty="0"/>
              <a:t>list1</a:t>
            </a:r>
            <a:r>
              <a:rPr lang="en-US" sz="2000" dirty="0"/>
              <a:t> and changes made in </a:t>
            </a:r>
            <a:r>
              <a:rPr lang="en-US" sz="2000" b="1" dirty="0"/>
              <a:t>list1</a:t>
            </a:r>
            <a:r>
              <a:rPr lang="en-US" sz="2000" dirty="0"/>
              <a:t> will automatically also be made in </a:t>
            </a:r>
            <a:r>
              <a:rPr lang="en-US" sz="2000" b="1" dirty="0"/>
              <a:t>list2</a:t>
            </a:r>
            <a:r>
              <a:rPr lang="en-US" sz="2000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There are ways to make a copy, one way is to use the built-in list method </a:t>
            </a:r>
            <a:r>
              <a:rPr lang="en-US" sz="2000" b="1" dirty="0"/>
              <a:t>copy().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930979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810EE3-2FDB-416B-BD60-9FBA7249B1AF}"/>
              </a:ext>
            </a:extLst>
          </p:cNvPr>
          <p:cNvSpPr/>
          <p:nvPr/>
        </p:nvSpPr>
        <p:spPr>
          <a:xfrm>
            <a:off x="1285461" y="4567504"/>
            <a:ext cx="6096000" cy="147732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"Mango"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fruits_copy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copy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228684-3B1D-4B58-A9E9-29B3452A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13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Arrays in Python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50127"/>
            <a:ext cx="9197586" cy="956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Python does not have built-in support for arrays, but python lists can be used instead.</a:t>
            </a:r>
            <a:endParaRPr lang="en-US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228684-3B1D-4B58-A9E9-29B3452A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9D8F1-9C24-4E6B-AB39-8B05A2B11251}"/>
              </a:ext>
            </a:extLst>
          </p:cNvPr>
          <p:cNvSpPr txBox="1"/>
          <p:nvPr/>
        </p:nvSpPr>
        <p:spPr>
          <a:xfrm>
            <a:off x="1154955" y="4578927"/>
            <a:ext cx="9197586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What is Keyword or Reserved Word?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60472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4E91F-09E1-4D3C-9AA7-6418058E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879</TotalTime>
  <Words>1560</Words>
  <Application>Microsoft Office PowerPoint</Application>
  <PresentationFormat>Widescreen</PresentationFormat>
  <Paragraphs>352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Rounded MT Bold</vt:lpstr>
      <vt:lpstr>Calibri</vt:lpstr>
      <vt:lpstr>Century Gothic</vt:lpstr>
      <vt:lpstr>Consolas</vt:lpstr>
      <vt:lpstr>Wingdings</vt:lpstr>
      <vt:lpstr>Wingdings 3</vt:lpstr>
      <vt:lpstr>Ion Boardroom</vt:lpstr>
      <vt:lpstr>Part 5  Introduction to Python List</vt:lpstr>
      <vt:lpstr>Array in Python</vt:lpstr>
      <vt:lpstr>What is List in Python?</vt:lpstr>
      <vt:lpstr>What is List in Python?</vt:lpstr>
      <vt:lpstr>What is List in Python?</vt:lpstr>
      <vt:lpstr>What is List in Python?</vt:lpstr>
      <vt:lpstr>List in different Data Types</vt:lpstr>
      <vt:lpstr>Len() Function</vt:lpstr>
      <vt:lpstr>Insert Function</vt:lpstr>
      <vt:lpstr>Sort() Function</vt:lpstr>
      <vt:lpstr>reverse() Function</vt:lpstr>
      <vt:lpstr>Accessing Items Of a List</vt:lpstr>
      <vt:lpstr>Using Negative Indexes</vt:lpstr>
      <vt:lpstr>Range using “:”</vt:lpstr>
      <vt:lpstr>Change Item Value in List</vt:lpstr>
      <vt:lpstr>Append() Function</vt:lpstr>
      <vt:lpstr>Pop() Function</vt:lpstr>
      <vt:lpstr>Pop() Function by Index</vt:lpstr>
      <vt:lpstr>Extend() Function</vt:lpstr>
      <vt:lpstr>Extend() Function</vt:lpstr>
      <vt:lpstr>Loop Through a List</vt:lpstr>
      <vt:lpstr>Rang and Length Function in Loop</vt:lpstr>
      <vt:lpstr>Copy() Function of a List</vt:lpstr>
      <vt:lpstr>Arrays in Python 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Programmer Khan</cp:lastModifiedBy>
  <cp:revision>465</cp:revision>
  <dcterms:created xsi:type="dcterms:W3CDTF">2021-12-18T06:39:36Z</dcterms:created>
  <dcterms:modified xsi:type="dcterms:W3CDTF">2024-04-01T11:52:32Z</dcterms:modified>
</cp:coreProperties>
</file>