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1"/>
  </p:notesMasterIdLst>
  <p:sldIdLst>
    <p:sldId id="282" r:id="rId2"/>
    <p:sldId id="257" r:id="rId3"/>
    <p:sldId id="292" r:id="rId4"/>
    <p:sldId id="293" r:id="rId5"/>
    <p:sldId id="294" r:id="rId6"/>
    <p:sldId id="295" r:id="rId7"/>
    <p:sldId id="296" r:id="rId8"/>
    <p:sldId id="287" r:id="rId9"/>
    <p:sldId id="286" r:id="rId10"/>
    <p:sldId id="289" r:id="rId11"/>
    <p:sldId id="297" r:id="rId12"/>
    <p:sldId id="290" r:id="rId13"/>
    <p:sldId id="298" r:id="rId14"/>
    <p:sldId id="299" r:id="rId15"/>
    <p:sldId id="301" r:id="rId16"/>
    <p:sldId id="300" r:id="rId17"/>
    <p:sldId id="302" r:id="rId18"/>
    <p:sldId id="303" r:id="rId19"/>
    <p:sldId id="26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8D997C-CE91-4065-908A-4318139CC399}" type="datetimeFigureOut">
              <a:rPr lang="en-US" smtClean="0"/>
              <a:t>4/9/2022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33A179-9DAE-450C-94FB-53E8C3C87B1A}" type="slidenum">
              <a:rPr lang="en-US" smtClean="0"/>
              <a:t>‹#›</a:t>
            </a:fld>
            <a:endParaRPr lang="en-US"/>
          </a:p>
        </p:txBody>
      </p:sp>
    </p:spTree>
    <p:extLst>
      <p:ext uri="{BB962C8B-B14F-4D97-AF65-F5344CB8AC3E}">
        <p14:creationId xmlns:p14="http://schemas.microsoft.com/office/powerpoint/2010/main" val="2110468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79AD8DC4-9FCB-4680-8247-A1F2DD620E87}" type="datetime1">
              <a:rPr lang="en-US" smtClean="0"/>
              <a:t>4/9/2022</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2843812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39FCE9-F346-45F2-95F3-D39EB8912A8E}" type="datetime1">
              <a:rPr lang="en-US" smtClean="0"/>
              <a:t>4/9/2022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2342518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159353-8DFC-4AFC-8102-BB3206AC82E4}" type="datetime1">
              <a:rPr lang="en-US" smtClean="0"/>
              <a:t>4/9/2022</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985654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376F6F-EFC7-4394-B794-6FEFAD4A2775}" type="datetime1">
              <a:rPr lang="en-US" smtClean="0"/>
              <a:t>4/9/2022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4101258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E3EFFB-8FA1-4BAD-8702-24A1B778342B}" type="datetime1">
              <a:rPr lang="en-US" smtClean="0"/>
              <a:t>4/9/2022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236445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A2FCFB-0973-4BE5-A859-4170D928D8A3}" type="datetime1">
              <a:rPr lang="en-US" smtClean="0"/>
              <a:t>4/9/2022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281241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69DD2A-877B-43B0-98EA-C76E15752D21}" type="datetime1">
              <a:rPr lang="en-US" smtClean="0"/>
              <a:t>4/9/2022</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3944970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0E38C0-D298-452E-A775-F9C3ABDD9B03}" type="datetime1">
              <a:rPr lang="en-US" smtClean="0"/>
              <a:t>4/9/2022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198587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322E0F-9C3A-4973-BBAB-3C5251441671}" type="datetime1">
              <a:rPr lang="en-US" smtClean="0"/>
              <a:t>4/9/2022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2236820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6D7575-E71E-408B-9FE6-154DAA6F36DB}" type="datetime1">
              <a:rPr lang="en-US" smtClean="0"/>
              <a:t>4/9/2022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520996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80F320C-8832-452D-9FF1-71979E732660}" type="datetime1">
              <a:rPr lang="en-US" smtClean="0"/>
              <a:t>4/9/2022</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386379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F55BA3F-BB0C-4DF8-8BA6-0E0E8FC1FDBD}" type="datetime1">
              <a:rPr lang="en-US" smtClean="0"/>
              <a:t>4/9/2022</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3920705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EA5AB0-8512-4124-AE2E-E4C01A7204EE}" type="datetime1">
              <a:rPr lang="en-US" smtClean="0"/>
              <a:t>4/9/2022</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2503351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A7A7D4B-1D92-4D5E-ADE0-3DD7D11B9830}" type="datetime1">
              <a:rPr lang="en-US" smtClean="0"/>
              <a:t>4/9/2022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330406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627FB43-B33F-4404-924E-BF1382461569}" type="datetime1">
              <a:rPr lang="en-US" smtClean="0"/>
              <a:t>4/9/2022</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0300609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AA79FE78-6215-42F7-99B6-4FC1EC025E5A}" type="datetime1">
              <a:rPr lang="en-US" smtClean="0"/>
              <a:t>4/9/2022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767021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776C977E-DD79-4C45-AEC9-D11E698B9896}" type="datetime1">
              <a:rPr lang="en-US" smtClean="0"/>
              <a:t>4/9/2022</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76003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B9B0B7CF-E385-4015-BBAF-6B02779E05CB}" type="datetime1">
              <a:rPr lang="en-US" smtClean="0"/>
              <a:t>4/9/2022</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D6F892B-1791-4F93-8AFD-83813F10F54D}" type="slidenum">
              <a:rPr lang="en-US" smtClean="0"/>
              <a:t>‹#›</a:t>
            </a:fld>
            <a:endParaRPr lang="en-US"/>
          </a:p>
        </p:txBody>
      </p:sp>
    </p:spTree>
    <p:extLst>
      <p:ext uri="{BB962C8B-B14F-4D97-AF65-F5344CB8AC3E}">
        <p14:creationId xmlns:p14="http://schemas.microsoft.com/office/powerpoint/2010/main" val="119690409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s.djangoproject.com/en/4.0/ref/django-admin/#django-admin-startproject"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hyperlink" Target="https://docs.djangoproject.com/en/4.0/topics/settings/"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hyperlink" Target="https://docs.djangoproject.com/en/1.8/ref/django-admin/#django-admin-runserver" TargetMode="Externa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hyperlink" Target="https://code-source.tempurl.host/python-coding-practices/"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hyperlink" Target="https://codesource.io/category/python/"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C75D2F71-C3D9-4A89-ADF7-43E4E7BE06D5}"/>
              </a:ext>
            </a:extLst>
          </p:cNvPr>
          <p:cNvSpPr>
            <a:spLocks noGrp="1"/>
          </p:cNvSpPr>
          <p:nvPr>
            <p:ph type="ctrTitle"/>
          </p:nvPr>
        </p:nvSpPr>
        <p:spPr>
          <a:xfrm>
            <a:off x="1154955" y="1384115"/>
            <a:ext cx="10035784" cy="2677648"/>
          </a:xfrm>
        </p:spPr>
        <p:txBody>
          <a:bodyPr/>
          <a:lstStyle/>
          <a:p>
            <a:r>
              <a:rPr lang="en-US" dirty="0">
                <a:latin typeface="Arial Rounded MT Bold" panose="020F0704030504030204" pitchFamily="34" charset="0"/>
              </a:rPr>
              <a:t>Part 2</a:t>
            </a:r>
            <a:br>
              <a:rPr lang="en-US" dirty="0">
                <a:latin typeface="Arial Rounded MT Bold" panose="020F0704030504030204" pitchFamily="34" charset="0"/>
              </a:rPr>
            </a:br>
            <a:br>
              <a:rPr lang="en-US" dirty="0">
                <a:latin typeface="Arial Rounded MT Bold" panose="020F0704030504030204" pitchFamily="34" charset="0"/>
              </a:rPr>
            </a:br>
            <a:r>
              <a:rPr lang="en-US" sz="4000" dirty="0">
                <a:latin typeface="Arial Rounded MT Bold" panose="020F0704030504030204" pitchFamily="34" charset="0"/>
              </a:rPr>
              <a:t>Django Project &amp; Virtual Environment</a:t>
            </a:r>
            <a:endParaRPr lang="en-US" sz="6000" b="1" dirty="0"/>
          </a:p>
        </p:txBody>
      </p:sp>
      <p:sp>
        <p:nvSpPr>
          <p:cNvPr id="23" name="Subtitle 22">
            <a:extLst>
              <a:ext uri="{FF2B5EF4-FFF2-40B4-BE49-F238E27FC236}">
                <a16:creationId xmlns:a16="http://schemas.microsoft.com/office/drawing/2014/main" id="{7EAC1220-5808-4927-8A48-4FD19D7906DA}"/>
              </a:ext>
            </a:extLst>
          </p:cNvPr>
          <p:cNvSpPr>
            <a:spLocks noGrp="1"/>
          </p:cNvSpPr>
          <p:nvPr>
            <p:ph type="subTitle" idx="1"/>
          </p:nvPr>
        </p:nvSpPr>
        <p:spPr>
          <a:xfrm>
            <a:off x="1154955" y="4287049"/>
            <a:ext cx="8825658" cy="430725"/>
          </a:xfrm>
        </p:spPr>
        <p:txBody>
          <a:bodyPr>
            <a:normAutofit lnSpcReduction="10000"/>
          </a:bodyPr>
          <a:lstStyle/>
          <a:p>
            <a:r>
              <a:rPr lang="en-US" sz="2400" dirty="0"/>
              <a:t>Version: 4.0.1</a:t>
            </a:r>
          </a:p>
        </p:txBody>
      </p:sp>
      <p:sp>
        <p:nvSpPr>
          <p:cNvPr id="24" name="Subtitle 22">
            <a:extLst>
              <a:ext uri="{FF2B5EF4-FFF2-40B4-BE49-F238E27FC236}">
                <a16:creationId xmlns:a16="http://schemas.microsoft.com/office/drawing/2014/main" id="{EF647C65-2962-495E-8F1A-C5ABE3700C82}"/>
              </a:ext>
            </a:extLst>
          </p:cNvPr>
          <p:cNvSpPr txBox="1">
            <a:spLocks/>
          </p:cNvSpPr>
          <p:nvPr/>
        </p:nvSpPr>
        <p:spPr bwMode="gray">
          <a:xfrm>
            <a:off x="6802583" y="5727684"/>
            <a:ext cx="4668900" cy="430725"/>
          </a:xfrm>
          <a:prstGeom prst="rect">
            <a:avLst/>
          </a:prstGeom>
          <a:ln w="57150"/>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accent1">
                    <a:lumMod val="60000"/>
                    <a:lumOff val="4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r>
              <a:rPr lang="en-US" sz="2000" b="1" dirty="0">
                <a:solidFill>
                  <a:schemeClr val="bg1"/>
                </a:solidFill>
                <a:effectLst>
                  <a:innerShdw blurRad="63500" dist="50800" dir="13500000">
                    <a:prstClr val="black">
                      <a:alpha val="50000"/>
                    </a:prstClr>
                  </a:innerShdw>
                </a:effectLst>
                <a:latin typeface="+mj-lt"/>
              </a:rPr>
              <a:t>Written and design by: Babar </a:t>
            </a:r>
            <a:r>
              <a:rPr lang="en-US" sz="2000" b="1" dirty="0" err="1">
                <a:solidFill>
                  <a:schemeClr val="bg1"/>
                </a:solidFill>
                <a:effectLst>
                  <a:innerShdw blurRad="63500" dist="50800" dir="13500000">
                    <a:prstClr val="black">
                      <a:alpha val="50000"/>
                    </a:prstClr>
                  </a:innerShdw>
                </a:effectLst>
                <a:latin typeface="+mj-lt"/>
              </a:rPr>
              <a:t>ali</a:t>
            </a:r>
            <a:r>
              <a:rPr lang="en-US" sz="2000" b="1" dirty="0">
                <a:solidFill>
                  <a:schemeClr val="bg1"/>
                </a:solidFill>
                <a:effectLst>
                  <a:innerShdw blurRad="63500" dist="50800" dir="13500000">
                    <a:prstClr val="black">
                      <a:alpha val="50000"/>
                    </a:prstClr>
                  </a:innerShdw>
                </a:effectLst>
                <a:latin typeface="+mj-lt"/>
              </a:rPr>
              <a:t> </a:t>
            </a:r>
          </a:p>
        </p:txBody>
      </p:sp>
      <p:sp>
        <p:nvSpPr>
          <p:cNvPr id="2" name="Slide Number Placeholder 1">
            <a:extLst>
              <a:ext uri="{FF2B5EF4-FFF2-40B4-BE49-F238E27FC236}">
                <a16:creationId xmlns:a16="http://schemas.microsoft.com/office/drawing/2014/main" id="{F5A016D5-09FF-4268-BF3D-93E1563787B9}"/>
              </a:ext>
            </a:extLst>
          </p:cNvPr>
          <p:cNvSpPr>
            <a:spLocks noGrp="1"/>
          </p:cNvSpPr>
          <p:nvPr>
            <p:ph type="sldNum" sz="quarter" idx="12"/>
          </p:nvPr>
        </p:nvSpPr>
        <p:spPr/>
        <p:txBody>
          <a:bodyPr/>
          <a:lstStyle/>
          <a:p>
            <a:fld id="{0D6F892B-1791-4F93-8AFD-83813F10F54D}" type="slidenum">
              <a:rPr lang="en-US" smtClean="0"/>
              <a:t>1</a:t>
            </a:fld>
            <a:endParaRPr lang="en-US"/>
          </a:p>
        </p:txBody>
      </p:sp>
    </p:spTree>
    <p:extLst>
      <p:ext uri="{BB962C8B-B14F-4D97-AF65-F5344CB8AC3E}">
        <p14:creationId xmlns:p14="http://schemas.microsoft.com/office/powerpoint/2010/main" val="191596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p:txBody>
          <a:bodyPr/>
          <a:lstStyle/>
          <a:p>
            <a:r>
              <a:rPr lang="en-US" dirty="0">
                <a:latin typeface="Arial Rounded MT Bold" panose="020F0704030504030204" pitchFamily="34" charset="0"/>
              </a:rPr>
              <a:t>Understanding Django Project</a:t>
            </a:r>
            <a:endParaRPr lang="en-US"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2</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54954" y="2460463"/>
            <a:ext cx="8761413"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Let’s look at what </a:t>
            </a:r>
            <a:r>
              <a:rPr lang="en-US" altLang="en-US" b="1" dirty="0" err="1">
                <a:hlinkClick r:id="rId2">
                  <a:extLst>
                    <a:ext uri="{A12FA001-AC4F-418D-AE19-62706E023703}">
                      <ahyp:hlinkClr xmlns:ahyp="http://schemas.microsoft.com/office/drawing/2018/hyperlinkcolor" val="tx"/>
                    </a:ext>
                  </a:extLst>
                </a:hlinkClick>
              </a:rPr>
              <a:t>startproject</a:t>
            </a:r>
            <a:r>
              <a:rPr lang="en-US" altLang="en-US" dirty="0"/>
              <a:t> created: </a:t>
            </a:r>
          </a:p>
        </p:txBody>
      </p:sp>
      <p:sp>
        <p:nvSpPr>
          <p:cNvPr id="9" name="TextBox 8">
            <a:extLst>
              <a:ext uri="{FF2B5EF4-FFF2-40B4-BE49-F238E27FC236}">
                <a16:creationId xmlns:a16="http://schemas.microsoft.com/office/drawing/2014/main" id="{3D66717D-332F-40C5-9911-C79765713017}"/>
              </a:ext>
            </a:extLst>
          </p:cNvPr>
          <p:cNvSpPr txBox="1"/>
          <p:nvPr/>
        </p:nvSpPr>
        <p:spPr>
          <a:xfrm>
            <a:off x="1293499" y="3179615"/>
            <a:ext cx="3638719" cy="304698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914400" rtl="0" eaLnBrk="0" fontAlgn="base" latinLnBrk="0" hangingPunct="0">
              <a:lnSpc>
                <a:spcPct val="100000"/>
              </a:lnSpc>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mysite</a:t>
            </a:r>
            <a:r>
              <a:rPr kumimoji="0" lang="en-US" altLang="en-US" sz="2400" b="0" i="0" u="none" strike="noStrike" cap="none" normalizeH="0" baseline="0" dirty="0">
                <a:ln>
                  <a:noFill/>
                </a:ln>
                <a:solidFill>
                  <a:srgbClr val="666666"/>
                </a:solidFill>
                <a:effectLst/>
                <a:latin typeface="Arial" panose="020B0604020202020204" pitchFamily="34" charset="0"/>
              </a:rPr>
              <a:t>/</a:t>
            </a:r>
            <a:r>
              <a:rPr kumimoji="0" lang="en-US" altLang="en-US" sz="1100" b="0" i="0" u="none" strike="noStrike" cap="none" normalizeH="0" baseline="0" dirty="0">
                <a:ln>
                  <a:noFill/>
                </a:ln>
                <a:solidFill>
                  <a:srgbClr val="0C4B33"/>
                </a:solidFill>
                <a:effectLst/>
                <a:latin typeface="Fira Mono" panose="020B0509050000020004" pitchFamily="49" charset="0"/>
              </a:rPr>
              <a:t> </a:t>
            </a:r>
          </a:p>
          <a:p>
            <a:pPr lvl="1" defTabSz="914400" eaLnBrk="0" fontAlgn="base" hangingPunct="0">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manage</a:t>
            </a:r>
            <a:r>
              <a:rPr kumimoji="0" lang="en-US" altLang="en-US" sz="2400" b="0" i="0" u="none" strike="noStrike" cap="none" normalizeH="0" baseline="0" dirty="0">
                <a:ln>
                  <a:noFill/>
                </a:ln>
                <a:solidFill>
                  <a:srgbClr val="666666"/>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py</a:t>
            </a:r>
            <a:r>
              <a:rPr kumimoji="0" lang="en-US" altLang="en-US" sz="1100" b="0" i="0" u="none" strike="noStrike" cap="none" normalizeH="0" baseline="0" dirty="0">
                <a:ln>
                  <a:noFill/>
                </a:ln>
                <a:solidFill>
                  <a:srgbClr val="0C4B33"/>
                </a:solidFill>
                <a:effectLst/>
                <a:latin typeface="Fira Mono" panose="020B0509050000020004" pitchFamily="49" charset="0"/>
              </a:rPr>
              <a:t> </a:t>
            </a:r>
          </a:p>
          <a:p>
            <a:pPr lvl="1" defTabSz="914400" eaLnBrk="0" fontAlgn="base" hangingPunct="0">
              <a:spcAft>
                <a:spcPct val="0"/>
              </a:spcAft>
            </a:pPr>
            <a:r>
              <a:rPr kumimoji="0" lang="en-US" altLang="en-US" sz="1600" b="0" i="0" u="none" strike="noStrike" cap="none" normalizeH="0" baseline="0" dirty="0" err="1">
                <a:ln>
                  <a:noFill/>
                </a:ln>
                <a:solidFill>
                  <a:schemeClr val="tx1"/>
                </a:solidFill>
                <a:effectLst/>
                <a:latin typeface="Arial" panose="020B0604020202020204" pitchFamily="34" charset="0"/>
              </a:rPr>
              <a:t>mysite</a:t>
            </a:r>
            <a:r>
              <a:rPr kumimoji="0" lang="en-US" altLang="en-US" sz="2400" b="0" i="0" u="none" strike="noStrike" cap="none" normalizeH="0" baseline="0" dirty="0">
                <a:ln>
                  <a:noFill/>
                </a:ln>
                <a:solidFill>
                  <a:srgbClr val="666666"/>
                </a:solidFill>
                <a:effectLst/>
                <a:latin typeface="Arial" panose="020B0604020202020204" pitchFamily="34" charset="0"/>
              </a:rPr>
              <a:t>/</a:t>
            </a:r>
          </a:p>
          <a:p>
            <a:pPr lvl="2" defTabSz="914400" eaLnBrk="0" fontAlgn="base" hangingPunct="0">
              <a:spcAft>
                <a:spcPct val="0"/>
              </a:spcAft>
            </a:pPr>
            <a:r>
              <a:rPr kumimoji="0" lang="en-US" altLang="en-US" sz="1100" b="0" i="0" u="none" strike="noStrike" cap="none" normalizeH="0" baseline="0" dirty="0">
                <a:ln>
                  <a:noFill/>
                </a:ln>
                <a:solidFill>
                  <a:srgbClr val="0C4B33"/>
                </a:solidFill>
                <a:effectLst/>
                <a:latin typeface="Fira Mono" panose="020B0509050000020004" pitchFamily="49" charset="0"/>
              </a:rPr>
              <a:t> __</a:t>
            </a:r>
            <a:r>
              <a:rPr kumimoji="0" lang="en-US" altLang="en-US" sz="1100" b="1" i="0" u="none" strike="noStrike" cap="none" normalizeH="0" baseline="0" dirty="0">
                <a:ln>
                  <a:noFill/>
                </a:ln>
                <a:solidFill>
                  <a:srgbClr val="0C4B33"/>
                </a:solidFill>
                <a:effectLst/>
                <a:latin typeface="Fira Mono" panose="020B0509050000020004" pitchFamily="49" charset="0"/>
              </a:rPr>
              <a:t>init</a:t>
            </a:r>
            <a:r>
              <a:rPr kumimoji="0" lang="en-US" altLang="en-US" sz="1100" b="0" i="0" u="none" strike="noStrike" cap="none" normalizeH="0" baseline="0" dirty="0">
                <a:ln>
                  <a:noFill/>
                </a:ln>
                <a:solidFill>
                  <a:srgbClr val="0C4B33"/>
                </a:solidFill>
                <a:effectLst/>
                <a:latin typeface="Fira Mono" panose="020B0509050000020004" pitchFamily="49" charset="0"/>
              </a:rPr>
              <a:t>__</a:t>
            </a:r>
            <a:r>
              <a:rPr kumimoji="0" lang="en-US" altLang="en-US" sz="2400" b="0" i="0" u="none" strike="noStrike" cap="none" normalizeH="0" baseline="0" dirty="0">
                <a:ln>
                  <a:noFill/>
                </a:ln>
                <a:solidFill>
                  <a:srgbClr val="666666"/>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py</a:t>
            </a:r>
            <a:r>
              <a:rPr kumimoji="0" lang="en-US" altLang="en-US" sz="1100" b="0" i="0" u="none" strike="noStrike" cap="none" normalizeH="0" baseline="0" dirty="0">
                <a:ln>
                  <a:noFill/>
                </a:ln>
                <a:solidFill>
                  <a:srgbClr val="0C4B33"/>
                </a:solidFill>
                <a:effectLst/>
                <a:latin typeface="Fira Mono" panose="020B0509050000020004" pitchFamily="49" charset="0"/>
              </a:rPr>
              <a:t> </a:t>
            </a:r>
          </a:p>
          <a:p>
            <a:pPr lvl="2" defTabSz="914400" eaLnBrk="0" fontAlgn="base" hangingPunct="0">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settings</a:t>
            </a:r>
            <a:r>
              <a:rPr kumimoji="0" lang="en-US" altLang="en-US" sz="2400" b="0" i="0" u="none" strike="noStrike" cap="none" normalizeH="0" baseline="0" dirty="0">
                <a:ln>
                  <a:noFill/>
                </a:ln>
                <a:solidFill>
                  <a:srgbClr val="666666"/>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py</a:t>
            </a:r>
            <a:r>
              <a:rPr kumimoji="0" lang="en-US" altLang="en-US" sz="1100" b="0" i="0" u="none" strike="noStrike" cap="none" normalizeH="0" baseline="0" dirty="0">
                <a:ln>
                  <a:noFill/>
                </a:ln>
                <a:solidFill>
                  <a:srgbClr val="0C4B33"/>
                </a:solidFill>
                <a:effectLst/>
                <a:latin typeface="Fira Mono" panose="020B0509050000020004" pitchFamily="49" charset="0"/>
              </a:rPr>
              <a:t> </a:t>
            </a:r>
          </a:p>
          <a:p>
            <a:pPr lvl="2" defTabSz="914400" eaLnBrk="0" fontAlgn="base" hangingPunct="0">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urls</a:t>
            </a:r>
            <a:r>
              <a:rPr kumimoji="0" lang="en-US" altLang="en-US" sz="2400" b="0" i="0" u="none" strike="noStrike" cap="none" normalizeH="0" baseline="0" dirty="0">
                <a:ln>
                  <a:noFill/>
                </a:ln>
                <a:solidFill>
                  <a:srgbClr val="666666"/>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py</a:t>
            </a:r>
            <a:r>
              <a:rPr kumimoji="0" lang="en-US" altLang="en-US" sz="1100" b="0" i="0" u="none" strike="noStrike" cap="none" normalizeH="0" baseline="0" dirty="0">
                <a:ln>
                  <a:noFill/>
                </a:ln>
                <a:solidFill>
                  <a:srgbClr val="0C4B33"/>
                </a:solidFill>
                <a:effectLst/>
                <a:latin typeface="Fira Mono" panose="020B0509050000020004" pitchFamily="49" charset="0"/>
              </a:rPr>
              <a:t> </a:t>
            </a:r>
          </a:p>
          <a:p>
            <a:pPr lvl="2" defTabSz="914400" eaLnBrk="0" fontAlgn="base" hangingPunct="0">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asgi</a:t>
            </a:r>
            <a:r>
              <a:rPr kumimoji="0" lang="en-US" altLang="en-US" sz="2400" b="0" i="0" u="none" strike="noStrike" cap="none" normalizeH="0" baseline="0" dirty="0">
                <a:ln>
                  <a:noFill/>
                </a:ln>
                <a:solidFill>
                  <a:srgbClr val="666666"/>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py</a:t>
            </a:r>
            <a:r>
              <a:rPr kumimoji="0" lang="en-US" altLang="en-US" sz="1100" b="0" i="0" u="none" strike="noStrike" cap="none" normalizeH="0" baseline="0" dirty="0">
                <a:ln>
                  <a:noFill/>
                </a:ln>
                <a:solidFill>
                  <a:srgbClr val="0C4B33"/>
                </a:solidFill>
                <a:effectLst/>
                <a:latin typeface="Fira Mono" panose="020B0509050000020004" pitchFamily="49" charset="0"/>
              </a:rPr>
              <a:t> </a:t>
            </a:r>
          </a:p>
          <a:p>
            <a:pPr lvl="2" defTabSz="914400" eaLnBrk="0" fontAlgn="base" hangingPunct="0">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wsgi</a:t>
            </a:r>
            <a:r>
              <a:rPr kumimoji="0" lang="en-US" altLang="en-US" sz="2400" b="0" i="0" u="none" strike="noStrike" cap="none" normalizeH="0" baseline="0" dirty="0">
                <a:ln>
                  <a:noFill/>
                </a:ln>
                <a:solidFill>
                  <a:srgbClr val="666666"/>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py</a:t>
            </a:r>
            <a:r>
              <a:rPr kumimoji="0" lang="en-US" altLang="en-US" sz="14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72612183-0E33-4389-A97D-BEC53BF5657A}"/>
              </a:ext>
            </a:extLst>
          </p:cNvPr>
          <p:cNvSpPr txBox="1"/>
          <p:nvPr/>
        </p:nvSpPr>
        <p:spPr>
          <a:xfrm>
            <a:off x="5688060" y="3179615"/>
            <a:ext cx="3455940"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t>This is your root folder you can change the name as u want</a:t>
            </a:r>
          </a:p>
        </p:txBody>
      </p:sp>
      <p:cxnSp>
        <p:nvCxnSpPr>
          <p:cNvPr id="7" name="Straight Arrow Connector 6">
            <a:extLst>
              <a:ext uri="{FF2B5EF4-FFF2-40B4-BE49-F238E27FC236}">
                <a16:creationId xmlns:a16="http://schemas.microsoft.com/office/drawing/2014/main" id="{D83D7F66-7A36-40ED-9AD4-C0636D6320E8}"/>
              </a:ext>
            </a:extLst>
          </p:cNvPr>
          <p:cNvCxnSpPr/>
          <p:nvPr/>
        </p:nvCxnSpPr>
        <p:spPr>
          <a:xfrm flipV="1">
            <a:off x="2189018" y="3429000"/>
            <a:ext cx="3346642" cy="43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88FC84E-5083-44DD-8A99-B25C6F45E751}"/>
              </a:ext>
            </a:extLst>
          </p:cNvPr>
          <p:cNvSpPr txBox="1"/>
          <p:nvPr/>
        </p:nvSpPr>
        <p:spPr>
          <a:xfrm>
            <a:off x="5688060" y="4990375"/>
            <a:ext cx="3455940"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t>This is your project files created automatically by Django  itself</a:t>
            </a:r>
          </a:p>
        </p:txBody>
      </p:sp>
      <p:cxnSp>
        <p:nvCxnSpPr>
          <p:cNvPr id="23" name="Straight Arrow Connector 22">
            <a:extLst>
              <a:ext uri="{FF2B5EF4-FFF2-40B4-BE49-F238E27FC236}">
                <a16:creationId xmlns:a16="http://schemas.microsoft.com/office/drawing/2014/main" id="{62983B6A-144A-4771-B032-023E121B7546}"/>
              </a:ext>
            </a:extLst>
          </p:cNvPr>
          <p:cNvCxnSpPr>
            <a:cxnSpLocks/>
          </p:cNvCxnSpPr>
          <p:nvPr/>
        </p:nvCxnSpPr>
        <p:spPr>
          <a:xfrm flipV="1">
            <a:off x="4447309" y="5234271"/>
            <a:ext cx="1240751" cy="28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749A019-D7EC-4BC4-AF87-2393E1877D24}"/>
              </a:ext>
            </a:extLst>
          </p:cNvPr>
          <p:cNvCxnSpPr/>
          <p:nvPr/>
        </p:nvCxnSpPr>
        <p:spPr>
          <a:xfrm>
            <a:off x="4430375" y="4558141"/>
            <a:ext cx="0" cy="1463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86139CD-2ED3-4E20-BF0E-CF854F13B56D}"/>
              </a:ext>
            </a:extLst>
          </p:cNvPr>
          <p:cNvCxnSpPr>
            <a:cxnSpLocks/>
          </p:cNvCxnSpPr>
          <p:nvPr/>
        </p:nvCxnSpPr>
        <p:spPr>
          <a:xfrm flipH="1">
            <a:off x="3515975" y="4558141"/>
            <a:ext cx="914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DAE4EAB-613A-4694-AF61-0744D294F870}"/>
              </a:ext>
            </a:extLst>
          </p:cNvPr>
          <p:cNvCxnSpPr>
            <a:cxnSpLocks/>
          </p:cNvCxnSpPr>
          <p:nvPr/>
        </p:nvCxnSpPr>
        <p:spPr>
          <a:xfrm flipH="1">
            <a:off x="3532909" y="6007383"/>
            <a:ext cx="914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2913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p:txBody>
          <a:bodyPr/>
          <a:lstStyle/>
          <a:p>
            <a:r>
              <a:rPr lang="en-US" b="1" dirty="0"/>
              <a:t>Understanding Django Project</a:t>
            </a:r>
          </a:p>
        </p:txBody>
      </p:sp>
      <p:sp>
        <p:nvSpPr>
          <p:cNvPr id="3" name="Slide Number Placeholder 2">
            <a:extLst>
              <a:ext uri="{FF2B5EF4-FFF2-40B4-BE49-F238E27FC236}">
                <a16:creationId xmlns:a16="http://schemas.microsoft.com/office/drawing/2014/main" id="{BE6CC3C2-3B1B-4765-9DCC-FAC96643533F}"/>
              </a:ext>
            </a:extLst>
          </p:cNvPr>
          <p:cNvSpPr>
            <a:spLocks noGrp="1"/>
          </p:cNvSpPr>
          <p:nvPr>
            <p:ph type="sldNum" sz="quarter" idx="12"/>
          </p:nvPr>
        </p:nvSpPr>
        <p:spPr/>
        <p:txBody>
          <a:bodyPr/>
          <a:lstStyle/>
          <a:p>
            <a:fld id="{0D6F892B-1791-4F93-8AFD-83813F10F54D}" type="slidenum">
              <a:rPr lang="en-US" smtClean="0"/>
              <a:t>3</a:t>
            </a:fld>
            <a:endParaRPr lang="en-US"/>
          </a:p>
        </p:txBody>
      </p:sp>
      <p:sp>
        <p:nvSpPr>
          <p:cNvPr id="14" name="TextBox 13">
            <a:extLst>
              <a:ext uri="{FF2B5EF4-FFF2-40B4-BE49-F238E27FC236}">
                <a16:creationId xmlns:a16="http://schemas.microsoft.com/office/drawing/2014/main" id="{59F6104B-393C-40A1-8E08-75332BECA18C}"/>
              </a:ext>
            </a:extLst>
          </p:cNvPr>
          <p:cNvSpPr txBox="1"/>
          <p:nvPr/>
        </p:nvSpPr>
        <p:spPr>
          <a:xfrm>
            <a:off x="1154954" y="2502027"/>
            <a:ext cx="10482864" cy="3409844"/>
          </a:xfrm>
          <a:prstGeom prst="rect">
            <a:avLst/>
          </a:prstGeom>
          <a:noFill/>
        </p:spPr>
        <p:txBody>
          <a:bodyPr wrap="square" rtlCol="0">
            <a:spAutoFit/>
          </a:bodyPr>
          <a:lstStyle/>
          <a:p>
            <a:pPr marL="342900" marR="0" lvl="0" indent="-342900" algn="just" defTabSz="914400" rtl="0" eaLnBrk="0" fontAlgn="base" latinLnBrk="0" hangingPunct="0">
              <a:lnSpc>
                <a:spcPct val="150000"/>
              </a:lnSpc>
              <a:spcBef>
                <a:spcPct val="0"/>
              </a:spcBef>
              <a:spcAft>
                <a:spcPct val="0"/>
              </a:spcAft>
              <a:buClrTx/>
              <a:buSzTx/>
              <a:buFont typeface="+mj-lt"/>
              <a:buAutoNum type="arabicParenR"/>
              <a:tabLst/>
            </a:pPr>
            <a:r>
              <a:rPr lang="en-US" altLang="en-US" dirty="0"/>
              <a:t>The outer </a:t>
            </a:r>
            <a:r>
              <a:rPr lang="en-US" altLang="en-US" b="1" dirty="0" err="1"/>
              <a:t>mysite</a:t>
            </a:r>
            <a:r>
              <a:rPr lang="en-US" altLang="en-US" b="1" dirty="0"/>
              <a:t>/</a:t>
            </a:r>
            <a:r>
              <a:rPr lang="en-US" altLang="en-US" dirty="0"/>
              <a:t> root directory is a container for your project. Its name doesn’t matter to Django; you can rename it to anything you like.</a:t>
            </a:r>
          </a:p>
          <a:p>
            <a:pPr marR="0" lvl="0" algn="just" defTabSz="914400" rtl="0" eaLnBrk="0" fontAlgn="base" latinLnBrk="0" hangingPunct="0">
              <a:lnSpc>
                <a:spcPct val="150000"/>
              </a:lnSpc>
              <a:spcBef>
                <a:spcPct val="0"/>
              </a:spcBef>
              <a:spcAft>
                <a:spcPct val="0"/>
              </a:spcAft>
              <a:buClrTx/>
              <a:buSzTx/>
              <a:tabLst/>
            </a:pPr>
            <a:endParaRPr lang="en-US" altLang="en-US" dirty="0"/>
          </a:p>
          <a:p>
            <a:pPr marL="342900" indent="-342900" algn="just" defTabSz="914400" eaLnBrk="0" fontAlgn="base" hangingPunct="0">
              <a:lnSpc>
                <a:spcPct val="150000"/>
              </a:lnSpc>
              <a:spcBef>
                <a:spcPct val="0"/>
              </a:spcBef>
              <a:spcAft>
                <a:spcPct val="0"/>
              </a:spcAft>
              <a:buFont typeface="+mj-lt"/>
              <a:buAutoNum type="arabicParenR" startAt="2"/>
            </a:pPr>
            <a:r>
              <a:rPr lang="en-US" altLang="en-US" b="1" dirty="0"/>
              <a:t>manage.py </a:t>
            </a:r>
            <a:r>
              <a:rPr lang="en-US" altLang="en-US" dirty="0"/>
              <a:t>: A command-line utility that lets you interact with this Django project in various ways. </a:t>
            </a:r>
          </a:p>
          <a:p>
            <a:pPr marL="342900" indent="-342900" algn="just" defTabSz="914400" eaLnBrk="0" fontAlgn="base" hangingPunct="0">
              <a:lnSpc>
                <a:spcPct val="150000"/>
              </a:lnSpc>
              <a:spcBef>
                <a:spcPct val="0"/>
              </a:spcBef>
              <a:spcAft>
                <a:spcPct val="0"/>
              </a:spcAft>
              <a:buFont typeface="+mj-lt"/>
              <a:buAutoNum type="arabicParenR" startAt="2"/>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3"/>
              <a:tabLst/>
            </a:pPr>
            <a:r>
              <a:rPr lang="en-US" altLang="en-US" dirty="0"/>
              <a:t>The inner </a:t>
            </a:r>
            <a:r>
              <a:rPr lang="en-US" altLang="en-US" b="1" dirty="0" err="1"/>
              <a:t>mysite</a:t>
            </a:r>
            <a:r>
              <a:rPr lang="en-US" altLang="en-US" b="1" dirty="0"/>
              <a:t>/</a:t>
            </a:r>
            <a:r>
              <a:rPr lang="en-US" altLang="en-US" dirty="0"/>
              <a:t> directory is the actual Python package for your project. Its name is the Python package name you’ll need to use to import anything inside it (e.g. </a:t>
            </a:r>
            <a:r>
              <a:rPr lang="en-US" altLang="en-US" dirty="0" err="1"/>
              <a:t>mysite.urls</a:t>
            </a:r>
            <a:r>
              <a:rPr lang="en-US" altLang="en-US" dirty="0"/>
              <a:t>).</a:t>
            </a:r>
          </a:p>
        </p:txBody>
      </p:sp>
    </p:spTree>
    <p:extLst>
      <p:ext uri="{BB962C8B-B14F-4D97-AF65-F5344CB8AC3E}">
        <p14:creationId xmlns:p14="http://schemas.microsoft.com/office/powerpoint/2010/main" val="3115442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p:txBody>
          <a:bodyPr/>
          <a:lstStyle/>
          <a:p>
            <a:r>
              <a:rPr lang="en-US" b="1" dirty="0"/>
              <a:t>Understanding Django Project</a:t>
            </a:r>
          </a:p>
        </p:txBody>
      </p:sp>
      <p:sp>
        <p:nvSpPr>
          <p:cNvPr id="3" name="Slide Number Placeholder 2">
            <a:extLst>
              <a:ext uri="{FF2B5EF4-FFF2-40B4-BE49-F238E27FC236}">
                <a16:creationId xmlns:a16="http://schemas.microsoft.com/office/drawing/2014/main" id="{BE6CC3C2-3B1B-4765-9DCC-FAC96643533F}"/>
              </a:ext>
            </a:extLst>
          </p:cNvPr>
          <p:cNvSpPr>
            <a:spLocks noGrp="1"/>
          </p:cNvSpPr>
          <p:nvPr>
            <p:ph type="sldNum" sz="quarter" idx="12"/>
          </p:nvPr>
        </p:nvSpPr>
        <p:spPr/>
        <p:txBody>
          <a:bodyPr/>
          <a:lstStyle/>
          <a:p>
            <a:fld id="{0D6F892B-1791-4F93-8AFD-83813F10F54D}" type="slidenum">
              <a:rPr lang="en-US" smtClean="0"/>
              <a:t>4</a:t>
            </a:fld>
            <a:endParaRPr lang="en-US"/>
          </a:p>
        </p:txBody>
      </p:sp>
      <p:sp>
        <p:nvSpPr>
          <p:cNvPr id="14" name="TextBox 13">
            <a:extLst>
              <a:ext uri="{FF2B5EF4-FFF2-40B4-BE49-F238E27FC236}">
                <a16:creationId xmlns:a16="http://schemas.microsoft.com/office/drawing/2014/main" id="{59F6104B-393C-40A1-8E08-75332BECA18C}"/>
              </a:ext>
            </a:extLst>
          </p:cNvPr>
          <p:cNvSpPr txBox="1"/>
          <p:nvPr/>
        </p:nvSpPr>
        <p:spPr>
          <a:xfrm>
            <a:off x="1154954" y="2502027"/>
            <a:ext cx="10482864" cy="3439852"/>
          </a:xfrm>
          <a:prstGeom prst="rect">
            <a:avLst/>
          </a:prstGeom>
          <a:noFill/>
        </p:spPr>
        <p:txBody>
          <a:bodyPr wrap="square" rtlCol="0">
            <a:spAutoFit/>
          </a:bodyPr>
          <a:lstStyle/>
          <a:p>
            <a:pPr marL="342900" indent="-342900" algn="just" defTabSz="914400" eaLnBrk="0" fontAlgn="base" hangingPunct="0">
              <a:lnSpc>
                <a:spcPct val="150000"/>
              </a:lnSpc>
              <a:spcBef>
                <a:spcPct val="0"/>
              </a:spcBef>
              <a:spcAft>
                <a:spcPct val="0"/>
              </a:spcAft>
              <a:buFont typeface="+mj-lt"/>
              <a:buAutoNum type="arabicParenR" startAt="4"/>
            </a:pPr>
            <a:r>
              <a:rPr lang="en-US" altLang="en-US" b="1" dirty="0" err="1"/>
              <a:t>mysite</a:t>
            </a:r>
            <a:r>
              <a:rPr lang="en-US" altLang="en-US" b="1" dirty="0"/>
              <a:t>/__init__.py</a:t>
            </a:r>
            <a:r>
              <a:rPr lang="en-US" altLang="en-US" dirty="0"/>
              <a:t>: An empty file that tells Python that this directory should be considered a Python package. </a:t>
            </a:r>
          </a:p>
          <a:p>
            <a:pPr marL="342900" indent="-342900" algn="just" defTabSz="914400" eaLnBrk="0" fontAlgn="base" hangingPunct="0">
              <a:lnSpc>
                <a:spcPct val="150000"/>
              </a:lnSpc>
              <a:spcBef>
                <a:spcPct val="0"/>
              </a:spcBef>
              <a:spcAft>
                <a:spcPct val="0"/>
              </a:spcAft>
              <a:buFont typeface="+mj-lt"/>
              <a:buAutoNum type="arabicParenR" startAt="4"/>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4"/>
              <a:tabLst/>
            </a:pPr>
            <a:r>
              <a:rPr lang="en-US" altLang="en-US" b="1" dirty="0" err="1"/>
              <a:t>mysite</a:t>
            </a:r>
            <a:r>
              <a:rPr lang="en-US" altLang="en-US" b="1" dirty="0"/>
              <a:t>/settings.py</a:t>
            </a:r>
            <a:r>
              <a:rPr lang="en-US" altLang="en-US" dirty="0"/>
              <a:t>: Settings/configuration for this Django project. </a:t>
            </a:r>
            <a:r>
              <a:rPr lang="en-US" altLang="en-US" dirty="0">
                <a:hlinkClick r:id="rId2">
                  <a:extLst>
                    <a:ext uri="{A12FA001-AC4F-418D-AE19-62706E023703}">
                      <ahyp:hlinkClr xmlns:ahyp="http://schemas.microsoft.com/office/drawing/2018/hyperlinkcolor" val="tx"/>
                    </a:ext>
                  </a:extLst>
                </a:hlinkClick>
              </a:rPr>
              <a:t>Django settings</a:t>
            </a:r>
            <a:r>
              <a:rPr lang="en-US" altLang="en-US" dirty="0"/>
              <a:t> will tell you all about how settings work.</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4"/>
              <a:tabLst/>
            </a:pPr>
            <a:endParaRPr lang="en-US" altLang="en-US" dirty="0"/>
          </a:p>
          <a:p>
            <a:pPr marL="342900" indent="-342900" defTabSz="914400" eaLnBrk="0" fontAlgn="base" hangingPunct="0">
              <a:lnSpc>
                <a:spcPct val="150000"/>
              </a:lnSpc>
              <a:spcBef>
                <a:spcPct val="0"/>
              </a:spcBef>
              <a:spcAft>
                <a:spcPct val="0"/>
              </a:spcAft>
              <a:buFont typeface="+mj-lt"/>
              <a:buAutoNum type="arabicParenR" startAt="4"/>
            </a:pPr>
            <a:r>
              <a:rPr lang="en-US" altLang="en-US" b="1" dirty="0" err="1"/>
              <a:t>mysite</a:t>
            </a:r>
            <a:r>
              <a:rPr lang="en-US" altLang="en-US" b="1" dirty="0"/>
              <a:t>/urls.py</a:t>
            </a:r>
            <a:r>
              <a:rPr lang="en-US" altLang="en-US" dirty="0"/>
              <a:t>: The URL declarations for this Django project; a “table of contents” of your Django-powered site. </a:t>
            </a:r>
          </a:p>
        </p:txBody>
      </p:sp>
    </p:spTree>
    <p:extLst>
      <p:ext uri="{BB962C8B-B14F-4D97-AF65-F5344CB8AC3E}">
        <p14:creationId xmlns:p14="http://schemas.microsoft.com/office/powerpoint/2010/main" val="2982099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p:txBody>
          <a:bodyPr/>
          <a:lstStyle/>
          <a:p>
            <a:r>
              <a:rPr lang="en-US" sz="3200" b="1" dirty="0"/>
              <a:t>Development Server Changing the Port</a:t>
            </a:r>
          </a:p>
        </p:txBody>
      </p:sp>
      <p:sp>
        <p:nvSpPr>
          <p:cNvPr id="3" name="Slide Number Placeholder 2">
            <a:extLst>
              <a:ext uri="{FF2B5EF4-FFF2-40B4-BE49-F238E27FC236}">
                <a16:creationId xmlns:a16="http://schemas.microsoft.com/office/drawing/2014/main" id="{BE6CC3C2-3B1B-4765-9DCC-FAC96643533F}"/>
              </a:ext>
            </a:extLst>
          </p:cNvPr>
          <p:cNvSpPr>
            <a:spLocks noGrp="1"/>
          </p:cNvSpPr>
          <p:nvPr>
            <p:ph type="sldNum" sz="quarter" idx="12"/>
          </p:nvPr>
        </p:nvSpPr>
        <p:spPr/>
        <p:txBody>
          <a:bodyPr/>
          <a:lstStyle/>
          <a:p>
            <a:fld id="{0D6F892B-1791-4F93-8AFD-83813F10F54D}" type="slidenum">
              <a:rPr lang="en-US" smtClean="0"/>
              <a:t>5</a:t>
            </a:fld>
            <a:endParaRPr lang="en-US"/>
          </a:p>
        </p:txBody>
      </p:sp>
      <p:sp>
        <p:nvSpPr>
          <p:cNvPr id="14" name="TextBox 13">
            <a:extLst>
              <a:ext uri="{FF2B5EF4-FFF2-40B4-BE49-F238E27FC236}">
                <a16:creationId xmlns:a16="http://schemas.microsoft.com/office/drawing/2014/main" id="{59F6104B-393C-40A1-8E08-75332BECA18C}"/>
              </a:ext>
            </a:extLst>
          </p:cNvPr>
          <p:cNvSpPr txBox="1"/>
          <p:nvPr/>
        </p:nvSpPr>
        <p:spPr>
          <a:xfrm>
            <a:off x="1154954" y="2349623"/>
            <a:ext cx="10385882" cy="1701491"/>
          </a:xfrm>
          <a:prstGeom prst="rect">
            <a:avLst/>
          </a:prstGeom>
          <a:noFill/>
        </p:spPr>
        <p:txBody>
          <a:bodyPr wrap="square" rtlCol="0">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By default, the </a:t>
            </a:r>
            <a:r>
              <a:rPr lang="en-US" altLang="en-US" dirty="0" err="1">
                <a:hlinkClick r:id="rId2">
                  <a:extLst>
                    <a:ext uri="{A12FA001-AC4F-418D-AE19-62706E023703}">
                      <ahyp:hlinkClr xmlns:ahyp="http://schemas.microsoft.com/office/drawing/2018/hyperlinkcolor" val="tx"/>
                    </a:ext>
                  </a:extLst>
                </a:hlinkClick>
              </a:rPr>
              <a:t>runserver</a:t>
            </a:r>
            <a:r>
              <a:rPr lang="en-US" altLang="en-US" dirty="0"/>
              <a:t> command starts the development server on the internal </a:t>
            </a:r>
            <a:r>
              <a:rPr lang="en-US" altLang="en-US" b="1" dirty="0"/>
              <a:t>IP</a:t>
            </a:r>
            <a:r>
              <a:rPr lang="en-US" altLang="en-US" dirty="0"/>
              <a:t> at port </a:t>
            </a:r>
            <a:r>
              <a:rPr lang="en-US" altLang="en-US" b="1" dirty="0"/>
              <a:t>8000</a:t>
            </a:r>
            <a:r>
              <a:rPr lang="en-US" altLang="en-US" dirty="0"/>
              <a: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If you want to change the server’s port, pass it as a command-line argument. For instance, this command starts the server on port </a:t>
            </a:r>
            <a:r>
              <a:rPr lang="en-US" altLang="en-US" b="1" dirty="0"/>
              <a:t>8080 </a:t>
            </a:r>
            <a:r>
              <a:rPr lang="en-US" altLang="en-US" dirty="0"/>
              <a:t>you can write whatever you want:</a:t>
            </a:r>
          </a:p>
        </p:txBody>
      </p:sp>
      <p:sp>
        <p:nvSpPr>
          <p:cNvPr id="9" name="TextBox 8">
            <a:extLst>
              <a:ext uri="{FF2B5EF4-FFF2-40B4-BE49-F238E27FC236}">
                <a16:creationId xmlns:a16="http://schemas.microsoft.com/office/drawing/2014/main" id="{D6713587-5810-411E-BDC4-C1DB10ADF0A9}"/>
              </a:ext>
            </a:extLst>
          </p:cNvPr>
          <p:cNvSpPr txBox="1"/>
          <p:nvPr/>
        </p:nvSpPr>
        <p:spPr>
          <a:xfrm>
            <a:off x="1529027" y="4774929"/>
            <a:ext cx="5841591" cy="166705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just">
              <a:lnSpc>
                <a:spcPct val="200000"/>
              </a:lnSpc>
            </a:pPr>
            <a:r>
              <a:rPr lang="en-US" dirty="0">
                <a:solidFill>
                  <a:srgbClr val="00B050"/>
                </a:solidFill>
              </a:rPr>
              <a:t>// Run the project by 8080 or anything you want</a:t>
            </a:r>
          </a:p>
          <a:p>
            <a:pPr algn="just">
              <a:lnSpc>
                <a:spcPct val="200000"/>
              </a:lnSpc>
            </a:pPr>
            <a:r>
              <a:rPr lang="en-US" dirty="0"/>
              <a:t>&gt;&gt;&gt; python manage.py </a:t>
            </a:r>
            <a:r>
              <a:rPr lang="en-US" dirty="0" err="1"/>
              <a:t>runserver</a:t>
            </a:r>
            <a:r>
              <a:rPr lang="en-US" dirty="0"/>
              <a:t> </a:t>
            </a:r>
            <a:r>
              <a:rPr lang="en-US" b="1" dirty="0"/>
              <a:t>8080</a:t>
            </a:r>
          </a:p>
          <a:p>
            <a:pPr algn="just">
              <a:lnSpc>
                <a:spcPct val="200000"/>
              </a:lnSpc>
            </a:pPr>
            <a:r>
              <a:rPr lang="en-US" dirty="0"/>
              <a:t>&gt;&gt;&gt; python manage.py </a:t>
            </a:r>
            <a:r>
              <a:rPr lang="en-US" dirty="0" err="1"/>
              <a:t>runserver</a:t>
            </a:r>
            <a:r>
              <a:rPr lang="en-US" dirty="0"/>
              <a:t> </a:t>
            </a:r>
            <a:r>
              <a:rPr lang="en-US" b="1" dirty="0"/>
              <a:t>0.0.0.0:8000</a:t>
            </a:r>
          </a:p>
        </p:txBody>
      </p:sp>
      <p:cxnSp>
        <p:nvCxnSpPr>
          <p:cNvPr id="10" name="Straight Arrow Connector 9">
            <a:extLst>
              <a:ext uri="{FF2B5EF4-FFF2-40B4-BE49-F238E27FC236}">
                <a16:creationId xmlns:a16="http://schemas.microsoft.com/office/drawing/2014/main" id="{5F7BCD2A-5B44-4BBD-9599-BF658FDF8B6F}"/>
              </a:ext>
            </a:extLst>
          </p:cNvPr>
          <p:cNvCxnSpPr>
            <a:cxnSpLocks/>
          </p:cNvCxnSpPr>
          <p:nvPr/>
        </p:nvCxnSpPr>
        <p:spPr>
          <a:xfrm>
            <a:off x="6096000" y="5698874"/>
            <a:ext cx="17595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292A1A1-BB31-4FFF-95D3-3D07F37616A7}"/>
              </a:ext>
            </a:extLst>
          </p:cNvPr>
          <p:cNvSpPr txBox="1"/>
          <p:nvPr/>
        </p:nvSpPr>
        <p:spPr>
          <a:xfrm>
            <a:off x="7855541" y="5471279"/>
            <a:ext cx="3117260" cy="87068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sz="1800" dirty="0"/>
              <a:t>Run the project  by 8080</a:t>
            </a:r>
          </a:p>
          <a:p>
            <a:pPr algn="just">
              <a:lnSpc>
                <a:spcPct val="150000"/>
              </a:lnSpc>
            </a:pPr>
            <a:r>
              <a:rPr lang="en-US" dirty="0"/>
              <a:t>Or 80000</a:t>
            </a:r>
            <a:endParaRPr lang="en-US" sz="1800" dirty="0"/>
          </a:p>
        </p:txBody>
      </p:sp>
      <p:sp>
        <p:nvSpPr>
          <p:cNvPr id="12" name="TextBox 11">
            <a:extLst>
              <a:ext uri="{FF2B5EF4-FFF2-40B4-BE49-F238E27FC236}">
                <a16:creationId xmlns:a16="http://schemas.microsoft.com/office/drawing/2014/main" id="{ECFC2EDC-4E95-4EB4-9FDD-B6E0CE401FDA}"/>
              </a:ext>
            </a:extLst>
          </p:cNvPr>
          <p:cNvSpPr txBox="1"/>
          <p:nvPr/>
        </p:nvSpPr>
        <p:spPr>
          <a:xfrm>
            <a:off x="1529027" y="4314363"/>
            <a:ext cx="5841591"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shell</a:t>
            </a:r>
          </a:p>
        </p:txBody>
      </p:sp>
    </p:spTree>
    <p:extLst>
      <p:ext uri="{BB962C8B-B14F-4D97-AF65-F5344CB8AC3E}">
        <p14:creationId xmlns:p14="http://schemas.microsoft.com/office/powerpoint/2010/main" val="2828308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p:txBody>
          <a:bodyPr/>
          <a:lstStyle/>
          <a:p>
            <a:r>
              <a:rPr lang="en-US" b="1" dirty="0"/>
              <a:t>Screen shot of running the project</a:t>
            </a:r>
          </a:p>
        </p:txBody>
      </p:sp>
      <p:sp>
        <p:nvSpPr>
          <p:cNvPr id="3" name="Slide Number Placeholder 2">
            <a:extLst>
              <a:ext uri="{FF2B5EF4-FFF2-40B4-BE49-F238E27FC236}">
                <a16:creationId xmlns:a16="http://schemas.microsoft.com/office/drawing/2014/main" id="{BE6CC3C2-3B1B-4765-9DCC-FAC96643533F}"/>
              </a:ext>
            </a:extLst>
          </p:cNvPr>
          <p:cNvSpPr>
            <a:spLocks noGrp="1"/>
          </p:cNvSpPr>
          <p:nvPr>
            <p:ph type="sldNum" sz="quarter" idx="12"/>
          </p:nvPr>
        </p:nvSpPr>
        <p:spPr/>
        <p:txBody>
          <a:bodyPr/>
          <a:lstStyle/>
          <a:p>
            <a:fld id="{0D6F892B-1791-4F93-8AFD-83813F10F54D}" type="slidenum">
              <a:rPr lang="en-US" smtClean="0"/>
              <a:t>6</a:t>
            </a:fld>
            <a:endParaRPr lang="en-US"/>
          </a:p>
        </p:txBody>
      </p:sp>
      <p:sp>
        <p:nvSpPr>
          <p:cNvPr id="14" name="TextBox 13">
            <a:extLst>
              <a:ext uri="{FF2B5EF4-FFF2-40B4-BE49-F238E27FC236}">
                <a16:creationId xmlns:a16="http://schemas.microsoft.com/office/drawing/2014/main" id="{59F6104B-393C-40A1-8E08-75332BECA18C}"/>
              </a:ext>
            </a:extLst>
          </p:cNvPr>
          <p:cNvSpPr txBox="1"/>
          <p:nvPr/>
        </p:nvSpPr>
        <p:spPr>
          <a:xfrm>
            <a:off x="1154954" y="2349623"/>
            <a:ext cx="10035785" cy="455189"/>
          </a:xfrm>
          <a:prstGeom prst="rect">
            <a:avLst/>
          </a:prstGeom>
          <a:noFill/>
        </p:spPr>
        <p:txBody>
          <a:bodyPr wrap="square" rtlCol="0">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The running projects looks like this by default:</a:t>
            </a:r>
          </a:p>
        </p:txBody>
      </p:sp>
      <p:pic>
        <p:nvPicPr>
          <p:cNvPr id="4" name="Picture 3">
            <a:extLst>
              <a:ext uri="{FF2B5EF4-FFF2-40B4-BE49-F238E27FC236}">
                <a16:creationId xmlns:a16="http://schemas.microsoft.com/office/drawing/2014/main" id="{184A0BE1-51C3-419C-9C06-1CFD43FDF9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9252" y="3116720"/>
            <a:ext cx="7576708" cy="2383534"/>
          </a:xfrm>
          <a:prstGeom prst="rect">
            <a:avLst/>
          </a:prstGeom>
          <a:ln>
            <a:solidFill>
              <a:schemeClr val="tx1"/>
            </a:solidFill>
          </a:ln>
        </p:spPr>
      </p:pic>
      <p:cxnSp>
        <p:nvCxnSpPr>
          <p:cNvPr id="13" name="Straight Arrow Connector 12">
            <a:extLst>
              <a:ext uri="{FF2B5EF4-FFF2-40B4-BE49-F238E27FC236}">
                <a16:creationId xmlns:a16="http://schemas.microsoft.com/office/drawing/2014/main" id="{0602C381-1727-4D86-ADC4-D06EE81D1852}"/>
              </a:ext>
            </a:extLst>
          </p:cNvPr>
          <p:cNvCxnSpPr>
            <a:cxnSpLocks/>
            <a:endCxn id="15" idx="0"/>
          </p:cNvCxnSpPr>
          <p:nvPr/>
        </p:nvCxnSpPr>
        <p:spPr>
          <a:xfrm>
            <a:off x="6504711" y="4994743"/>
            <a:ext cx="0" cy="796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57710A0-4D2D-487C-92AE-01A18E7C2A50}"/>
              </a:ext>
            </a:extLst>
          </p:cNvPr>
          <p:cNvSpPr txBox="1"/>
          <p:nvPr/>
        </p:nvSpPr>
        <p:spPr>
          <a:xfrm>
            <a:off x="4277602" y="5791560"/>
            <a:ext cx="4454217" cy="78418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lnSpc>
                <a:spcPct val="150000"/>
              </a:lnSpc>
            </a:pPr>
            <a:r>
              <a:rPr lang="en-US" sz="1600" dirty="0"/>
              <a:t>This is by default port of your project. You can also change if you want</a:t>
            </a:r>
          </a:p>
        </p:txBody>
      </p:sp>
    </p:spTree>
    <p:extLst>
      <p:ext uri="{BB962C8B-B14F-4D97-AF65-F5344CB8AC3E}">
        <p14:creationId xmlns:p14="http://schemas.microsoft.com/office/powerpoint/2010/main" val="1582860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p:txBody>
          <a:bodyPr/>
          <a:lstStyle/>
          <a:p>
            <a:r>
              <a:rPr lang="en-US" b="1" dirty="0"/>
              <a:t>Terminate the Server</a:t>
            </a:r>
          </a:p>
        </p:txBody>
      </p:sp>
      <p:sp>
        <p:nvSpPr>
          <p:cNvPr id="3" name="Slide Number Placeholder 2">
            <a:extLst>
              <a:ext uri="{FF2B5EF4-FFF2-40B4-BE49-F238E27FC236}">
                <a16:creationId xmlns:a16="http://schemas.microsoft.com/office/drawing/2014/main" id="{BE6CC3C2-3B1B-4765-9DCC-FAC96643533F}"/>
              </a:ext>
            </a:extLst>
          </p:cNvPr>
          <p:cNvSpPr>
            <a:spLocks noGrp="1"/>
          </p:cNvSpPr>
          <p:nvPr>
            <p:ph type="sldNum" sz="quarter" idx="12"/>
          </p:nvPr>
        </p:nvSpPr>
        <p:spPr/>
        <p:txBody>
          <a:bodyPr/>
          <a:lstStyle/>
          <a:p>
            <a:fld id="{0D6F892B-1791-4F93-8AFD-83813F10F54D}" type="slidenum">
              <a:rPr lang="en-US" smtClean="0"/>
              <a:t>7</a:t>
            </a:fld>
            <a:endParaRPr lang="en-US"/>
          </a:p>
        </p:txBody>
      </p:sp>
      <p:sp>
        <p:nvSpPr>
          <p:cNvPr id="14" name="TextBox 13">
            <a:extLst>
              <a:ext uri="{FF2B5EF4-FFF2-40B4-BE49-F238E27FC236}">
                <a16:creationId xmlns:a16="http://schemas.microsoft.com/office/drawing/2014/main" id="{59F6104B-393C-40A1-8E08-75332BECA18C}"/>
              </a:ext>
            </a:extLst>
          </p:cNvPr>
          <p:cNvSpPr txBox="1"/>
          <p:nvPr/>
        </p:nvSpPr>
        <p:spPr>
          <a:xfrm>
            <a:off x="1154954" y="2349623"/>
            <a:ext cx="10035785" cy="455189"/>
          </a:xfrm>
          <a:prstGeom prst="rect">
            <a:avLst/>
          </a:prstGeom>
          <a:noFill/>
        </p:spPr>
        <p:txBody>
          <a:bodyPr wrap="square" rtlCol="0">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If you want to terminate the server hit the following command</a:t>
            </a:r>
          </a:p>
        </p:txBody>
      </p:sp>
      <p:sp>
        <p:nvSpPr>
          <p:cNvPr id="15" name="TextBox 14">
            <a:extLst>
              <a:ext uri="{FF2B5EF4-FFF2-40B4-BE49-F238E27FC236}">
                <a16:creationId xmlns:a16="http://schemas.microsoft.com/office/drawing/2014/main" id="{357710A0-4D2D-487C-92AE-01A18E7C2A50}"/>
              </a:ext>
            </a:extLst>
          </p:cNvPr>
          <p:cNvSpPr txBox="1"/>
          <p:nvPr/>
        </p:nvSpPr>
        <p:spPr>
          <a:xfrm>
            <a:off x="1520547" y="3058946"/>
            <a:ext cx="7374071" cy="165551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nSpc>
                <a:spcPct val="150000"/>
              </a:lnSpc>
            </a:pPr>
            <a:r>
              <a:rPr lang="en-US" sz="1600" dirty="0">
                <a:solidFill>
                  <a:srgbClr val="00B050"/>
                </a:solidFill>
              </a:rPr>
              <a:t>// Terminate the server. This command help you to terminate the server</a:t>
            </a:r>
          </a:p>
          <a:p>
            <a:pPr>
              <a:lnSpc>
                <a:spcPct val="150000"/>
              </a:lnSpc>
            </a:pPr>
            <a:r>
              <a:rPr lang="en-US" dirty="0"/>
              <a:t>&gt;&gt;&gt; Hit : Ctrl + C</a:t>
            </a:r>
          </a:p>
          <a:p>
            <a:pPr>
              <a:lnSpc>
                <a:spcPct val="150000"/>
              </a:lnSpc>
            </a:pPr>
            <a:r>
              <a:rPr lang="en-US" sz="1600" dirty="0">
                <a:solidFill>
                  <a:srgbClr val="00B050"/>
                </a:solidFill>
              </a:rPr>
              <a:t>// If your server is hang or not working well you can also used.</a:t>
            </a:r>
            <a:endParaRPr lang="en-US" dirty="0">
              <a:solidFill>
                <a:srgbClr val="00B050"/>
              </a:solidFill>
            </a:endParaRPr>
          </a:p>
          <a:p>
            <a:pPr>
              <a:lnSpc>
                <a:spcPct val="150000"/>
              </a:lnSpc>
            </a:pPr>
            <a:r>
              <a:rPr lang="en-US" dirty="0"/>
              <a:t>&gt;&gt;&gt; Hit : Ctrl + C</a:t>
            </a:r>
          </a:p>
        </p:txBody>
      </p:sp>
      <p:sp>
        <p:nvSpPr>
          <p:cNvPr id="9" name="TextBox 8">
            <a:extLst>
              <a:ext uri="{FF2B5EF4-FFF2-40B4-BE49-F238E27FC236}">
                <a16:creationId xmlns:a16="http://schemas.microsoft.com/office/drawing/2014/main" id="{8E1D6866-C38F-4C8D-96E0-7E5AB6B11B8D}"/>
              </a:ext>
            </a:extLst>
          </p:cNvPr>
          <p:cNvSpPr txBox="1"/>
          <p:nvPr/>
        </p:nvSpPr>
        <p:spPr>
          <a:xfrm>
            <a:off x="1154954" y="4968598"/>
            <a:ext cx="10035785" cy="870688"/>
          </a:xfrm>
          <a:prstGeom prst="rect">
            <a:avLst/>
          </a:prstGeom>
          <a:noFill/>
        </p:spPr>
        <p:txBody>
          <a:bodyPr wrap="square" rtlCol="0">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If you clear the Django project running or terminating process. We can move the next step called virtual Environment.</a:t>
            </a:r>
          </a:p>
        </p:txBody>
      </p:sp>
    </p:spTree>
    <p:extLst>
      <p:ext uri="{BB962C8B-B14F-4D97-AF65-F5344CB8AC3E}">
        <p14:creationId xmlns:p14="http://schemas.microsoft.com/office/powerpoint/2010/main" val="3629520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4" y="973668"/>
            <a:ext cx="8820319" cy="706964"/>
          </a:xfrm>
        </p:spPr>
        <p:txBody>
          <a:bodyPr/>
          <a:lstStyle/>
          <a:p>
            <a:r>
              <a:rPr lang="en-US" sz="3200" dirty="0">
                <a:latin typeface="Arial Rounded MT Bold" panose="020F0704030504030204" pitchFamily="34" charset="0"/>
              </a:rPr>
              <a:t>What is Virtual Environment?</a:t>
            </a:r>
            <a:endParaRPr lang="en-US" sz="3200"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8</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54954" y="2432866"/>
            <a:ext cx="10298342" cy="2775055"/>
          </a:xfrm>
          <a:prstGeom prst="rect">
            <a:avLst/>
          </a:prstGeom>
          <a:noFill/>
        </p:spPr>
        <p:txBody>
          <a:bodyPr wrap="square" rtlCol="0">
            <a:spAutoFit/>
          </a:bodyPr>
          <a:lstStyle/>
          <a:p>
            <a:pPr marL="285750" marR="0" lvl="0" indent="-285750" algn="just"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lang="en-US" dirty="0"/>
              <a:t>Virtual Environment is a </a:t>
            </a:r>
            <a:r>
              <a:rPr lang="en-US" b="1" dirty="0">
                <a:hlinkClick r:id="rId2">
                  <a:extLst>
                    <a:ext uri="{A12FA001-AC4F-418D-AE19-62706E023703}">
                      <ahyp:hlinkClr xmlns:ahyp="http://schemas.microsoft.com/office/drawing/2018/hyperlinkcolor" val="tx"/>
                    </a:ext>
                  </a:extLst>
                </a:hlinkClick>
              </a:rPr>
              <a:t>Python</a:t>
            </a:r>
            <a:r>
              <a:rPr lang="en-US" dirty="0"/>
              <a:t> tool used for creating isolated environments. </a:t>
            </a:r>
          </a:p>
          <a:p>
            <a:pPr marL="285750" marR="0" lvl="0" indent="-285750" algn="just"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lang="en-US" dirty="0"/>
              <a:t>This separates each project from another so that the tools and actions active in one project environment do not have an effect in another environment except they are installed or activated in the other environment</a:t>
            </a:r>
            <a:r>
              <a:rPr lang="en-US" b="0" i="0" dirty="0">
                <a:solidFill>
                  <a:srgbClr val="333333"/>
                </a:solidFill>
                <a:effectLst/>
                <a:latin typeface="Work Sans" panose="020B0604020202020204" pitchFamily="2" charset="0"/>
              </a:rPr>
              <a:t>.</a:t>
            </a:r>
          </a:p>
          <a:p>
            <a:pPr marL="285750" marR="0" lvl="0" indent="-285750" algn="just"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lang="en-US" altLang="en-US" dirty="0"/>
              <a:t>You have create more than Environment in a single PC.</a:t>
            </a:r>
          </a:p>
        </p:txBody>
      </p:sp>
    </p:spTree>
    <p:extLst>
      <p:ext uri="{BB962C8B-B14F-4D97-AF65-F5344CB8AC3E}">
        <p14:creationId xmlns:p14="http://schemas.microsoft.com/office/powerpoint/2010/main" val="2984206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4" y="973668"/>
            <a:ext cx="8820319" cy="706964"/>
          </a:xfrm>
        </p:spPr>
        <p:txBody>
          <a:bodyPr/>
          <a:lstStyle/>
          <a:p>
            <a:r>
              <a:rPr lang="en-US" sz="2800" dirty="0">
                <a:latin typeface="Arial Rounded MT Bold" panose="020F0704030504030204" pitchFamily="34" charset="0"/>
              </a:rPr>
              <a:t>How to install Virtual Environment in PC?</a:t>
            </a:r>
            <a:endParaRPr lang="en-US" sz="2800"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9</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54954" y="2363597"/>
            <a:ext cx="10579846" cy="870495"/>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To install Virtual Environment, use the </a:t>
            </a:r>
            <a:r>
              <a:rPr lang="en-US" altLang="en-US" b="1" dirty="0"/>
              <a:t>pip</a:t>
            </a:r>
            <a:r>
              <a:rPr lang="en-US" altLang="en-US" dirty="0"/>
              <a:t> package manager that comes </a:t>
            </a:r>
            <a:r>
              <a:rPr lang="en-US" altLang="en-US" b="1" dirty="0"/>
              <a:t>pre-installed</a:t>
            </a:r>
            <a:r>
              <a:rPr lang="en-US" altLang="en-US" dirty="0"/>
              <a:t> with </a:t>
            </a:r>
            <a:r>
              <a:rPr lang="en-US" altLang="en-US" b="1" dirty="0">
                <a:hlinkClick r:id="rId2">
                  <a:extLst>
                    <a:ext uri="{A12FA001-AC4F-418D-AE19-62706E023703}">
                      <ahyp:hlinkClr xmlns:ahyp="http://schemas.microsoft.com/office/drawing/2018/hyperlinkcolor" val="tx"/>
                    </a:ext>
                  </a:extLst>
                </a:hlinkClick>
              </a:rPr>
              <a:t>Python</a:t>
            </a:r>
            <a:r>
              <a:rPr lang="en-US" altLang="en-US" dirty="0"/>
              <a:t>. Use the following command on the command prompt. </a:t>
            </a:r>
          </a:p>
        </p:txBody>
      </p:sp>
      <p:sp>
        <p:nvSpPr>
          <p:cNvPr id="7" name="TextBox 6">
            <a:extLst>
              <a:ext uri="{FF2B5EF4-FFF2-40B4-BE49-F238E27FC236}">
                <a16:creationId xmlns:a16="http://schemas.microsoft.com/office/drawing/2014/main" id="{4C13979D-5BD7-429A-B95E-09A51E8CF4DC}"/>
              </a:ext>
            </a:extLst>
          </p:cNvPr>
          <p:cNvSpPr txBox="1"/>
          <p:nvPr/>
        </p:nvSpPr>
        <p:spPr>
          <a:xfrm>
            <a:off x="1584445" y="3852157"/>
            <a:ext cx="4913337" cy="122642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just">
              <a:lnSpc>
                <a:spcPct val="200000"/>
              </a:lnSpc>
            </a:pPr>
            <a:r>
              <a:rPr lang="en-US" sz="2000" dirty="0"/>
              <a:t>&gt;&gt;&gt; pip install </a:t>
            </a:r>
            <a:r>
              <a:rPr lang="en-US" sz="2000" dirty="0" err="1"/>
              <a:t>virtualenv</a:t>
            </a:r>
            <a:endParaRPr lang="en-US" sz="2000" dirty="0"/>
          </a:p>
          <a:p>
            <a:pPr algn="just">
              <a:lnSpc>
                <a:spcPct val="200000"/>
              </a:lnSpc>
            </a:pPr>
            <a:r>
              <a:rPr lang="en-US" sz="2000" dirty="0"/>
              <a:t>&gt;&gt;&gt; pip install </a:t>
            </a:r>
            <a:r>
              <a:rPr lang="en-US" sz="2000" dirty="0" err="1"/>
              <a:t>virtualenvwrapper</a:t>
            </a:r>
            <a:r>
              <a:rPr lang="en-US" sz="2000" dirty="0"/>
              <a:t>-win</a:t>
            </a:r>
          </a:p>
        </p:txBody>
      </p:sp>
      <p:cxnSp>
        <p:nvCxnSpPr>
          <p:cNvPr id="4" name="Straight Arrow Connector 3">
            <a:extLst>
              <a:ext uri="{FF2B5EF4-FFF2-40B4-BE49-F238E27FC236}">
                <a16:creationId xmlns:a16="http://schemas.microsoft.com/office/drawing/2014/main" id="{C57BEE0B-1CD8-4E8F-B968-6ECF77FD8868}"/>
              </a:ext>
            </a:extLst>
          </p:cNvPr>
          <p:cNvCxnSpPr>
            <a:cxnSpLocks/>
            <a:endCxn id="11" idx="1"/>
          </p:cNvCxnSpPr>
          <p:nvPr/>
        </p:nvCxnSpPr>
        <p:spPr>
          <a:xfrm>
            <a:off x="4918371" y="4257985"/>
            <a:ext cx="19868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B362518-6984-4A6D-86E0-751C060F3B61}"/>
              </a:ext>
            </a:extLst>
          </p:cNvPr>
          <p:cNvSpPr txBox="1"/>
          <p:nvPr/>
        </p:nvSpPr>
        <p:spPr>
          <a:xfrm>
            <a:off x="6905204" y="4030390"/>
            <a:ext cx="3702351" cy="45518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sz="1800" dirty="0"/>
              <a:t>Download virtual environment</a:t>
            </a:r>
          </a:p>
        </p:txBody>
      </p:sp>
      <p:sp>
        <p:nvSpPr>
          <p:cNvPr id="17" name="TextBox 16">
            <a:extLst>
              <a:ext uri="{FF2B5EF4-FFF2-40B4-BE49-F238E27FC236}">
                <a16:creationId xmlns:a16="http://schemas.microsoft.com/office/drawing/2014/main" id="{2F41C94F-1C16-4B8E-ADD9-74A28F7C9844}"/>
              </a:ext>
            </a:extLst>
          </p:cNvPr>
          <p:cNvSpPr txBox="1"/>
          <p:nvPr/>
        </p:nvSpPr>
        <p:spPr>
          <a:xfrm>
            <a:off x="1154954" y="5174968"/>
            <a:ext cx="10247337" cy="870688"/>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Go to “</a:t>
            </a:r>
            <a:r>
              <a:rPr lang="en-US" altLang="en-US" b="1" dirty="0"/>
              <a:t>C</a:t>
            </a:r>
            <a:r>
              <a:rPr lang="en-US" altLang="en-US" dirty="0"/>
              <a:t>” disk, clicks the “</a:t>
            </a:r>
            <a:r>
              <a:rPr lang="en-US" altLang="en-US" b="1" dirty="0"/>
              <a:t>users</a:t>
            </a:r>
            <a:r>
              <a:rPr lang="en-US" altLang="en-US" dirty="0"/>
              <a:t>”, click your “</a:t>
            </a:r>
            <a:r>
              <a:rPr lang="en-US" altLang="en-US" b="1" dirty="0"/>
              <a:t>user name</a:t>
            </a:r>
            <a:r>
              <a:rPr lang="en-US" altLang="en-US" dirty="0"/>
              <a:t>” in your pc search for “</a:t>
            </a:r>
            <a:r>
              <a:rPr lang="en-US" altLang="en-US" b="1" dirty="0" err="1"/>
              <a:t>Envs</a:t>
            </a:r>
            <a:r>
              <a:rPr lang="en-US" altLang="en-US" dirty="0"/>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Click the “</a:t>
            </a:r>
            <a:r>
              <a:rPr lang="en-US" altLang="en-US" dirty="0" err="1"/>
              <a:t>Envs</a:t>
            </a:r>
            <a:r>
              <a:rPr lang="en-US" altLang="en-US" dirty="0"/>
              <a:t>” for see your environment you already created.</a:t>
            </a:r>
          </a:p>
        </p:txBody>
      </p:sp>
      <p:sp>
        <p:nvSpPr>
          <p:cNvPr id="18" name="TextBox 17">
            <a:extLst>
              <a:ext uri="{FF2B5EF4-FFF2-40B4-BE49-F238E27FC236}">
                <a16:creationId xmlns:a16="http://schemas.microsoft.com/office/drawing/2014/main" id="{08733CF9-434A-4613-BAD4-A311DC935964}"/>
              </a:ext>
            </a:extLst>
          </p:cNvPr>
          <p:cNvSpPr txBox="1"/>
          <p:nvPr/>
        </p:nvSpPr>
        <p:spPr>
          <a:xfrm>
            <a:off x="1584446" y="3403506"/>
            <a:ext cx="4913335"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shell</a:t>
            </a:r>
          </a:p>
        </p:txBody>
      </p:sp>
    </p:spTree>
    <p:extLst>
      <p:ext uri="{BB962C8B-B14F-4D97-AF65-F5344CB8AC3E}">
        <p14:creationId xmlns:p14="http://schemas.microsoft.com/office/powerpoint/2010/main" val="1048525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4" y="973668"/>
            <a:ext cx="8820319" cy="706964"/>
          </a:xfrm>
        </p:spPr>
        <p:txBody>
          <a:bodyPr/>
          <a:lstStyle/>
          <a:p>
            <a:r>
              <a:rPr lang="en-US" sz="2800" dirty="0">
                <a:latin typeface="Arial Rounded MT Bold" panose="020F0704030504030204" pitchFamily="34" charset="0"/>
              </a:rPr>
              <a:t>How to make Virtual Environment? Method 1</a:t>
            </a:r>
            <a:endParaRPr lang="en-US" sz="2800"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10</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54954" y="2363597"/>
            <a:ext cx="10579846" cy="455189"/>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To create virtual environment write the following command.</a:t>
            </a:r>
          </a:p>
        </p:txBody>
      </p:sp>
      <p:sp>
        <p:nvSpPr>
          <p:cNvPr id="7" name="TextBox 6">
            <a:extLst>
              <a:ext uri="{FF2B5EF4-FFF2-40B4-BE49-F238E27FC236}">
                <a16:creationId xmlns:a16="http://schemas.microsoft.com/office/drawing/2014/main" id="{4C13979D-5BD7-429A-B95E-09A51E8CF4DC}"/>
              </a:ext>
            </a:extLst>
          </p:cNvPr>
          <p:cNvSpPr txBox="1"/>
          <p:nvPr/>
        </p:nvSpPr>
        <p:spPr>
          <a:xfrm>
            <a:off x="1542881" y="3472601"/>
            <a:ext cx="5841591" cy="14920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just">
              <a:lnSpc>
                <a:spcPct val="200000"/>
              </a:lnSpc>
            </a:pPr>
            <a:r>
              <a:rPr lang="en-US" sz="1600" dirty="0"/>
              <a:t>&gt;&gt;&gt; </a:t>
            </a:r>
            <a:r>
              <a:rPr lang="en-US" sz="1600" dirty="0" err="1"/>
              <a:t>mkvirtualenv</a:t>
            </a:r>
            <a:r>
              <a:rPr lang="en-US" sz="1600" dirty="0"/>
              <a:t>  “Your </a:t>
            </a:r>
            <a:r>
              <a:rPr lang="en-US" sz="1600" dirty="0" err="1"/>
              <a:t>Envrionment</a:t>
            </a:r>
            <a:r>
              <a:rPr lang="en-US" sz="1600" dirty="0"/>
              <a:t> Name”</a:t>
            </a:r>
          </a:p>
          <a:p>
            <a:pPr algn="just">
              <a:lnSpc>
                <a:spcPct val="200000"/>
              </a:lnSpc>
            </a:pPr>
            <a:r>
              <a:rPr lang="en-US" sz="1600" dirty="0"/>
              <a:t>	// Example to create virtual env</a:t>
            </a:r>
          </a:p>
          <a:p>
            <a:pPr algn="just">
              <a:lnSpc>
                <a:spcPct val="200000"/>
              </a:lnSpc>
            </a:pPr>
            <a:r>
              <a:rPr lang="en-US" sz="1600" dirty="0"/>
              <a:t>&gt;&gt;&gt; </a:t>
            </a:r>
            <a:r>
              <a:rPr lang="en-US" sz="1600" dirty="0" err="1"/>
              <a:t>mkvirtualenv</a:t>
            </a:r>
            <a:r>
              <a:rPr lang="en-US" sz="1600" dirty="0"/>
              <a:t>  test</a:t>
            </a:r>
          </a:p>
        </p:txBody>
      </p:sp>
      <p:cxnSp>
        <p:nvCxnSpPr>
          <p:cNvPr id="4" name="Straight Arrow Connector 3">
            <a:extLst>
              <a:ext uri="{FF2B5EF4-FFF2-40B4-BE49-F238E27FC236}">
                <a16:creationId xmlns:a16="http://schemas.microsoft.com/office/drawing/2014/main" id="{C57BEE0B-1CD8-4E8F-B968-6ECF77FD8868}"/>
              </a:ext>
            </a:extLst>
          </p:cNvPr>
          <p:cNvCxnSpPr>
            <a:cxnSpLocks/>
          </p:cNvCxnSpPr>
          <p:nvPr/>
        </p:nvCxnSpPr>
        <p:spPr>
          <a:xfrm>
            <a:off x="6871859" y="3825557"/>
            <a:ext cx="997535" cy="2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B362518-6984-4A6D-86E0-751C060F3B61}"/>
              </a:ext>
            </a:extLst>
          </p:cNvPr>
          <p:cNvSpPr txBox="1"/>
          <p:nvPr/>
        </p:nvSpPr>
        <p:spPr>
          <a:xfrm>
            <a:off x="7869394" y="3600910"/>
            <a:ext cx="3702351" cy="45518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sz="1800" dirty="0"/>
              <a:t>Make virtual environment</a:t>
            </a:r>
          </a:p>
        </p:txBody>
      </p:sp>
      <p:sp>
        <p:nvSpPr>
          <p:cNvPr id="17" name="TextBox 16">
            <a:extLst>
              <a:ext uri="{FF2B5EF4-FFF2-40B4-BE49-F238E27FC236}">
                <a16:creationId xmlns:a16="http://schemas.microsoft.com/office/drawing/2014/main" id="{2F41C94F-1C16-4B8E-ADD9-74A28F7C9844}"/>
              </a:ext>
            </a:extLst>
          </p:cNvPr>
          <p:cNvSpPr txBox="1"/>
          <p:nvPr/>
        </p:nvSpPr>
        <p:spPr>
          <a:xfrm>
            <a:off x="1154954" y="5189323"/>
            <a:ext cx="10035785" cy="870688"/>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The “</a:t>
            </a:r>
            <a:r>
              <a:rPr lang="en-US" altLang="en-US" dirty="0" err="1"/>
              <a:t>mkvirtualenv</a:t>
            </a:r>
            <a:r>
              <a:rPr lang="en-US" altLang="en-US" dirty="0"/>
              <a:t>” command help you to make the virtual environment in your PC.</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You can also name your virtual environment.</a:t>
            </a:r>
          </a:p>
        </p:txBody>
      </p:sp>
      <p:sp>
        <p:nvSpPr>
          <p:cNvPr id="10" name="TextBox 9">
            <a:extLst>
              <a:ext uri="{FF2B5EF4-FFF2-40B4-BE49-F238E27FC236}">
                <a16:creationId xmlns:a16="http://schemas.microsoft.com/office/drawing/2014/main" id="{A8AEA78A-620E-414A-BA05-C70E02EE9004}"/>
              </a:ext>
            </a:extLst>
          </p:cNvPr>
          <p:cNvSpPr txBox="1"/>
          <p:nvPr/>
        </p:nvSpPr>
        <p:spPr>
          <a:xfrm>
            <a:off x="1542881" y="3012035"/>
            <a:ext cx="5841591"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shell</a:t>
            </a:r>
          </a:p>
        </p:txBody>
      </p:sp>
    </p:spTree>
    <p:extLst>
      <p:ext uri="{BB962C8B-B14F-4D97-AF65-F5344CB8AC3E}">
        <p14:creationId xmlns:p14="http://schemas.microsoft.com/office/powerpoint/2010/main" val="2275908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4" y="973668"/>
            <a:ext cx="8820319" cy="706964"/>
          </a:xfrm>
        </p:spPr>
        <p:txBody>
          <a:bodyPr/>
          <a:lstStyle/>
          <a:p>
            <a:r>
              <a:rPr lang="en-US" sz="2800" dirty="0">
                <a:latin typeface="Arial Rounded MT Bold" panose="020F0704030504030204" pitchFamily="34" charset="0"/>
              </a:rPr>
              <a:t>How to make Virtual Environment? Method 2</a:t>
            </a:r>
            <a:endParaRPr lang="en-US" sz="2800"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11</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54954" y="2363597"/>
            <a:ext cx="10579846" cy="455189"/>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To create virtual environment in second method write the following command.</a:t>
            </a:r>
          </a:p>
        </p:txBody>
      </p:sp>
      <p:sp>
        <p:nvSpPr>
          <p:cNvPr id="7" name="TextBox 6">
            <a:extLst>
              <a:ext uri="{FF2B5EF4-FFF2-40B4-BE49-F238E27FC236}">
                <a16:creationId xmlns:a16="http://schemas.microsoft.com/office/drawing/2014/main" id="{4C13979D-5BD7-429A-B95E-09A51E8CF4DC}"/>
              </a:ext>
            </a:extLst>
          </p:cNvPr>
          <p:cNvSpPr txBox="1"/>
          <p:nvPr/>
        </p:nvSpPr>
        <p:spPr>
          <a:xfrm>
            <a:off x="1542881" y="3472601"/>
            <a:ext cx="5841591" cy="14920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just">
              <a:lnSpc>
                <a:spcPct val="200000"/>
              </a:lnSpc>
            </a:pPr>
            <a:r>
              <a:rPr lang="en-US" sz="1600" dirty="0"/>
              <a:t>&gt;&gt;&gt; </a:t>
            </a:r>
            <a:r>
              <a:rPr lang="en-US" sz="1600" dirty="0" err="1"/>
              <a:t>virtualenv</a:t>
            </a:r>
            <a:r>
              <a:rPr lang="en-US" sz="1600" dirty="0"/>
              <a:t>  “Your </a:t>
            </a:r>
            <a:r>
              <a:rPr lang="en-US" sz="1600" dirty="0" err="1"/>
              <a:t>Envrionment</a:t>
            </a:r>
            <a:r>
              <a:rPr lang="en-US" sz="1600" dirty="0"/>
              <a:t> Name”</a:t>
            </a:r>
          </a:p>
          <a:p>
            <a:pPr algn="just">
              <a:lnSpc>
                <a:spcPct val="200000"/>
              </a:lnSpc>
            </a:pPr>
            <a:r>
              <a:rPr lang="en-US" sz="1600" dirty="0"/>
              <a:t>	// Example to create virtual env</a:t>
            </a:r>
          </a:p>
          <a:p>
            <a:pPr algn="just">
              <a:lnSpc>
                <a:spcPct val="200000"/>
              </a:lnSpc>
            </a:pPr>
            <a:r>
              <a:rPr lang="en-US" sz="1600" dirty="0"/>
              <a:t>&gt;&gt;&gt; </a:t>
            </a:r>
            <a:r>
              <a:rPr lang="en-US" sz="1600" dirty="0" err="1"/>
              <a:t>virtualenv</a:t>
            </a:r>
            <a:r>
              <a:rPr lang="en-US" sz="1600" dirty="0"/>
              <a:t> test2</a:t>
            </a:r>
          </a:p>
        </p:txBody>
      </p:sp>
      <p:cxnSp>
        <p:nvCxnSpPr>
          <p:cNvPr id="4" name="Straight Arrow Connector 3">
            <a:extLst>
              <a:ext uri="{FF2B5EF4-FFF2-40B4-BE49-F238E27FC236}">
                <a16:creationId xmlns:a16="http://schemas.microsoft.com/office/drawing/2014/main" id="{C57BEE0B-1CD8-4E8F-B968-6ECF77FD8868}"/>
              </a:ext>
            </a:extLst>
          </p:cNvPr>
          <p:cNvCxnSpPr>
            <a:cxnSpLocks/>
          </p:cNvCxnSpPr>
          <p:nvPr/>
        </p:nvCxnSpPr>
        <p:spPr>
          <a:xfrm>
            <a:off x="6871859" y="3825557"/>
            <a:ext cx="997535" cy="2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B362518-6984-4A6D-86E0-751C060F3B61}"/>
              </a:ext>
            </a:extLst>
          </p:cNvPr>
          <p:cNvSpPr txBox="1"/>
          <p:nvPr/>
        </p:nvSpPr>
        <p:spPr>
          <a:xfrm>
            <a:off x="7869394" y="3600910"/>
            <a:ext cx="3702351" cy="45518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sz="1800" dirty="0"/>
              <a:t>Make virtual environment</a:t>
            </a:r>
          </a:p>
        </p:txBody>
      </p:sp>
      <p:sp>
        <p:nvSpPr>
          <p:cNvPr id="17" name="TextBox 16">
            <a:extLst>
              <a:ext uri="{FF2B5EF4-FFF2-40B4-BE49-F238E27FC236}">
                <a16:creationId xmlns:a16="http://schemas.microsoft.com/office/drawing/2014/main" id="{2F41C94F-1C16-4B8E-ADD9-74A28F7C9844}"/>
              </a:ext>
            </a:extLst>
          </p:cNvPr>
          <p:cNvSpPr txBox="1"/>
          <p:nvPr/>
        </p:nvSpPr>
        <p:spPr>
          <a:xfrm>
            <a:off x="1154954" y="5289502"/>
            <a:ext cx="10035785" cy="870688"/>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The “</a:t>
            </a:r>
            <a:r>
              <a:rPr lang="en-US" altLang="en-US" dirty="0" err="1"/>
              <a:t>virtualenv</a:t>
            </a:r>
            <a:r>
              <a:rPr lang="en-US" altLang="en-US" dirty="0"/>
              <a:t>” command help you to make the virtual environment in your PC.</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You can also name your virtual environment.</a:t>
            </a:r>
          </a:p>
        </p:txBody>
      </p:sp>
      <p:sp>
        <p:nvSpPr>
          <p:cNvPr id="10" name="TextBox 9">
            <a:extLst>
              <a:ext uri="{FF2B5EF4-FFF2-40B4-BE49-F238E27FC236}">
                <a16:creationId xmlns:a16="http://schemas.microsoft.com/office/drawing/2014/main" id="{A8AEA78A-620E-414A-BA05-C70E02EE9004}"/>
              </a:ext>
            </a:extLst>
          </p:cNvPr>
          <p:cNvSpPr txBox="1"/>
          <p:nvPr/>
        </p:nvSpPr>
        <p:spPr>
          <a:xfrm>
            <a:off x="1542881" y="3012035"/>
            <a:ext cx="5841591"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shell</a:t>
            </a:r>
          </a:p>
        </p:txBody>
      </p:sp>
    </p:spTree>
    <p:extLst>
      <p:ext uri="{BB962C8B-B14F-4D97-AF65-F5344CB8AC3E}">
        <p14:creationId xmlns:p14="http://schemas.microsoft.com/office/powerpoint/2010/main" val="3878163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4" y="973668"/>
            <a:ext cx="8820319" cy="706964"/>
          </a:xfrm>
        </p:spPr>
        <p:txBody>
          <a:bodyPr/>
          <a:lstStyle/>
          <a:p>
            <a:r>
              <a:rPr lang="en-US" sz="2800" dirty="0">
                <a:latin typeface="Arial Rounded MT Bold" panose="020F0704030504030204" pitchFamily="34" charset="0"/>
              </a:rPr>
              <a:t>How to Activate Virtual Environment? Method 1</a:t>
            </a:r>
            <a:endParaRPr lang="en-US" sz="2800"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12</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54954" y="2363597"/>
            <a:ext cx="10579846" cy="455189"/>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To activate virtual environment write the following command.</a:t>
            </a:r>
          </a:p>
        </p:txBody>
      </p:sp>
      <p:sp>
        <p:nvSpPr>
          <p:cNvPr id="7" name="TextBox 6">
            <a:extLst>
              <a:ext uri="{FF2B5EF4-FFF2-40B4-BE49-F238E27FC236}">
                <a16:creationId xmlns:a16="http://schemas.microsoft.com/office/drawing/2014/main" id="{4C13979D-5BD7-429A-B95E-09A51E8CF4DC}"/>
              </a:ext>
            </a:extLst>
          </p:cNvPr>
          <p:cNvSpPr txBox="1"/>
          <p:nvPr/>
        </p:nvSpPr>
        <p:spPr>
          <a:xfrm>
            <a:off x="1542881" y="3417181"/>
            <a:ext cx="5841591" cy="122642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just">
              <a:lnSpc>
                <a:spcPct val="200000"/>
              </a:lnSpc>
            </a:pPr>
            <a:r>
              <a:rPr lang="en-US" sz="2000" dirty="0">
                <a:solidFill>
                  <a:srgbClr val="00B050"/>
                </a:solidFill>
              </a:rPr>
              <a:t>// write the “</a:t>
            </a:r>
            <a:r>
              <a:rPr lang="en-US" sz="2000" dirty="0" err="1">
                <a:solidFill>
                  <a:srgbClr val="00B050"/>
                </a:solidFill>
              </a:rPr>
              <a:t>workon</a:t>
            </a:r>
            <a:r>
              <a:rPr lang="en-US" sz="2000" dirty="0">
                <a:solidFill>
                  <a:srgbClr val="00B050"/>
                </a:solidFill>
              </a:rPr>
              <a:t>” word</a:t>
            </a:r>
          </a:p>
          <a:p>
            <a:pPr algn="just">
              <a:lnSpc>
                <a:spcPct val="200000"/>
              </a:lnSpc>
            </a:pPr>
            <a:r>
              <a:rPr lang="en-US" sz="2000" dirty="0"/>
              <a:t>&gt;&gt;&gt; </a:t>
            </a:r>
            <a:r>
              <a:rPr lang="en-US" sz="2000" dirty="0" err="1"/>
              <a:t>workon</a:t>
            </a:r>
            <a:r>
              <a:rPr lang="en-US" sz="2000" dirty="0"/>
              <a:t> text</a:t>
            </a:r>
          </a:p>
        </p:txBody>
      </p:sp>
      <p:cxnSp>
        <p:nvCxnSpPr>
          <p:cNvPr id="4" name="Straight Arrow Connector 3">
            <a:extLst>
              <a:ext uri="{FF2B5EF4-FFF2-40B4-BE49-F238E27FC236}">
                <a16:creationId xmlns:a16="http://schemas.microsoft.com/office/drawing/2014/main" id="{C57BEE0B-1CD8-4E8F-B968-6ECF77FD8868}"/>
              </a:ext>
            </a:extLst>
          </p:cNvPr>
          <p:cNvCxnSpPr>
            <a:cxnSpLocks/>
          </p:cNvCxnSpPr>
          <p:nvPr/>
        </p:nvCxnSpPr>
        <p:spPr>
          <a:xfrm flipV="1">
            <a:off x="3823861" y="4409921"/>
            <a:ext cx="4156372" cy="18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B362518-6984-4A6D-86E0-751C060F3B61}"/>
              </a:ext>
            </a:extLst>
          </p:cNvPr>
          <p:cNvSpPr txBox="1"/>
          <p:nvPr/>
        </p:nvSpPr>
        <p:spPr>
          <a:xfrm>
            <a:off x="7980233" y="4182326"/>
            <a:ext cx="3702351" cy="45518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sz="1800" dirty="0"/>
              <a:t>Activate Virtual Environment</a:t>
            </a:r>
          </a:p>
        </p:txBody>
      </p:sp>
      <p:sp>
        <p:nvSpPr>
          <p:cNvPr id="17" name="TextBox 16">
            <a:extLst>
              <a:ext uri="{FF2B5EF4-FFF2-40B4-BE49-F238E27FC236}">
                <a16:creationId xmlns:a16="http://schemas.microsoft.com/office/drawing/2014/main" id="{2F41C94F-1C16-4B8E-ADD9-74A28F7C9844}"/>
              </a:ext>
            </a:extLst>
          </p:cNvPr>
          <p:cNvSpPr txBox="1"/>
          <p:nvPr/>
        </p:nvSpPr>
        <p:spPr>
          <a:xfrm>
            <a:off x="1154954" y="4884112"/>
            <a:ext cx="10579846" cy="455189"/>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If your virtual environment is activated you can used it’s packages.</a:t>
            </a:r>
          </a:p>
        </p:txBody>
      </p:sp>
      <p:sp>
        <p:nvSpPr>
          <p:cNvPr id="10" name="TextBox 9">
            <a:extLst>
              <a:ext uri="{FF2B5EF4-FFF2-40B4-BE49-F238E27FC236}">
                <a16:creationId xmlns:a16="http://schemas.microsoft.com/office/drawing/2014/main" id="{E56FB4AC-9CA9-4B14-A88C-731F40417B72}"/>
              </a:ext>
            </a:extLst>
          </p:cNvPr>
          <p:cNvSpPr txBox="1"/>
          <p:nvPr/>
        </p:nvSpPr>
        <p:spPr>
          <a:xfrm>
            <a:off x="1542881" y="2961992"/>
            <a:ext cx="5841591"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shell</a:t>
            </a:r>
          </a:p>
        </p:txBody>
      </p:sp>
    </p:spTree>
    <p:extLst>
      <p:ext uri="{BB962C8B-B14F-4D97-AF65-F5344CB8AC3E}">
        <p14:creationId xmlns:p14="http://schemas.microsoft.com/office/powerpoint/2010/main" val="390751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4" y="973668"/>
            <a:ext cx="8820319" cy="706964"/>
          </a:xfrm>
        </p:spPr>
        <p:txBody>
          <a:bodyPr/>
          <a:lstStyle/>
          <a:p>
            <a:r>
              <a:rPr lang="en-US" sz="2800" dirty="0">
                <a:latin typeface="Arial Rounded MT Bold" panose="020F0704030504030204" pitchFamily="34" charset="0"/>
              </a:rPr>
              <a:t>How to Activate Virtual Environment? Method 2</a:t>
            </a:r>
            <a:endParaRPr lang="en-US" sz="2800"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13</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54954" y="2363597"/>
            <a:ext cx="9197586" cy="1286186"/>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Go to your virtual environment folder you created previously.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Go to your </a:t>
            </a:r>
            <a:r>
              <a:rPr lang="en-US" altLang="en-US" b="1" dirty="0"/>
              <a:t>script</a:t>
            </a:r>
            <a:r>
              <a:rPr lang="en-US" altLang="en-US" dirty="0"/>
              <a:t> folder.</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Search for </a:t>
            </a:r>
            <a:r>
              <a:rPr lang="en-US" altLang="en-US" b="1" dirty="0"/>
              <a:t>activate</a:t>
            </a:r>
            <a:r>
              <a:rPr lang="en-US" altLang="en-US" dirty="0"/>
              <a:t> file if you found write the following command in </a:t>
            </a:r>
            <a:r>
              <a:rPr lang="en-US" altLang="en-US" b="1" dirty="0"/>
              <a:t>CMD.</a:t>
            </a:r>
          </a:p>
        </p:txBody>
      </p:sp>
      <p:sp>
        <p:nvSpPr>
          <p:cNvPr id="7" name="TextBox 6">
            <a:extLst>
              <a:ext uri="{FF2B5EF4-FFF2-40B4-BE49-F238E27FC236}">
                <a16:creationId xmlns:a16="http://schemas.microsoft.com/office/drawing/2014/main" id="{4C13979D-5BD7-429A-B95E-09A51E8CF4DC}"/>
              </a:ext>
            </a:extLst>
          </p:cNvPr>
          <p:cNvSpPr txBox="1"/>
          <p:nvPr/>
        </p:nvSpPr>
        <p:spPr>
          <a:xfrm>
            <a:off x="1542881" y="4290018"/>
            <a:ext cx="5841591" cy="122642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just">
              <a:lnSpc>
                <a:spcPct val="200000"/>
              </a:lnSpc>
            </a:pPr>
            <a:r>
              <a:rPr lang="en-US" sz="2000" dirty="0">
                <a:solidFill>
                  <a:srgbClr val="00B050"/>
                </a:solidFill>
              </a:rPr>
              <a:t>// write the “</a:t>
            </a:r>
            <a:r>
              <a:rPr lang="en-US" sz="2000" dirty="0" err="1">
                <a:solidFill>
                  <a:srgbClr val="00B050"/>
                </a:solidFill>
              </a:rPr>
              <a:t>workon</a:t>
            </a:r>
            <a:r>
              <a:rPr lang="en-US" sz="2000" dirty="0">
                <a:solidFill>
                  <a:srgbClr val="00B050"/>
                </a:solidFill>
              </a:rPr>
              <a:t>” word</a:t>
            </a:r>
          </a:p>
          <a:p>
            <a:pPr algn="just">
              <a:lnSpc>
                <a:spcPct val="200000"/>
              </a:lnSpc>
            </a:pPr>
            <a:r>
              <a:rPr lang="en-US" sz="2000" dirty="0"/>
              <a:t>&gt;&gt;&gt; scripts / activate</a:t>
            </a:r>
          </a:p>
        </p:txBody>
      </p:sp>
      <p:cxnSp>
        <p:nvCxnSpPr>
          <p:cNvPr id="4" name="Straight Arrow Connector 3">
            <a:extLst>
              <a:ext uri="{FF2B5EF4-FFF2-40B4-BE49-F238E27FC236}">
                <a16:creationId xmlns:a16="http://schemas.microsoft.com/office/drawing/2014/main" id="{C57BEE0B-1CD8-4E8F-B968-6ECF77FD8868}"/>
              </a:ext>
            </a:extLst>
          </p:cNvPr>
          <p:cNvCxnSpPr>
            <a:cxnSpLocks/>
          </p:cNvCxnSpPr>
          <p:nvPr/>
        </p:nvCxnSpPr>
        <p:spPr>
          <a:xfrm>
            <a:off x="4475018" y="5282758"/>
            <a:ext cx="35052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B362518-6984-4A6D-86E0-751C060F3B61}"/>
              </a:ext>
            </a:extLst>
          </p:cNvPr>
          <p:cNvSpPr txBox="1"/>
          <p:nvPr/>
        </p:nvSpPr>
        <p:spPr>
          <a:xfrm>
            <a:off x="7980233" y="5055163"/>
            <a:ext cx="3702351" cy="45518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sz="1800" dirty="0"/>
              <a:t>Activate Virtual Environment</a:t>
            </a:r>
          </a:p>
        </p:txBody>
      </p:sp>
      <p:sp>
        <p:nvSpPr>
          <p:cNvPr id="17" name="TextBox 16">
            <a:extLst>
              <a:ext uri="{FF2B5EF4-FFF2-40B4-BE49-F238E27FC236}">
                <a16:creationId xmlns:a16="http://schemas.microsoft.com/office/drawing/2014/main" id="{2F41C94F-1C16-4B8E-ADD9-74A28F7C9844}"/>
              </a:ext>
            </a:extLst>
          </p:cNvPr>
          <p:cNvSpPr txBox="1"/>
          <p:nvPr/>
        </p:nvSpPr>
        <p:spPr>
          <a:xfrm>
            <a:off x="1154954" y="5756949"/>
            <a:ext cx="10579846" cy="455189"/>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If your virtual environment is activated you can used it’s packages.</a:t>
            </a:r>
          </a:p>
        </p:txBody>
      </p:sp>
      <p:sp>
        <p:nvSpPr>
          <p:cNvPr id="10" name="TextBox 9">
            <a:extLst>
              <a:ext uri="{FF2B5EF4-FFF2-40B4-BE49-F238E27FC236}">
                <a16:creationId xmlns:a16="http://schemas.microsoft.com/office/drawing/2014/main" id="{E56FB4AC-9CA9-4B14-A88C-731F40417B72}"/>
              </a:ext>
            </a:extLst>
          </p:cNvPr>
          <p:cNvSpPr txBox="1"/>
          <p:nvPr/>
        </p:nvSpPr>
        <p:spPr>
          <a:xfrm>
            <a:off x="1542881" y="3834829"/>
            <a:ext cx="5841591"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shell</a:t>
            </a:r>
          </a:p>
        </p:txBody>
      </p:sp>
    </p:spTree>
    <p:extLst>
      <p:ext uri="{BB962C8B-B14F-4D97-AF65-F5344CB8AC3E}">
        <p14:creationId xmlns:p14="http://schemas.microsoft.com/office/powerpoint/2010/main" val="3861098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4" y="973668"/>
            <a:ext cx="8820319" cy="706964"/>
          </a:xfrm>
        </p:spPr>
        <p:txBody>
          <a:bodyPr/>
          <a:lstStyle/>
          <a:p>
            <a:r>
              <a:rPr lang="en-US" sz="2800" dirty="0">
                <a:latin typeface="Arial Rounded MT Bold" panose="020F0704030504030204" pitchFamily="34" charset="0"/>
              </a:rPr>
              <a:t>How to Deactivate Virtual Environment?</a:t>
            </a:r>
            <a:endParaRPr lang="en-US" sz="2800"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14</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54954" y="2363597"/>
            <a:ext cx="9197586" cy="870495"/>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dirty="0"/>
              <a:t>If you want to deactivate virtual environment write the following command. This command help for both methods 1 and 2.</a:t>
            </a:r>
            <a:endParaRPr lang="en-US" altLang="en-US" b="1" dirty="0"/>
          </a:p>
        </p:txBody>
      </p:sp>
      <p:sp>
        <p:nvSpPr>
          <p:cNvPr id="7" name="TextBox 6">
            <a:extLst>
              <a:ext uri="{FF2B5EF4-FFF2-40B4-BE49-F238E27FC236}">
                <a16:creationId xmlns:a16="http://schemas.microsoft.com/office/drawing/2014/main" id="{4C13979D-5BD7-429A-B95E-09A51E8CF4DC}"/>
              </a:ext>
            </a:extLst>
          </p:cNvPr>
          <p:cNvSpPr txBox="1"/>
          <p:nvPr/>
        </p:nvSpPr>
        <p:spPr>
          <a:xfrm>
            <a:off x="1542881" y="3888235"/>
            <a:ext cx="5841591" cy="122642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just">
              <a:lnSpc>
                <a:spcPct val="200000"/>
              </a:lnSpc>
            </a:pPr>
            <a:r>
              <a:rPr lang="en-US" sz="2000" dirty="0">
                <a:solidFill>
                  <a:srgbClr val="00B050"/>
                </a:solidFill>
              </a:rPr>
              <a:t>// write the “deactivate” word</a:t>
            </a:r>
          </a:p>
          <a:p>
            <a:pPr algn="just">
              <a:lnSpc>
                <a:spcPct val="200000"/>
              </a:lnSpc>
            </a:pPr>
            <a:r>
              <a:rPr lang="en-US" sz="2000" dirty="0"/>
              <a:t>&gt;&gt;&gt; scripts / deactivate</a:t>
            </a:r>
          </a:p>
        </p:txBody>
      </p:sp>
      <p:cxnSp>
        <p:nvCxnSpPr>
          <p:cNvPr id="4" name="Straight Arrow Connector 3">
            <a:extLst>
              <a:ext uri="{FF2B5EF4-FFF2-40B4-BE49-F238E27FC236}">
                <a16:creationId xmlns:a16="http://schemas.microsoft.com/office/drawing/2014/main" id="{C57BEE0B-1CD8-4E8F-B968-6ECF77FD8868}"/>
              </a:ext>
            </a:extLst>
          </p:cNvPr>
          <p:cNvCxnSpPr>
            <a:cxnSpLocks/>
          </p:cNvCxnSpPr>
          <p:nvPr/>
        </p:nvCxnSpPr>
        <p:spPr>
          <a:xfrm>
            <a:off x="4641273" y="4880975"/>
            <a:ext cx="33389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B362518-6984-4A6D-86E0-751C060F3B61}"/>
              </a:ext>
            </a:extLst>
          </p:cNvPr>
          <p:cNvSpPr txBox="1"/>
          <p:nvPr/>
        </p:nvSpPr>
        <p:spPr>
          <a:xfrm>
            <a:off x="7980233" y="4653380"/>
            <a:ext cx="3702351" cy="87068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dirty="0"/>
              <a:t>This can help you to deactivate the server.</a:t>
            </a:r>
            <a:endParaRPr lang="en-US" sz="1800" dirty="0"/>
          </a:p>
        </p:txBody>
      </p:sp>
      <p:sp>
        <p:nvSpPr>
          <p:cNvPr id="10" name="TextBox 9">
            <a:extLst>
              <a:ext uri="{FF2B5EF4-FFF2-40B4-BE49-F238E27FC236}">
                <a16:creationId xmlns:a16="http://schemas.microsoft.com/office/drawing/2014/main" id="{E56FB4AC-9CA9-4B14-A88C-731F40417B72}"/>
              </a:ext>
            </a:extLst>
          </p:cNvPr>
          <p:cNvSpPr txBox="1"/>
          <p:nvPr/>
        </p:nvSpPr>
        <p:spPr>
          <a:xfrm>
            <a:off x="1542881" y="3433046"/>
            <a:ext cx="5841591"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shell</a:t>
            </a:r>
          </a:p>
        </p:txBody>
      </p:sp>
    </p:spTree>
    <p:extLst>
      <p:ext uri="{BB962C8B-B14F-4D97-AF65-F5344CB8AC3E}">
        <p14:creationId xmlns:p14="http://schemas.microsoft.com/office/powerpoint/2010/main" val="2847889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4" y="973668"/>
            <a:ext cx="8820319" cy="706964"/>
          </a:xfrm>
        </p:spPr>
        <p:txBody>
          <a:bodyPr/>
          <a:lstStyle/>
          <a:p>
            <a:r>
              <a:rPr lang="en-US" sz="2800" dirty="0">
                <a:latin typeface="Arial Rounded MT Bold" panose="020F0704030504030204" pitchFamily="34" charset="0"/>
              </a:rPr>
              <a:t>How to </a:t>
            </a:r>
            <a:r>
              <a:rPr lang="en-US" sz="2800">
                <a:latin typeface="Arial Rounded MT Bold" panose="020F0704030504030204" pitchFamily="34" charset="0"/>
              </a:rPr>
              <a:t>add “Requirements.txt” </a:t>
            </a:r>
            <a:r>
              <a:rPr lang="en-US" sz="2800" dirty="0">
                <a:latin typeface="Arial Rounded MT Bold" panose="020F0704030504030204" pitchFamily="34" charset="0"/>
              </a:rPr>
              <a:t>file in Virtual Env?</a:t>
            </a:r>
            <a:endParaRPr lang="en-US" sz="2800"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15</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13388" y="2363597"/>
            <a:ext cx="10288901" cy="3779176"/>
          </a:xfrm>
          <a:prstGeom prst="rect">
            <a:avLst/>
          </a:prstGeom>
          <a:noFill/>
        </p:spPr>
        <p:txBody>
          <a:bodyPr wrap="square" rtlCol="0">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dirty="0"/>
              <a:t>Virtual Environments are, what I think, what really makes your requirements.txt powerful.  Remember in the first section how we ran pip freeze and it listed all the packages on the entire system?  Wouldn’t it be better if it only listed that packages that we care about?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endParaRPr lang="en-US" dirty="0"/>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dirty="0"/>
              <a:t>This is one of the benefits of using virtual environments.  When you are using a virtual environment, you only see the packages that you have installed in that environment.  This helps prevent version conflicts between different projects. It also makes it easier to keep track of your packages.</a:t>
            </a:r>
            <a:endParaRPr lang="en-US" altLang="en-US" dirty="0"/>
          </a:p>
        </p:txBody>
      </p:sp>
    </p:spTree>
    <p:extLst>
      <p:ext uri="{BB962C8B-B14F-4D97-AF65-F5344CB8AC3E}">
        <p14:creationId xmlns:p14="http://schemas.microsoft.com/office/powerpoint/2010/main" val="3925081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4" y="973668"/>
            <a:ext cx="8820319" cy="706964"/>
          </a:xfrm>
        </p:spPr>
        <p:txBody>
          <a:bodyPr/>
          <a:lstStyle/>
          <a:p>
            <a:r>
              <a:rPr lang="en-US" sz="2800" dirty="0">
                <a:latin typeface="Arial Rounded MT Bold" panose="020F0704030504030204" pitchFamily="34" charset="0"/>
              </a:rPr>
              <a:t>How to add “Requirements.txt” file in Virtual Env?</a:t>
            </a:r>
            <a:endParaRPr lang="en-US" sz="2800"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16</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54954" y="2363597"/>
            <a:ext cx="10035786" cy="878317"/>
          </a:xfrm>
          <a:prstGeom prst="rect">
            <a:avLst/>
          </a:prstGeom>
          <a:noFill/>
        </p:spPr>
        <p:txBody>
          <a:bodyPr wrap="square" rtlCol="0">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dirty="0"/>
              <a:t>If you are using a virtual environment, and you want to create your requirements.txt, it is as simple as running this command:</a:t>
            </a:r>
            <a:endParaRPr lang="en-US" altLang="en-US" dirty="0"/>
          </a:p>
        </p:txBody>
      </p:sp>
      <p:sp>
        <p:nvSpPr>
          <p:cNvPr id="7" name="TextBox 6">
            <a:extLst>
              <a:ext uri="{FF2B5EF4-FFF2-40B4-BE49-F238E27FC236}">
                <a16:creationId xmlns:a16="http://schemas.microsoft.com/office/drawing/2014/main" id="{4C13979D-5BD7-429A-B95E-09A51E8CF4DC}"/>
              </a:ext>
            </a:extLst>
          </p:cNvPr>
          <p:cNvSpPr txBox="1"/>
          <p:nvPr/>
        </p:nvSpPr>
        <p:spPr>
          <a:xfrm>
            <a:off x="1542881" y="3943643"/>
            <a:ext cx="5841591" cy="122642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just">
              <a:lnSpc>
                <a:spcPct val="200000"/>
              </a:lnSpc>
            </a:pPr>
            <a:r>
              <a:rPr lang="en-US" sz="2000" dirty="0">
                <a:solidFill>
                  <a:srgbClr val="00B050"/>
                </a:solidFill>
              </a:rPr>
              <a:t>// Access your Virtual Environment</a:t>
            </a:r>
          </a:p>
          <a:p>
            <a:pPr algn="just">
              <a:lnSpc>
                <a:spcPct val="200000"/>
              </a:lnSpc>
            </a:pPr>
            <a:r>
              <a:rPr lang="en-US" sz="2000" dirty="0"/>
              <a:t>&gt;&gt;&gt; pip freeze &gt; requirements.txt</a:t>
            </a:r>
          </a:p>
        </p:txBody>
      </p:sp>
      <p:cxnSp>
        <p:nvCxnSpPr>
          <p:cNvPr id="4" name="Straight Arrow Connector 3">
            <a:extLst>
              <a:ext uri="{FF2B5EF4-FFF2-40B4-BE49-F238E27FC236}">
                <a16:creationId xmlns:a16="http://schemas.microsoft.com/office/drawing/2014/main" id="{C57BEE0B-1CD8-4E8F-B968-6ECF77FD8868}"/>
              </a:ext>
            </a:extLst>
          </p:cNvPr>
          <p:cNvCxnSpPr>
            <a:cxnSpLocks/>
          </p:cNvCxnSpPr>
          <p:nvPr/>
        </p:nvCxnSpPr>
        <p:spPr>
          <a:xfrm>
            <a:off x="5888182" y="4936383"/>
            <a:ext cx="20920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B362518-6984-4A6D-86E0-751C060F3B61}"/>
              </a:ext>
            </a:extLst>
          </p:cNvPr>
          <p:cNvSpPr txBox="1"/>
          <p:nvPr/>
        </p:nvSpPr>
        <p:spPr>
          <a:xfrm>
            <a:off x="7980233" y="4708788"/>
            <a:ext cx="3702351" cy="128618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dirty="0"/>
              <a:t>This can help you to install the package that can used in your project.</a:t>
            </a:r>
            <a:endParaRPr lang="en-US" sz="1800" dirty="0"/>
          </a:p>
        </p:txBody>
      </p:sp>
      <p:sp>
        <p:nvSpPr>
          <p:cNvPr id="10" name="TextBox 9">
            <a:extLst>
              <a:ext uri="{FF2B5EF4-FFF2-40B4-BE49-F238E27FC236}">
                <a16:creationId xmlns:a16="http://schemas.microsoft.com/office/drawing/2014/main" id="{E56FB4AC-9CA9-4B14-A88C-731F40417B72}"/>
              </a:ext>
            </a:extLst>
          </p:cNvPr>
          <p:cNvSpPr txBox="1"/>
          <p:nvPr/>
        </p:nvSpPr>
        <p:spPr>
          <a:xfrm>
            <a:off x="1542881" y="3488454"/>
            <a:ext cx="5841591"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shell</a:t>
            </a:r>
          </a:p>
        </p:txBody>
      </p:sp>
    </p:spTree>
    <p:extLst>
      <p:ext uri="{BB962C8B-B14F-4D97-AF65-F5344CB8AC3E}">
        <p14:creationId xmlns:p14="http://schemas.microsoft.com/office/powerpoint/2010/main" val="239859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4" y="973668"/>
            <a:ext cx="8820319" cy="706964"/>
          </a:xfrm>
        </p:spPr>
        <p:txBody>
          <a:bodyPr/>
          <a:lstStyle/>
          <a:p>
            <a:r>
              <a:rPr lang="en-US" sz="2800" dirty="0">
                <a:latin typeface="Arial Rounded MT Bold" panose="020F0704030504030204" pitchFamily="34" charset="0"/>
              </a:rPr>
              <a:t>How to install “requirements.txt” in another Env?</a:t>
            </a:r>
            <a:endParaRPr lang="en-US" sz="2800"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17</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54954" y="2363597"/>
            <a:ext cx="10035786" cy="870688"/>
          </a:xfrm>
          <a:prstGeom prst="rect">
            <a:avLst/>
          </a:prstGeom>
          <a:noFill/>
        </p:spPr>
        <p:txBody>
          <a:bodyPr wrap="square" rtlCol="0">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dirty="0"/>
              <a:t>If you want to install the “requirements.txt” on another environment write the following command in </a:t>
            </a:r>
            <a:r>
              <a:rPr lang="en-US" b="1" dirty="0"/>
              <a:t>CMD</a:t>
            </a:r>
            <a:r>
              <a:rPr lang="en-US" dirty="0"/>
              <a:t>.</a:t>
            </a:r>
            <a:endParaRPr lang="en-US" altLang="en-US" dirty="0"/>
          </a:p>
        </p:txBody>
      </p:sp>
      <p:sp>
        <p:nvSpPr>
          <p:cNvPr id="7" name="TextBox 6">
            <a:extLst>
              <a:ext uri="{FF2B5EF4-FFF2-40B4-BE49-F238E27FC236}">
                <a16:creationId xmlns:a16="http://schemas.microsoft.com/office/drawing/2014/main" id="{4C13979D-5BD7-429A-B95E-09A51E8CF4DC}"/>
              </a:ext>
            </a:extLst>
          </p:cNvPr>
          <p:cNvSpPr txBox="1"/>
          <p:nvPr/>
        </p:nvSpPr>
        <p:spPr>
          <a:xfrm>
            <a:off x="1542881" y="3943643"/>
            <a:ext cx="5841591" cy="116487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just">
              <a:lnSpc>
                <a:spcPct val="200000"/>
              </a:lnSpc>
            </a:pPr>
            <a:r>
              <a:rPr lang="en-US" dirty="0">
                <a:solidFill>
                  <a:srgbClr val="00B050"/>
                </a:solidFill>
              </a:rPr>
              <a:t>// install “requirements.txt” file in Env</a:t>
            </a:r>
          </a:p>
          <a:p>
            <a:pPr algn="just">
              <a:lnSpc>
                <a:spcPct val="200000"/>
              </a:lnSpc>
            </a:pPr>
            <a:r>
              <a:rPr lang="en-US" sz="2000" dirty="0"/>
              <a:t>&gt;&gt;&gt; pip install </a:t>
            </a:r>
            <a:r>
              <a:rPr lang="en-US" sz="2000" b="1" dirty="0"/>
              <a:t>–r</a:t>
            </a:r>
            <a:r>
              <a:rPr lang="en-US" sz="2000" dirty="0"/>
              <a:t> requirements.txt</a:t>
            </a:r>
          </a:p>
        </p:txBody>
      </p:sp>
      <p:cxnSp>
        <p:nvCxnSpPr>
          <p:cNvPr id="4" name="Straight Arrow Connector 3">
            <a:extLst>
              <a:ext uri="{FF2B5EF4-FFF2-40B4-BE49-F238E27FC236}">
                <a16:creationId xmlns:a16="http://schemas.microsoft.com/office/drawing/2014/main" id="{C57BEE0B-1CD8-4E8F-B968-6ECF77FD8868}"/>
              </a:ext>
            </a:extLst>
          </p:cNvPr>
          <p:cNvCxnSpPr>
            <a:cxnSpLocks/>
          </p:cNvCxnSpPr>
          <p:nvPr/>
        </p:nvCxnSpPr>
        <p:spPr>
          <a:xfrm>
            <a:off x="5888182" y="4936383"/>
            <a:ext cx="20920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B362518-6984-4A6D-86E0-751C060F3B61}"/>
              </a:ext>
            </a:extLst>
          </p:cNvPr>
          <p:cNvSpPr txBox="1"/>
          <p:nvPr/>
        </p:nvSpPr>
        <p:spPr>
          <a:xfrm>
            <a:off x="7980233" y="4708788"/>
            <a:ext cx="3702351" cy="115352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sz="1600" dirty="0"/>
              <a:t>This can help you to install all the packages that you have installed previously in another Env.</a:t>
            </a:r>
          </a:p>
        </p:txBody>
      </p:sp>
      <p:sp>
        <p:nvSpPr>
          <p:cNvPr id="10" name="TextBox 9">
            <a:extLst>
              <a:ext uri="{FF2B5EF4-FFF2-40B4-BE49-F238E27FC236}">
                <a16:creationId xmlns:a16="http://schemas.microsoft.com/office/drawing/2014/main" id="{E56FB4AC-9CA9-4B14-A88C-731F40417B72}"/>
              </a:ext>
            </a:extLst>
          </p:cNvPr>
          <p:cNvSpPr txBox="1"/>
          <p:nvPr/>
        </p:nvSpPr>
        <p:spPr>
          <a:xfrm>
            <a:off x="1542881" y="3488454"/>
            <a:ext cx="5841591"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shell</a:t>
            </a:r>
          </a:p>
        </p:txBody>
      </p:sp>
    </p:spTree>
    <p:extLst>
      <p:ext uri="{BB962C8B-B14F-4D97-AF65-F5344CB8AC3E}">
        <p14:creationId xmlns:p14="http://schemas.microsoft.com/office/powerpoint/2010/main" val="1808800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4" y="973668"/>
            <a:ext cx="8820319" cy="706964"/>
          </a:xfrm>
        </p:spPr>
        <p:txBody>
          <a:bodyPr/>
          <a:lstStyle/>
          <a:p>
            <a:r>
              <a:rPr lang="en-US" sz="2800" dirty="0">
                <a:latin typeface="Arial Rounded MT Bold" panose="020F0704030504030204" pitchFamily="34" charset="0"/>
              </a:rPr>
              <a:t>Requirements.txt File</a:t>
            </a:r>
            <a:endParaRPr lang="en-US" sz="2800"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18</a:t>
            </a:fld>
            <a:endParaRPr lang="en-US"/>
          </a:p>
        </p:txBody>
      </p:sp>
      <p:sp>
        <p:nvSpPr>
          <p:cNvPr id="16" name="TextBox 15">
            <a:extLst>
              <a:ext uri="{FF2B5EF4-FFF2-40B4-BE49-F238E27FC236}">
                <a16:creationId xmlns:a16="http://schemas.microsoft.com/office/drawing/2014/main" id="{AE23A521-24E6-4753-BB42-E18ABCAA92BA}"/>
              </a:ext>
            </a:extLst>
          </p:cNvPr>
          <p:cNvSpPr txBox="1"/>
          <p:nvPr/>
        </p:nvSpPr>
        <p:spPr>
          <a:xfrm>
            <a:off x="1154954" y="2363597"/>
            <a:ext cx="10035786" cy="455189"/>
          </a:xfrm>
          <a:prstGeom prst="rect">
            <a:avLst/>
          </a:prstGeom>
          <a:noFill/>
        </p:spPr>
        <p:txBody>
          <a:bodyPr wrap="square" rtlCol="0">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dirty="0"/>
              <a:t>Your “requirements.txt” file looks like:</a:t>
            </a:r>
            <a:endParaRPr lang="en-US" altLang="en-US" dirty="0"/>
          </a:p>
        </p:txBody>
      </p:sp>
      <p:pic>
        <p:nvPicPr>
          <p:cNvPr id="5" name="Picture 4">
            <a:extLst>
              <a:ext uri="{FF2B5EF4-FFF2-40B4-BE49-F238E27FC236}">
                <a16:creationId xmlns:a16="http://schemas.microsoft.com/office/drawing/2014/main" id="{B353B58F-97C5-4A68-BB7B-2EFCABF35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8194" y="2980813"/>
            <a:ext cx="4317696" cy="2494202"/>
          </a:xfrm>
          <a:prstGeom prst="rect">
            <a:avLst/>
          </a:prstGeom>
          <a:ln>
            <a:solidFill>
              <a:schemeClr val="tx1"/>
            </a:solidFill>
          </a:ln>
        </p:spPr>
      </p:pic>
      <p:cxnSp>
        <p:nvCxnSpPr>
          <p:cNvPr id="12" name="Straight Arrow Connector 11">
            <a:extLst>
              <a:ext uri="{FF2B5EF4-FFF2-40B4-BE49-F238E27FC236}">
                <a16:creationId xmlns:a16="http://schemas.microsoft.com/office/drawing/2014/main" id="{302A4C7F-EF03-4D7E-BA11-112E66E4F64E}"/>
              </a:ext>
            </a:extLst>
          </p:cNvPr>
          <p:cNvCxnSpPr>
            <a:cxnSpLocks/>
          </p:cNvCxnSpPr>
          <p:nvPr/>
        </p:nvCxnSpPr>
        <p:spPr>
          <a:xfrm>
            <a:off x="3283527" y="4034146"/>
            <a:ext cx="36079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41F46C6-9FAD-4E60-BEC8-4E4299A33CDF}"/>
              </a:ext>
            </a:extLst>
          </p:cNvPr>
          <p:cNvSpPr txBox="1"/>
          <p:nvPr/>
        </p:nvSpPr>
        <p:spPr>
          <a:xfrm>
            <a:off x="6891455" y="3642051"/>
            <a:ext cx="3702351" cy="78418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sz="1600" dirty="0"/>
              <a:t>This is all your packages you have created with the help of </a:t>
            </a:r>
            <a:r>
              <a:rPr lang="en-US" sz="1600" b="1" dirty="0"/>
              <a:t>pip.</a:t>
            </a:r>
            <a:r>
              <a:rPr lang="en-US" sz="1600" dirty="0"/>
              <a:t> </a:t>
            </a:r>
          </a:p>
        </p:txBody>
      </p:sp>
    </p:spTree>
    <p:extLst>
      <p:ext uri="{BB962C8B-B14F-4D97-AF65-F5344CB8AC3E}">
        <p14:creationId xmlns:p14="http://schemas.microsoft.com/office/powerpoint/2010/main" val="1098297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2DE0D62-AAD7-4D50-AD06-F7CC05D96117}"/>
              </a:ext>
            </a:extLst>
          </p:cNvPr>
          <p:cNvSpPr>
            <a:spLocks noGrp="1"/>
          </p:cNvSpPr>
          <p:nvPr>
            <p:ph type="ctrTitle"/>
          </p:nvPr>
        </p:nvSpPr>
        <p:spPr>
          <a:xfrm>
            <a:off x="1683171" y="2650434"/>
            <a:ext cx="8825658" cy="1133033"/>
          </a:xfrm>
        </p:spPr>
        <p:txBody>
          <a:bodyPr/>
          <a:lstStyle/>
          <a:p>
            <a:r>
              <a:rPr lang="en-US" sz="7200" dirty="0"/>
              <a:t>Thanks for Reading</a:t>
            </a:r>
          </a:p>
        </p:txBody>
      </p:sp>
      <p:sp>
        <p:nvSpPr>
          <p:cNvPr id="2" name="Slide Number Placeholder 1">
            <a:extLst>
              <a:ext uri="{FF2B5EF4-FFF2-40B4-BE49-F238E27FC236}">
                <a16:creationId xmlns:a16="http://schemas.microsoft.com/office/drawing/2014/main" id="{139E480B-C7EA-408E-8634-B1C2B4707A09}"/>
              </a:ext>
            </a:extLst>
          </p:cNvPr>
          <p:cNvSpPr>
            <a:spLocks noGrp="1"/>
          </p:cNvSpPr>
          <p:nvPr>
            <p:ph type="sldNum" sz="quarter" idx="12"/>
          </p:nvPr>
        </p:nvSpPr>
        <p:spPr/>
        <p:txBody>
          <a:bodyPr/>
          <a:lstStyle/>
          <a:p>
            <a:fld id="{0D6F892B-1791-4F93-8AFD-83813F10F54D}" type="slidenum">
              <a:rPr lang="en-US" smtClean="0"/>
              <a:t>19</a:t>
            </a:fld>
            <a:endParaRPr lang="en-US"/>
          </a:p>
        </p:txBody>
      </p:sp>
    </p:spTree>
    <p:extLst>
      <p:ext uri="{BB962C8B-B14F-4D97-AF65-F5344CB8AC3E}">
        <p14:creationId xmlns:p14="http://schemas.microsoft.com/office/powerpoint/2010/main" val="23344601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576</TotalTime>
  <Words>1196</Words>
  <Application>Microsoft Office PowerPoint</Application>
  <PresentationFormat>Widescreen</PresentationFormat>
  <Paragraphs>137</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Arial Rounded MT Bold</vt:lpstr>
      <vt:lpstr>Calibri</vt:lpstr>
      <vt:lpstr>Century Gothic</vt:lpstr>
      <vt:lpstr>Fira Mono</vt:lpstr>
      <vt:lpstr>Wingdings</vt:lpstr>
      <vt:lpstr>Wingdings 3</vt:lpstr>
      <vt:lpstr>Work Sans</vt:lpstr>
      <vt:lpstr>Ion Boardroom</vt:lpstr>
      <vt:lpstr>Part 2  Django Project &amp; Virtual Environment</vt:lpstr>
      <vt:lpstr>Understanding Django Project</vt:lpstr>
      <vt:lpstr>Understanding Django Project</vt:lpstr>
      <vt:lpstr>Understanding Django Project</vt:lpstr>
      <vt:lpstr>Development Server Changing the Port</vt:lpstr>
      <vt:lpstr>Screen shot of running the project</vt:lpstr>
      <vt:lpstr>Terminate the Server</vt:lpstr>
      <vt:lpstr>What is Virtual Environment?</vt:lpstr>
      <vt:lpstr>How to install Virtual Environment in PC?</vt:lpstr>
      <vt:lpstr>How to make Virtual Environment? Method 1</vt:lpstr>
      <vt:lpstr>How to make Virtual Environment? Method 2</vt:lpstr>
      <vt:lpstr>How to Activate Virtual Environment? Method 1</vt:lpstr>
      <vt:lpstr>How to Activate Virtual Environment? Method 2</vt:lpstr>
      <vt:lpstr>How to Deactivate Virtual Environment?</vt:lpstr>
      <vt:lpstr>How to add “Requirements.txt” file in Virtual Env?</vt:lpstr>
      <vt:lpstr>How to add “Requirements.txt” file in Virtual Env?</vt:lpstr>
      <vt:lpstr>How to install “requirements.txt” in another Env?</vt:lpstr>
      <vt:lpstr>Requirements.txt File</vt:lpstr>
      <vt:lpstr>Thanks for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Babar Ali</dc:creator>
  <cp:lastModifiedBy>Babar Ali</cp:lastModifiedBy>
  <cp:revision>432</cp:revision>
  <dcterms:created xsi:type="dcterms:W3CDTF">2021-12-18T06:39:36Z</dcterms:created>
  <dcterms:modified xsi:type="dcterms:W3CDTF">2022-04-09T20:57:27Z</dcterms:modified>
</cp:coreProperties>
</file>