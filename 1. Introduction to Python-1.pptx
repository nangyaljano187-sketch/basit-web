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12/28/2021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8825658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1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Introduction to Python</a:t>
            </a:r>
            <a:endParaRPr lang="en-US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38419" y="2358887"/>
            <a:ext cx="10590973" cy="372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has become one of the most popular programming languages in the world in recent years. Python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It’s used in everything from machine learning to building </a:t>
            </a:r>
            <a:r>
              <a:rPr lang="en-US" sz="2000" b="1" dirty="0"/>
              <a:t>websites</a:t>
            </a:r>
            <a:r>
              <a:rPr lang="en-US" sz="20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It can be used by developers and non-developers alike.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is a general purpose language, which means it’s designed to be used in a range of </a:t>
            </a:r>
            <a:r>
              <a:rPr lang="en-US" sz="2000" b="1" dirty="0"/>
              <a:t>applications</a:t>
            </a:r>
            <a:r>
              <a:rPr lang="en-US" sz="2000" dirty="0"/>
              <a:t>, including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science</a:t>
            </a:r>
            <a:r>
              <a:rPr lang="en-US" sz="2000" dirty="0"/>
              <a:t>, </a:t>
            </a:r>
            <a:r>
              <a:rPr lang="en-US" sz="2000" b="1" dirty="0"/>
              <a:t>software</a:t>
            </a:r>
            <a:r>
              <a:rPr lang="en-US" sz="2000" dirty="0"/>
              <a:t> and </a:t>
            </a:r>
            <a:r>
              <a:rPr lang="en-US" sz="2000" b="1" dirty="0"/>
              <a:t>web</a:t>
            </a:r>
            <a:r>
              <a:rPr lang="en-US" sz="2000" dirty="0"/>
              <a:t> </a:t>
            </a:r>
            <a:r>
              <a:rPr lang="en-US" sz="2000" b="1" dirty="0"/>
              <a:t>development</a:t>
            </a:r>
            <a:r>
              <a:rPr lang="en-US" sz="2000" dirty="0"/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Introduction to Python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1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73675" y="2411895"/>
            <a:ext cx="10063371" cy="1726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is an </a:t>
            </a:r>
            <a:r>
              <a:rPr lang="en-US" sz="2000" b="1" dirty="0"/>
              <a:t>interpreted</a:t>
            </a:r>
            <a:r>
              <a:rPr lang="en-US" sz="2000" dirty="0"/>
              <a:t>, </a:t>
            </a:r>
            <a:r>
              <a:rPr lang="en-US" sz="2000" b="1" dirty="0"/>
              <a:t>object-oriented</a:t>
            </a:r>
            <a:r>
              <a:rPr lang="en-US" sz="2000" dirty="0"/>
              <a:t>, </a:t>
            </a:r>
            <a:r>
              <a:rPr lang="en-US" sz="2000" b="1" dirty="0"/>
              <a:t>high-level</a:t>
            </a:r>
            <a:r>
              <a:rPr lang="en-US" sz="2000" dirty="0"/>
              <a:t> programming language.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is a computer programming language often used to build </a:t>
            </a:r>
            <a:r>
              <a:rPr lang="en-US" sz="2000" b="1" dirty="0"/>
              <a:t>websites</a:t>
            </a:r>
            <a:r>
              <a:rPr lang="en-US" sz="2000" dirty="0"/>
              <a:t> and </a:t>
            </a:r>
            <a:r>
              <a:rPr lang="en-US" sz="2000" b="1" dirty="0"/>
              <a:t>software</a:t>
            </a:r>
            <a:r>
              <a:rPr lang="en-US" sz="2000" dirty="0"/>
              <a:t>, </a:t>
            </a:r>
            <a:r>
              <a:rPr lang="en-US" sz="2000" b="1" dirty="0"/>
              <a:t>automate</a:t>
            </a:r>
            <a:r>
              <a:rPr lang="en-US" sz="2000" dirty="0"/>
              <a:t> </a:t>
            </a:r>
            <a:r>
              <a:rPr lang="en-US" sz="2000" b="1" dirty="0"/>
              <a:t>tasks</a:t>
            </a:r>
            <a:r>
              <a:rPr lang="en-US" sz="2000" dirty="0"/>
              <a:t>, and conduct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analysis</a:t>
            </a:r>
            <a:r>
              <a:rPr lang="en-US" sz="2000" dirty="0"/>
              <a:t>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B7F51-F784-4186-88AB-A4DAFCB5C53E}"/>
              </a:ext>
            </a:extLst>
          </p:cNvPr>
          <p:cNvSpPr/>
          <p:nvPr/>
        </p:nvSpPr>
        <p:spPr>
          <a:xfrm>
            <a:off x="973675" y="4347489"/>
            <a:ext cx="10352434" cy="1418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Python's simple, easy to learn syntax </a:t>
            </a:r>
            <a:r>
              <a:rPr lang="en-US" sz="2000" b="1" dirty="0"/>
              <a:t>emphasizes</a:t>
            </a:r>
            <a:r>
              <a:rPr lang="en-US" sz="2000" dirty="0"/>
              <a:t> </a:t>
            </a:r>
            <a:r>
              <a:rPr lang="en-US" sz="2000" b="1" dirty="0"/>
              <a:t>readability</a:t>
            </a:r>
            <a:r>
              <a:rPr lang="en-US" sz="2000" dirty="0"/>
              <a:t> and therefore </a:t>
            </a:r>
            <a:r>
              <a:rPr lang="en-US" sz="2000" b="1" dirty="0"/>
              <a:t>reduces</a:t>
            </a:r>
            <a:r>
              <a:rPr lang="en-US" sz="2000" dirty="0"/>
              <a:t> the cost of program </a:t>
            </a:r>
            <a:r>
              <a:rPr lang="en-US" sz="2000" b="1" dirty="0"/>
              <a:t>maintenance</a:t>
            </a:r>
            <a:r>
              <a:rPr lang="en-US" sz="2000" dirty="0"/>
              <a:t>. Python supports modules and packages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119987-52A5-40BD-95EE-B4CEE130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Python?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4B2E-9E4A-46C8-8441-DDE1C65C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47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Interpreter?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1" y="2471879"/>
            <a:ext cx="10224877" cy="188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An interpreter translates code into machine code, instruction by instruction.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The CPU executes each instruction before the interpreter moves on to translate the next instruction interpreted code will show an error as soon as it hits a problem, so it is easier to debug than compiled code.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5A83F9-BD41-4ACE-AE95-CED0A9462375}"/>
              </a:ext>
            </a:extLst>
          </p:cNvPr>
          <p:cNvSpPr/>
          <p:nvPr/>
        </p:nvSpPr>
        <p:spPr>
          <a:xfrm>
            <a:off x="8589443" y="4790253"/>
            <a:ext cx="1946863" cy="1094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33166F-1900-41E4-9E00-D023AAC4A90B}"/>
              </a:ext>
            </a:extLst>
          </p:cNvPr>
          <p:cNvSpPr/>
          <p:nvPr/>
        </p:nvSpPr>
        <p:spPr>
          <a:xfrm>
            <a:off x="1481533" y="4790253"/>
            <a:ext cx="1946863" cy="1094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  <a:endParaRPr lang="en-US" sz="1000" dirty="0"/>
          </a:p>
        </p:txBody>
      </p:sp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C26A9F1B-7156-45C7-98FF-BDD22611BFCF}"/>
              </a:ext>
            </a:extLst>
          </p:cNvPr>
          <p:cNvSpPr/>
          <p:nvPr/>
        </p:nvSpPr>
        <p:spPr>
          <a:xfrm>
            <a:off x="4939276" y="4674684"/>
            <a:ext cx="2313446" cy="1325217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Interpreter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30F9ED1-C7D6-4EE5-A169-5E2EACA92BF3}"/>
              </a:ext>
            </a:extLst>
          </p:cNvPr>
          <p:cNvSpPr/>
          <p:nvPr/>
        </p:nvSpPr>
        <p:spPr>
          <a:xfrm>
            <a:off x="3428396" y="5237901"/>
            <a:ext cx="1510880" cy="24849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087DCA4-E20E-42E3-9791-0A0D0C71619E}"/>
              </a:ext>
            </a:extLst>
          </p:cNvPr>
          <p:cNvSpPr/>
          <p:nvPr/>
        </p:nvSpPr>
        <p:spPr>
          <a:xfrm>
            <a:off x="7252722" y="5237900"/>
            <a:ext cx="1336721" cy="24849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1D5D-B0F9-415B-9C4B-D0C98969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4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Compiler?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0" y="2295217"/>
            <a:ext cx="10224877" cy="234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 compiler is a computer program that translate computer code written in one programming language called source language into another language called target or machine language.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 name “compiler” is primarily used for programs that translate source code from a high level programming language to a lower programming language.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5A83F9-BD41-4ACE-AE95-CED0A9462375}"/>
              </a:ext>
            </a:extLst>
          </p:cNvPr>
          <p:cNvSpPr/>
          <p:nvPr/>
        </p:nvSpPr>
        <p:spPr>
          <a:xfrm>
            <a:off x="9323667" y="5066902"/>
            <a:ext cx="1617593" cy="1094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33166F-1900-41E4-9E00-D023AAC4A90B}"/>
              </a:ext>
            </a:extLst>
          </p:cNvPr>
          <p:cNvSpPr/>
          <p:nvPr/>
        </p:nvSpPr>
        <p:spPr>
          <a:xfrm>
            <a:off x="1154954" y="5042044"/>
            <a:ext cx="1791755" cy="1094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  <a:endParaRPr lang="en-US" sz="1000" dirty="0"/>
          </a:p>
        </p:txBody>
      </p:sp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C26A9F1B-7156-45C7-98FF-BDD22611BFCF}"/>
              </a:ext>
            </a:extLst>
          </p:cNvPr>
          <p:cNvSpPr/>
          <p:nvPr/>
        </p:nvSpPr>
        <p:spPr>
          <a:xfrm>
            <a:off x="3678219" y="5088320"/>
            <a:ext cx="2062350" cy="1069223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Compiler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30F9ED1-C7D6-4EE5-A169-5E2EACA92BF3}"/>
              </a:ext>
            </a:extLst>
          </p:cNvPr>
          <p:cNvSpPr/>
          <p:nvPr/>
        </p:nvSpPr>
        <p:spPr>
          <a:xfrm>
            <a:off x="2942794" y="5489693"/>
            <a:ext cx="735426" cy="24849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087DCA4-E20E-42E3-9791-0A0D0C71619E}"/>
              </a:ext>
            </a:extLst>
          </p:cNvPr>
          <p:cNvSpPr/>
          <p:nvPr/>
        </p:nvSpPr>
        <p:spPr>
          <a:xfrm>
            <a:off x="8550344" y="5517725"/>
            <a:ext cx="770660" cy="23448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71CCB1F1-29F6-4F3D-B1CB-BA68E4B6AF2A}"/>
              </a:ext>
            </a:extLst>
          </p:cNvPr>
          <p:cNvSpPr/>
          <p:nvPr/>
        </p:nvSpPr>
        <p:spPr>
          <a:xfrm>
            <a:off x="6472079" y="5088320"/>
            <a:ext cx="2062350" cy="1069223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10D98A5-5DB2-44EC-9E40-597B6E7B2915}"/>
              </a:ext>
            </a:extLst>
          </p:cNvPr>
          <p:cNvSpPr/>
          <p:nvPr/>
        </p:nvSpPr>
        <p:spPr>
          <a:xfrm>
            <a:off x="5740569" y="5503709"/>
            <a:ext cx="735426" cy="24849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19C8-C25D-41C9-8840-854EE367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819149" y="2358888"/>
            <a:ext cx="10553701" cy="1883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is commonly used for developing </a:t>
            </a:r>
            <a:r>
              <a:rPr lang="en-US" sz="2000" b="1" dirty="0"/>
              <a:t>websites</a:t>
            </a:r>
            <a:r>
              <a:rPr lang="en-US" sz="2000" dirty="0"/>
              <a:t> and </a:t>
            </a:r>
            <a:r>
              <a:rPr lang="en-US" sz="2000" b="1" dirty="0"/>
              <a:t>software</a:t>
            </a:r>
            <a:r>
              <a:rPr lang="en-US" sz="2000" dirty="0"/>
              <a:t>, task </a:t>
            </a:r>
            <a:r>
              <a:rPr lang="en-US" sz="2000" b="1" dirty="0"/>
              <a:t>automation</a:t>
            </a:r>
            <a:r>
              <a:rPr lang="en-US" sz="2000" dirty="0"/>
              <a:t>,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analysis</a:t>
            </a:r>
            <a:r>
              <a:rPr lang="en-US" sz="2000" dirty="0"/>
              <a:t>, and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visualization</a:t>
            </a:r>
            <a:r>
              <a:rPr lang="en-US" sz="2000" dirty="0"/>
              <a:t>. Since it’s relatively easy to learn, Python has been adopted by many non-programmers such as </a:t>
            </a:r>
            <a:r>
              <a:rPr lang="en-US" sz="2000" b="1" dirty="0"/>
              <a:t>accountants</a:t>
            </a:r>
            <a:r>
              <a:rPr lang="en-US" sz="2000" dirty="0"/>
              <a:t> and </a:t>
            </a:r>
            <a:r>
              <a:rPr lang="en-US" sz="2000" b="1" dirty="0"/>
              <a:t>scientists</a:t>
            </a:r>
            <a:r>
              <a:rPr lang="en-US" sz="2000" dirty="0"/>
              <a:t>, for a variety of everyday tasks, like </a:t>
            </a:r>
            <a:r>
              <a:rPr lang="en-US" sz="2000" b="1" dirty="0"/>
              <a:t>organizing</a:t>
            </a:r>
            <a:r>
              <a:rPr lang="en-US" sz="2000" dirty="0"/>
              <a:t> </a:t>
            </a:r>
            <a:r>
              <a:rPr lang="en-US" sz="2000" b="1" dirty="0"/>
              <a:t>finances</a:t>
            </a:r>
            <a:r>
              <a:rPr lang="en-US" sz="2000" dirty="0"/>
              <a:t>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BC1A32-071C-4789-8452-D63E98846252}"/>
              </a:ext>
            </a:extLst>
          </p:cNvPr>
          <p:cNvSpPr/>
          <p:nvPr/>
        </p:nvSpPr>
        <p:spPr>
          <a:xfrm>
            <a:off x="1261442" y="4876801"/>
            <a:ext cx="3101008" cy="8481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Website Development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38E36F-1BDD-41A1-852A-F2B0F2D665DC}"/>
              </a:ext>
            </a:extLst>
          </p:cNvPr>
          <p:cNvSpPr/>
          <p:nvPr/>
        </p:nvSpPr>
        <p:spPr>
          <a:xfrm>
            <a:off x="4915729" y="4876801"/>
            <a:ext cx="2574237" cy="8481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Software Dev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C160EF-5296-4A04-AD03-FCF347D2C40E}"/>
              </a:ext>
            </a:extLst>
          </p:cNvPr>
          <p:cNvSpPr/>
          <p:nvPr/>
        </p:nvSpPr>
        <p:spPr>
          <a:xfrm>
            <a:off x="8043245" y="4876801"/>
            <a:ext cx="3101008" cy="8481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C27DB16-FF30-4184-AE88-04F53551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used for?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C3251-5C4B-4282-BA51-0EA96754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4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35933" y="2438400"/>
            <a:ext cx="10553701" cy="3680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Professionals is used the language to conduct complex statistical calculations, create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visualizations</a:t>
            </a:r>
            <a:r>
              <a:rPr lang="en-US" sz="2000" dirty="0"/>
              <a:t>, build </a:t>
            </a:r>
            <a:r>
              <a:rPr lang="en-US" sz="2000" b="1" dirty="0"/>
              <a:t>machine</a:t>
            </a:r>
            <a:r>
              <a:rPr lang="en-US" sz="2000" dirty="0"/>
              <a:t> </a:t>
            </a:r>
            <a:r>
              <a:rPr lang="en-US" sz="2000" b="1" dirty="0"/>
              <a:t>learning</a:t>
            </a:r>
            <a:r>
              <a:rPr lang="en-US" sz="2000" dirty="0"/>
              <a:t> </a:t>
            </a:r>
            <a:r>
              <a:rPr lang="en-US" sz="2000" b="1" dirty="0"/>
              <a:t>algorithms</a:t>
            </a:r>
            <a:r>
              <a:rPr lang="en-US" sz="2000" dirty="0"/>
              <a:t>, </a:t>
            </a:r>
            <a:r>
              <a:rPr lang="en-US" sz="2000" b="1" dirty="0"/>
              <a:t>manipulate</a:t>
            </a:r>
            <a:r>
              <a:rPr lang="en-US" sz="2000" dirty="0"/>
              <a:t> and </a:t>
            </a:r>
            <a:r>
              <a:rPr lang="en-US" sz="2000" b="1" dirty="0"/>
              <a:t>analyze</a:t>
            </a:r>
            <a:r>
              <a:rPr lang="en-US" sz="2000" dirty="0"/>
              <a:t> </a:t>
            </a:r>
            <a:r>
              <a:rPr lang="en-US" sz="2000" b="1" dirty="0"/>
              <a:t>data</a:t>
            </a:r>
            <a:r>
              <a:rPr lang="en-US" sz="2000" dirty="0"/>
              <a:t>, and complete other data-related tasks.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can build a wide range of different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visualizations</a:t>
            </a:r>
            <a:r>
              <a:rPr lang="en-US" sz="2000" dirty="0"/>
              <a:t>, like </a:t>
            </a:r>
            <a:r>
              <a:rPr lang="en-US" sz="2000" b="1" dirty="0"/>
              <a:t>line</a:t>
            </a:r>
            <a:r>
              <a:rPr lang="en-US" sz="2000" dirty="0"/>
              <a:t> and </a:t>
            </a:r>
            <a:r>
              <a:rPr lang="en-US" sz="2000" b="1" dirty="0"/>
              <a:t>bar</a:t>
            </a:r>
            <a:r>
              <a:rPr lang="en-US" sz="2000" dirty="0"/>
              <a:t> </a:t>
            </a:r>
            <a:r>
              <a:rPr lang="en-US" sz="2000" b="1" dirty="0"/>
              <a:t>graphs</a:t>
            </a:r>
            <a:r>
              <a:rPr lang="en-US" sz="2000" dirty="0"/>
              <a:t>, </a:t>
            </a:r>
            <a:r>
              <a:rPr lang="en-US" sz="2000" b="1" dirty="0"/>
              <a:t>pie</a:t>
            </a:r>
            <a:r>
              <a:rPr lang="en-US" sz="2000" dirty="0"/>
              <a:t> </a:t>
            </a:r>
            <a:r>
              <a:rPr lang="en-US" sz="2000" b="1" dirty="0"/>
              <a:t>charts</a:t>
            </a:r>
            <a:r>
              <a:rPr lang="en-US" sz="2000" dirty="0"/>
              <a:t>, </a:t>
            </a:r>
            <a:r>
              <a:rPr lang="en-US" sz="2000" b="1" dirty="0"/>
              <a:t>histograms</a:t>
            </a:r>
            <a:r>
              <a:rPr lang="en-US" sz="2000" dirty="0"/>
              <a:t>, and </a:t>
            </a:r>
            <a:r>
              <a:rPr lang="en-US" sz="2000" b="1" dirty="0"/>
              <a:t>3D</a:t>
            </a:r>
            <a:r>
              <a:rPr lang="en-US" sz="2000" dirty="0"/>
              <a:t> </a:t>
            </a:r>
            <a:r>
              <a:rPr lang="en-US" sz="2000" b="1" dirty="0"/>
              <a:t>plots</a:t>
            </a:r>
            <a:r>
              <a:rPr lang="en-US" sz="2000" dirty="0"/>
              <a:t>. Python also has a number of </a:t>
            </a:r>
            <a:r>
              <a:rPr lang="en-US" sz="2000" b="1" dirty="0"/>
              <a:t>libraries</a:t>
            </a:r>
            <a:r>
              <a:rPr lang="en-US" sz="2000" dirty="0"/>
              <a:t> that enable coders to write programs for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analysis</a:t>
            </a:r>
            <a:r>
              <a:rPr lang="en-US" sz="2000" dirty="0"/>
              <a:t> and </a:t>
            </a:r>
            <a:r>
              <a:rPr lang="en-US" sz="2000" b="1" dirty="0"/>
              <a:t>machine</a:t>
            </a:r>
            <a:r>
              <a:rPr lang="en-US" sz="2000" dirty="0"/>
              <a:t> </a:t>
            </a:r>
            <a:r>
              <a:rPr lang="en-US" sz="2000" b="1" dirty="0"/>
              <a:t>learning</a:t>
            </a:r>
            <a:r>
              <a:rPr lang="en-US" sz="2000" dirty="0"/>
              <a:t> more quickly and efficiently, like </a:t>
            </a:r>
            <a:r>
              <a:rPr lang="en-US" sz="2000" b="1" dirty="0"/>
              <a:t>TensorFlow</a:t>
            </a:r>
            <a:r>
              <a:rPr lang="en-US" sz="2000" dirty="0"/>
              <a:t> and </a:t>
            </a:r>
            <a:r>
              <a:rPr lang="en-US" sz="2000" b="1" dirty="0" err="1"/>
              <a:t>Keras</a:t>
            </a:r>
            <a:r>
              <a:rPr lang="en-US" sz="2000" dirty="0"/>
              <a:t>.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D6CD45-CCA0-4FB4-A5DB-CFECC4B5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Data Analysis and Machine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0DD32-DD7E-46A9-B214-3B9E785D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2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819149" y="2425148"/>
            <a:ext cx="10553701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is often used to develop the back end of a </a:t>
            </a:r>
            <a:r>
              <a:rPr lang="en-US" sz="2000" b="1" dirty="0"/>
              <a:t>website</a:t>
            </a:r>
            <a:r>
              <a:rPr lang="en-US" sz="2000" dirty="0"/>
              <a:t> or </a:t>
            </a:r>
            <a:r>
              <a:rPr lang="en-US" sz="2000" b="1" dirty="0"/>
              <a:t>application </a:t>
            </a:r>
            <a:r>
              <a:rPr lang="en-US" sz="2000" dirty="0"/>
              <a:t>the parts that a user doesn’t see. Python’s role in web development can include sending data to and from </a:t>
            </a:r>
            <a:r>
              <a:rPr lang="en-US" sz="2000" b="1" dirty="0"/>
              <a:t>servers</a:t>
            </a:r>
            <a:r>
              <a:rPr lang="en-US" sz="2000" dirty="0"/>
              <a:t>, </a:t>
            </a:r>
            <a:r>
              <a:rPr lang="en-US" sz="2000" b="1" dirty="0"/>
              <a:t>processing</a:t>
            </a:r>
            <a:r>
              <a:rPr lang="en-US" sz="2000" dirty="0"/>
              <a:t> data and communicating with </a:t>
            </a:r>
            <a:r>
              <a:rPr lang="en-US" sz="2000" b="1" dirty="0"/>
              <a:t>databases</a:t>
            </a:r>
            <a:r>
              <a:rPr lang="en-US" sz="2000" dirty="0"/>
              <a:t>, </a:t>
            </a:r>
            <a:r>
              <a:rPr lang="en-US" sz="2000" b="1" dirty="0"/>
              <a:t>URL</a:t>
            </a:r>
            <a:r>
              <a:rPr lang="en-US" sz="2000" dirty="0"/>
              <a:t> </a:t>
            </a:r>
            <a:r>
              <a:rPr lang="en-US" sz="2000" b="1" dirty="0"/>
              <a:t>routing</a:t>
            </a:r>
            <a:r>
              <a:rPr lang="en-US" sz="2000" dirty="0"/>
              <a:t>, and </a:t>
            </a:r>
            <a:r>
              <a:rPr lang="en-US" sz="2000" b="1" dirty="0"/>
              <a:t>ensuring</a:t>
            </a:r>
            <a:r>
              <a:rPr lang="en-US" sz="2000" dirty="0"/>
              <a:t> </a:t>
            </a:r>
            <a:r>
              <a:rPr lang="en-US" sz="2000" b="1" dirty="0"/>
              <a:t>security</a:t>
            </a:r>
            <a:r>
              <a:rPr lang="en-US" sz="2000" dirty="0"/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offers several frameworks for web development. Commonly used ones include </a:t>
            </a:r>
            <a:r>
              <a:rPr lang="en-US" sz="2000" b="1" dirty="0"/>
              <a:t>Django</a:t>
            </a:r>
            <a:r>
              <a:rPr lang="en-US" sz="2000" dirty="0"/>
              <a:t> and </a:t>
            </a:r>
            <a:r>
              <a:rPr lang="en-US" sz="2000" b="1" dirty="0"/>
              <a:t>Flask</a:t>
            </a:r>
            <a:r>
              <a:rPr lang="en-US" sz="2000" dirty="0"/>
              <a:t>.</a:t>
            </a:r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8E6DED-706F-4711-AFCD-FB5B7EE8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Web Development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AB47D-DF23-4BC9-A5C3-CD80B8B6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62438" y="1979241"/>
            <a:ext cx="10553701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1) Simple Syntax: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has a </a:t>
            </a:r>
            <a:r>
              <a:rPr lang="en-US" sz="2000" b="1" dirty="0"/>
              <a:t>simple syntax</a:t>
            </a:r>
            <a:r>
              <a:rPr lang="en-US" sz="2000" dirty="0"/>
              <a:t> that mimics natural language, so it’s easier to read and understand. This makes it quicker to build projects, and faster to improve on them.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D9952-A00F-458E-B7AC-7FEA6D2D4C07}"/>
              </a:ext>
            </a:extLst>
          </p:cNvPr>
          <p:cNvSpPr txBox="1"/>
          <p:nvPr/>
        </p:nvSpPr>
        <p:spPr>
          <a:xfrm>
            <a:off x="962438" y="3589380"/>
            <a:ext cx="10553701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2) Versatile: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It’s </a:t>
            </a:r>
            <a:r>
              <a:rPr lang="en-US" sz="2000" b="1" dirty="0"/>
              <a:t>versatile</a:t>
            </a:r>
            <a:r>
              <a:rPr lang="en-US" sz="2000" dirty="0"/>
              <a:t>. Python can be used for many different tasks, from web development to machine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E84E9-06BC-4B2A-B427-2BEA24683CBF}"/>
              </a:ext>
            </a:extLst>
          </p:cNvPr>
          <p:cNvSpPr txBox="1"/>
          <p:nvPr/>
        </p:nvSpPr>
        <p:spPr>
          <a:xfrm>
            <a:off x="962438" y="5199519"/>
            <a:ext cx="10553701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3) Open Source: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It’s </a:t>
            </a:r>
            <a:r>
              <a:rPr lang="en-US" sz="2000" b="1" dirty="0"/>
              <a:t>open source</a:t>
            </a:r>
            <a:r>
              <a:rPr lang="en-US" sz="2000" dirty="0"/>
              <a:t>, which means it’s free to use and distribute, even for commercial purposes.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B22C10-FC75-47B7-BB30-85B0B5F2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Why is Python so popular?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8C242-5507-4FE6-8D2F-CE8A2B57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2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49186" y="2531167"/>
            <a:ext cx="10553701" cy="234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Python 3 </a:t>
            </a:r>
            <a:r>
              <a:rPr lang="en-US" sz="2000" dirty="0"/>
              <a:t>is considered more up-to-date and has overtaken </a:t>
            </a:r>
            <a:r>
              <a:rPr lang="en-US" sz="2000" b="1" dirty="0"/>
              <a:t>Python</a:t>
            </a:r>
            <a:r>
              <a:rPr lang="en-US" sz="2000" dirty="0"/>
              <a:t> </a:t>
            </a:r>
            <a:r>
              <a:rPr lang="en-US" sz="2000" b="1" dirty="0"/>
              <a:t>2</a:t>
            </a:r>
            <a:r>
              <a:rPr lang="en-US" sz="2000" dirty="0"/>
              <a:t> in popularity. </a:t>
            </a:r>
            <a:r>
              <a:rPr lang="en-US" sz="2000" b="1" dirty="0"/>
              <a:t>JetBrains</a:t>
            </a:r>
            <a:r>
              <a:rPr lang="en-US" sz="2000" dirty="0"/>
              <a:t>, a software development company, found that 93 percent of surveyed Python users worked with </a:t>
            </a:r>
            <a:r>
              <a:rPr lang="en-US" sz="2000" b="1" dirty="0"/>
              <a:t>Python 3</a:t>
            </a:r>
            <a:r>
              <a:rPr lang="en-US" sz="2000" dirty="0"/>
              <a:t>. </a:t>
            </a:r>
            <a:r>
              <a:rPr lang="en-US" sz="2000" b="1" dirty="0"/>
              <a:t>Python 2</a:t>
            </a:r>
            <a:r>
              <a:rPr lang="en-US" sz="2000" dirty="0"/>
              <a:t> was </a:t>
            </a:r>
            <a:r>
              <a:rPr lang="en-US" sz="2000" b="1" dirty="0" err="1"/>
              <a:t>sunsetted</a:t>
            </a:r>
            <a:r>
              <a:rPr lang="en-US" sz="2000" dirty="0"/>
              <a:t> in January 2020, which means it will no longer be updated with </a:t>
            </a:r>
            <a:r>
              <a:rPr lang="en-US" sz="2000" b="1" dirty="0"/>
              <a:t>bug</a:t>
            </a:r>
            <a:r>
              <a:rPr lang="en-US" sz="2000" dirty="0"/>
              <a:t> </a:t>
            </a:r>
            <a:r>
              <a:rPr lang="en-US" sz="2000" b="1" dirty="0"/>
              <a:t>fixes</a:t>
            </a:r>
            <a:r>
              <a:rPr lang="en-US" sz="2000" dirty="0"/>
              <a:t>, </a:t>
            </a:r>
            <a:r>
              <a:rPr lang="en-US" sz="2000" b="1" dirty="0"/>
              <a:t>security</a:t>
            </a:r>
            <a:r>
              <a:rPr lang="en-US" sz="2000" dirty="0"/>
              <a:t> </a:t>
            </a:r>
            <a:r>
              <a:rPr lang="en-US" sz="2000" b="1" dirty="0"/>
              <a:t>patches</a:t>
            </a:r>
            <a:r>
              <a:rPr lang="en-US" sz="2000" dirty="0"/>
              <a:t>, or </a:t>
            </a:r>
            <a:r>
              <a:rPr lang="en-US" sz="2000" b="1" dirty="0"/>
              <a:t>new</a:t>
            </a:r>
            <a:r>
              <a:rPr lang="en-US" sz="2000" dirty="0"/>
              <a:t> </a:t>
            </a:r>
            <a:r>
              <a:rPr lang="en-US" sz="2000" b="1" dirty="0"/>
              <a:t>features</a:t>
            </a:r>
            <a:endParaRPr lang="en-US" sz="2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3E145D-7F26-47D2-84D1-0979C323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Should I learn Python 3 or Python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C978-6F18-4355-9405-60AA2DF9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8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22681" y="2234258"/>
            <a:ext cx="10659719" cy="418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Of the hundreds of programming languages out there, Python remains a popular choice among numerous companies and organizations.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Some familiar names that use Python include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Google.</a:t>
            </a:r>
            <a:r>
              <a:rPr lang="en-US" sz="2000" dirty="0"/>
              <a:t>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Facebook.</a:t>
            </a:r>
            <a:r>
              <a:rPr lang="en-US" sz="2000" dirty="0"/>
              <a:t>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Venmo.</a:t>
            </a:r>
            <a:r>
              <a:rPr lang="en-US" sz="2000" dirty="0"/>
              <a:t>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Spotify.</a:t>
            </a:r>
            <a:r>
              <a:rPr lang="en-US" sz="2000" dirty="0"/>
              <a:t> 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Netflix.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Dropbox</a:t>
            </a:r>
            <a:r>
              <a:rPr lang="en-US" sz="2000" dirty="0"/>
              <a:t>. </a:t>
            </a:r>
            <a:endParaRPr lang="en-US" sz="28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F3131-7A59-4E4C-9833-0AC107482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Who used Python?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6ACF4-2DB9-4B71-A334-7A4D2B70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47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31793" y="2251527"/>
            <a:ext cx="10328414" cy="4286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Since python is a general-purpose language, it’s used across a variety of fields and industries. These are just a few job titles that may use Python: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Web Developer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Data analyst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Data scientist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Ethical hacker/penetration tester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Software engineer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Data journalist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Cloud architect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QA engineer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67083E-21A0-4B03-993B-3017FCD9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type of Jobs use Python?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7BCE1E-095A-4498-AA20-C66E4916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29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89</TotalTime>
  <Words>762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Rounded MT Bold</vt:lpstr>
      <vt:lpstr>Calibri</vt:lpstr>
      <vt:lpstr>Century Gothic</vt:lpstr>
      <vt:lpstr>Times New Roman</vt:lpstr>
      <vt:lpstr>Wingdings</vt:lpstr>
      <vt:lpstr>Wingdings 3</vt:lpstr>
      <vt:lpstr>Ion Boardroom</vt:lpstr>
      <vt:lpstr>Part 1  Introduction to Python</vt:lpstr>
      <vt:lpstr>Introduction to Python</vt:lpstr>
      <vt:lpstr>What is Python?</vt:lpstr>
      <vt:lpstr>What is Interpreter?</vt:lpstr>
      <vt:lpstr>What is Compiler?</vt:lpstr>
      <vt:lpstr>What is used for?</vt:lpstr>
      <vt:lpstr>Data Analysis and Machine Learning</vt:lpstr>
      <vt:lpstr>Web Development</vt:lpstr>
      <vt:lpstr>Why is Python so popular?</vt:lpstr>
      <vt:lpstr>Should I learn Python 3 or Python 2</vt:lpstr>
      <vt:lpstr>Who used Python?</vt:lpstr>
      <vt:lpstr>What type of Jobs use Python?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94</cp:revision>
  <dcterms:created xsi:type="dcterms:W3CDTF">2021-12-18T06:39:36Z</dcterms:created>
  <dcterms:modified xsi:type="dcterms:W3CDTF">2021-12-28T10:17:32Z</dcterms:modified>
</cp:coreProperties>
</file>