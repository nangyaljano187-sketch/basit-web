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21"/>
  </p:notesMasterIdLst>
  <p:sldIdLst>
    <p:sldId id="256" r:id="rId2"/>
    <p:sldId id="267" r:id="rId3"/>
    <p:sldId id="273" r:id="rId4"/>
    <p:sldId id="272" r:id="rId5"/>
    <p:sldId id="274" r:id="rId6"/>
    <p:sldId id="278" r:id="rId7"/>
    <p:sldId id="279" r:id="rId8"/>
    <p:sldId id="280" r:id="rId9"/>
    <p:sldId id="281" r:id="rId10"/>
    <p:sldId id="282" r:id="rId11"/>
    <p:sldId id="283" r:id="rId12"/>
    <p:sldId id="275" r:id="rId13"/>
    <p:sldId id="284" r:id="rId14"/>
    <p:sldId id="286" r:id="rId15"/>
    <p:sldId id="287" r:id="rId16"/>
    <p:sldId id="288" r:id="rId17"/>
    <p:sldId id="289" r:id="rId18"/>
    <p:sldId id="290" r:id="rId19"/>
    <p:sldId id="266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291" autoAdjust="0"/>
  </p:normalViewPr>
  <p:slideViewPr>
    <p:cSldViewPr snapToGrid="0">
      <p:cViewPr varScale="1">
        <p:scale>
          <a:sx n="69" d="100"/>
          <a:sy n="69" d="100"/>
        </p:scale>
        <p:origin x="7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6051CE-0B3C-4E09-B5CE-FA4AF85B99C6}" type="datetimeFigureOut">
              <a:rPr lang="en-US" smtClean="0"/>
              <a:t>1/20/2022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DF2706-139D-41F8-9794-2DE00EB5AF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3437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39E653B8-0DCA-41D0-B0D5-7C4AA3E8F572}" type="datetime1">
              <a:rPr lang="en-US" smtClean="0"/>
              <a:t>1/20/2022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812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ED508-44FA-4068-8507-C24FE416B2B7}" type="datetime1">
              <a:rPr lang="en-US" smtClean="0"/>
              <a:t>1/20/2022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25186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7F98C-1143-4CE4-9831-E751227908FA}" type="datetime1">
              <a:rPr lang="en-US" smtClean="0"/>
              <a:t>1/20/2022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56546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DB972-A844-40C3-A535-BC45A04A8F44}" type="datetime1">
              <a:rPr lang="en-US" smtClean="0"/>
              <a:t>1/20/2022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1258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507B2-0B56-4ADD-A9F7-F622ECC728FD}" type="datetime1">
              <a:rPr lang="en-US" smtClean="0"/>
              <a:t>1/20/2022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64453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F3737-1F32-4CA5-A910-795D5C9A4415}" type="datetime1">
              <a:rPr lang="en-US" smtClean="0"/>
              <a:t>1/20/2022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241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9457D-6CCD-4AB5-BFCC-F8F874A4B16F}" type="datetime1">
              <a:rPr lang="en-US" smtClean="0"/>
              <a:t>1/20/2022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49705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1EBDA-21EF-42A8-98A6-3C6CF0F306B5}" type="datetime1">
              <a:rPr lang="en-US" smtClean="0"/>
              <a:t>1/20/2022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85875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9C6AF-2004-4652-9170-C5EC255975BB}" type="datetime1">
              <a:rPr lang="en-US" smtClean="0"/>
              <a:t>1/20/2022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8208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9CD6D-A810-48C1-ABF0-8CF0FD5AA6F5}" type="datetime1">
              <a:rPr lang="en-US" smtClean="0"/>
              <a:t>1/20/2022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09964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3C1AF-EB80-411B-A7B4-7F6CEA8185BE}" type="datetime1">
              <a:rPr lang="en-US" smtClean="0"/>
              <a:t>1/20/2022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63793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ED92F-C966-49E4-9435-CB5D18F02569}" type="datetime1">
              <a:rPr lang="en-US" smtClean="0"/>
              <a:t>1/20/2022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07058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7B539-274B-48C9-BBE8-7527DA8E6251}" type="datetime1">
              <a:rPr lang="en-US" smtClean="0"/>
              <a:t>1/20/2022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33515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96086-AFCD-4697-9A4D-15B0CE803864}" type="datetime1">
              <a:rPr lang="en-US" smtClean="0"/>
              <a:t>1/20/2022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060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3B131-6761-4D4B-BE71-2A809C3E7F41}" type="datetime1">
              <a:rPr lang="en-US" smtClean="0"/>
              <a:t>1/20/2022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00609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AFC47C89-D290-42C9-986C-485B0902C3B0}" type="datetime1">
              <a:rPr lang="en-US" smtClean="0"/>
              <a:t>1/20/2022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70214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A2D65AEE-8A07-4484-A1A6-B473BE7C6B97}" type="datetime1">
              <a:rPr lang="en-US" smtClean="0"/>
              <a:t>1/20/2022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00309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99D1DB40-C741-4A28-A56D-04C115126A45}" type="datetime1">
              <a:rPr lang="en-US" smtClean="0"/>
              <a:t>1/20/2022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0D6F892B-1791-4F93-8AFD-83813F10F5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6904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>
            <a:extLst>
              <a:ext uri="{FF2B5EF4-FFF2-40B4-BE49-F238E27FC236}">
                <a16:creationId xmlns:a16="http://schemas.microsoft.com/office/drawing/2014/main" id="{C75D2F71-C3D9-4A89-ADF7-43E4E7BE06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4" y="1384115"/>
            <a:ext cx="10188907" cy="2677648"/>
          </a:xfrm>
        </p:spPr>
        <p:txBody>
          <a:bodyPr/>
          <a:lstStyle/>
          <a:p>
            <a:r>
              <a:rPr lang="en-US" dirty="0">
                <a:latin typeface="Arial Rounded MT Bold" panose="020F0704030504030204" pitchFamily="34" charset="0"/>
              </a:rPr>
              <a:t>Part 7</a:t>
            </a:r>
            <a:br>
              <a:rPr lang="en-US" dirty="0">
                <a:latin typeface="Arial Rounded MT Bold" panose="020F0704030504030204" pitchFamily="34" charset="0"/>
              </a:rPr>
            </a:br>
            <a:br>
              <a:rPr lang="en-US" sz="4000" dirty="0">
                <a:latin typeface="Arial Rounded MT Bold" panose="020F0704030504030204" pitchFamily="34" charset="0"/>
              </a:rPr>
            </a:br>
            <a:r>
              <a:rPr lang="en-US" sz="4000" dirty="0">
                <a:latin typeface="Arial Rounded MT Bold" panose="020F0704030504030204" pitchFamily="34" charset="0"/>
              </a:rPr>
              <a:t>Introduction to Python Set</a:t>
            </a:r>
            <a:endParaRPr lang="en-US" sz="4800" b="1" dirty="0"/>
          </a:p>
        </p:txBody>
      </p:sp>
      <p:sp>
        <p:nvSpPr>
          <p:cNvPr id="23" name="Subtitle 22">
            <a:extLst>
              <a:ext uri="{FF2B5EF4-FFF2-40B4-BE49-F238E27FC236}">
                <a16:creationId xmlns:a16="http://schemas.microsoft.com/office/drawing/2014/main" id="{7EAC1220-5808-4927-8A48-4FD19D7906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4287049"/>
            <a:ext cx="8825658" cy="430725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Version: 3.o</a:t>
            </a:r>
          </a:p>
          <a:p>
            <a:endParaRPr lang="en-US" sz="2400" dirty="0"/>
          </a:p>
        </p:txBody>
      </p:sp>
      <p:sp>
        <p:nvSpPr>
          <p:cNvPr id="24" name="Subtitle 22">
            <a:extLst>
              <a:ext uri="{FF2B5EF4-FFF2-40B4-BE49-F238E27FC236}">
                <a16:creationId xmlns:a16="http://schemas.microsoft.com/office/drawing/2014/main" id="{EF647C65-2962-495E-8F1A-C5ABE3700C82}"/>
              </a:ext>
            </a:extLst>
          </p:cNvPr>
          <p:cNvSpPr txBox="1">
            <a:spLocks/>
          </p:cNvSpPr>
          <p:nvPr/>
        </p:nvSpPr>
        <p:spPr bwMode="gray">
          <a:xfrm>
            <a:off x="8489743" y="5755393"/>
            <a:ext cx="2981739" cy="4307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 cap="all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solidFill>
                  <a:schemeClr val="bg1"/>
                </a:solidFill>
                <a:latin typeface="+mj-lt"/>
              </a:rPr>
              <a:t>Written by: Babar </a:t>
            </a:r>
            <a:r>
              <a:rPr lang="en-US" sz="2000" b="1" dirty="0" err="1">
                <a:solidFill>
                  <a:schemeClr val="bg1"/>
                </a:solidFill>
                <a:latin typeface="+mj-lt"/>
              </a:rPr>
              <a:t>ali</a:t>
            </a:r>
            <a:r>
              <a:rPr lang="en-US" sz="2000" b="1" dirty="0">
                <a:solidFill>
                  <a:schemeClr val="bg1"/>
                </a:solidFill>
                <a:latin typeface="+mj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A6ABA93-84CF-49A8-8070-44342C1AC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90144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5868CA3-C840-4CA7-B47B-2FDE0375A038}"/>
              </a:ext>
            </a:extLst>
          </p:cNvPr>
          <p:cNvSpPr txBox="1"/>
          <p:nvPr/>
        </p:nvSpPr>
        <p:spPr>
          <a:xfrm>
            <a:off x="1211965" y="2308734"/>
            <a:ext cx="9324341" cy="18802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dirty="0"/>
              <a:t>Sets are used to store multiple items in a single variable.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dirty="0"/>
              <a:t>A set is a collection which is both </a:t>
            </a:r>
            <a:r>
              <a:rPr lang="en-US" sz="2000" b="1" dirty="0"/>
              <a:t>unordered</a:t>
            </a:r>
            <a:r>
              <a:rPr lang="en-US" sz="2000" dirty="0"/>
              <a:t> and </a:t>
            </a:r>
            <a:r>
              <a:rPr lang="en-US" sz="2000" b="1" dirty="0"/>
              <a:t>unindexed</a:t>
            </a:r>
            <a:r>
              <a:rPr lang="en-US" sz="2000" dirty="0"/>
              <a:t>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dirty="0"/>
              <a:t>Don’t allow </a:t>
            </a:r>
            <a:r>
              <a:rPr lang="en-US" sz="2000" b="1" dirty="0"/>
              <a:t>duplicate</a:t>
            </a:r>
            <a:r>
              <a:rPr lang="en-US" sz="2000" dirty="0"/>
              <a:t> members.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dirty="0"/>
              <a:t>Sets are written with </a:t>
            </a:r>
            <a:r>
              <a:rPr lang="en-US" sz="2000" b="1" dirty="0"/>
              <a:t>curly</a:t>
            </a:r>
            <a:r>
              <a:rPr lang="en-US" sz="2000" dirty="0"/>
              <a:t> </a:t>
            </a:r>
            <a:r>
              <a:rPr lang="en-US" sz="2000" b="1" dirty="0"/>
              <a:t>brackets</a:t>
            </a:r>
            <a:r>
              <a:rPr lang="en-US" sz="2000" dirty="0"/>
              <a:t>.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973668"/>
            <a:ext cx="5610896" cy="706964"/>
          </a:xfrm>
        </p:spPr>
        <p:txBody>
          <a:bodyPr/>
          <a:lstStyle/>
          <a:p>
            <a:r>
              <a:rPr lang="en-US" dirty="0"/>
              <a:t>What is Set in Python?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40BC75-4510-4EDB-8A33-817B92CCB526}"/>
              </a:ext>
            </a:extLst>
          </p:cNvPr>
          <p:cNvSpPr txBox="1"/>
          <p:nvPr/>
        </p:nvSpPr>
        <p:spPr>
          <a:xfrm>
            <a:off x="1364972" y="4589570"/>
            <a:ext cx="26769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Creating Set 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681D74E-4DC5-44AB-8A79-B8395F11CB6E}"/>
              </a:ext>
            </a:extLst>
          </p:cNvPr>
          <p:cNvSpPr txBox="1"/>
          <p:nvPr/>
        </p:nvSpPr>
        <p:spPr>
          <a:xfrm>
            <a:off x="1431234" y="5283957"/>
            <a:ext cx="3260036" cy="495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/>
              <a:t>num = </a:t>
            </a:r>
            <a:r>
              <a:rPr lang="en-US" sz="2000" b="1" dirty="0"/>
              <a:t>{</a:t>
            </a:r>
            <a:r>
              <a:rPr lang="en-US" sz="2000" dirty="0"/>
              <a:t>20, 40, 14, 70</a:t>
            </a:r>
            <a:r>
              <a:rPr lang="en-US" sz="2000" b="1" dirty="0"/>
              <a:t>}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2FE4503-AEB0-47CC-9D5F-A8C5F29141AB}"/>
              </a:ext>
            </a:extLst>
          </p:cNvPr>
          <p:cNvSpPr/>
          <p:nvPr/>
        </p:nvSpPr>
        <p:spPr>
          <a:xfrm>
            <a:off x="6442833" y="4589570"/>
            <a:ext cx="1501237" cy="204513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2A4B0F1-5069-4D3F-8D23-32602190BF16}"/>
              </a:ext>
            </a:extLst>
          </p:cNvPr>
          <p:cNvSpPr/>
          <p:nvPr/>
        </p:nvSpPr>
        <p:spPr>
          <a:xfrm>
            <a:off x="6583851" y="4686629"/>
            <a:ext cx="1219200" cy="364605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A591435-4966-4B9A-9B73-4A6C041B04D7}"/>
              </a:ext>
            </a:extLst>
          </p:cNvPr>
          <p:cNvSpPr/>
          <p:nvPr/>
        </p:nvSpPr>
        <p:spPr>
          <a:xfrm>
            <a:off x="6583851" y="5153866"/>
            <a:ext cx="1219200" cy="364605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40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4DDBBDB-98E3-48D3-97D1-0E538CCDE5A8}"/>
              </a:ext>
            </a:extLst>
          </p:cNvPr>
          <p:cNvSpPr/>
          <p:nvPr/>
        </p:nvSpPr>
        <p:spPr>
          <a:xfrm>
            <a:off x="6583851" y="5644746"/>
            <a:ext cx="1219200" cy="364605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14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9736813-793F-4E71-93AF-9826EB56CA7C}"/>
              </a:ext>
            </a:extLst>
          </p:cNvPr>
          <p:cNvSpPr/>
          <p:nvPr/>
        </p:nvSpPr>
        <p:spPr>
          <a:xfrm>
            <a:off x="6583851" y="6091183"/>
            <a:ext cx="1219200" cy="364605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70</a:t>
            </a:r>
          </a:p>
        </p:txBody>
      </p:sp>
      <p:sp>
        <p:nvSpPr>
          <p:cNvPr id="21" name="Title 7">
            <a:extLst>
              <a:ext uri="{FF2B5EF4-FFF2-40B4-BE49-F238E27FC236}">
                <a16:creationId xmlns:a16="http://schemas.microsoft.com/office/drawing/2014/main" id="{F8711ABE-68EF-42C5-9DE5-6590897EF60E}"/>
              </a:ext>
            </a:extLst>
          </p:cNvPr>
          <p:cNvSpPr txBox="1">
            <a:spLocks/>
          </p:cNvSpPr>
          <p:nvPr/>
        </p:nvSpPr>
        <p:spPr bwMode="gray">
          <a:xfrm>
            <a:off x="1367457" y="2080493"/>
            <a:ext cx="5610896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22" name="Title 7">
            <a:extLst>
              <a:ext uri="{FF2B5EF4-FFF2-40B4-BE49-F238E27FC236}">
                <a16:creationId xmlns:a16="http://schemas.microsoft.com/office/drawing/2014/main" id="{6005076B-4A99-4911-80B5-7210A465B55B}"/>
              </a:ext>
            </a:extLst>
          </p:cNvPr>
          <p:cNvSpPr txBox="1">
            <a:spLocks/>
          </p:cNvSpPr>
          <p:nvPr/>
        </p:nvSpPr>
        <p:spPr bwMode="gray">
          <a:xfrm>
            <a:off x="8343486" y="878969"/>
            <a:ext cx="987755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6000" dirty="0"/>
              <a:t>{ }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A267503-892B-4FEB-9BBF-F4980D155F14}"/>
              </a:ext>
            </a:extLst>
          </p:cNvPr>
          <p:cNvSpPr txBox="1"/>
          <p:nvPr/>
        </p:nvSpPr>
        <p:spPr>
          <a:xfrm>
            <a:off x="8257072" y="4890922"/>
            <a:ext cx="2188179" cy="14178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50000"/>
              </a:lnSpc>
              <a:buFont typeface="+mj-lt"/>
              <a:buAutoNum type="arabicParenR"/>
            </a:pPr>
            <a:r>
              <a:rPr lang="en-US" sz="2000" b="1" dirty="0">
                <a:solidFill>
                  <a:srgbClr val="C00000"/>
                </a:solidFill>
              </a:rPr>
              <a:t>Unorder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arenR"/>
            </a:pPr>
            <a:r>
              <a:rPr lang="en-US" sz="2000" b="1" dirty="0">
                <a:solidFill>
                  <a:srgbClr val="C00000"/>
                </a:solidFill>
              </a:rPr>
              <a:t>Unindexed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arenR"/>
            </a:pPr>
            <a:r>
              <a:rPr lang="en-US" sz="2000" b="1" dirty="0">
                <a:solidFill>
                  <a:srgbClr val="C00000"/>
                </a:solidFill>
              </a:rPr>
              <a:t>Unique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4BABA3-7DC6-4944-9E4C-2FF46A6EA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4745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973668"/>
            <a:ext cx="6544558" cy="706964"/>
          </a:xfrm>
        </p:spPr>
        <p:txBody>
          <a:bodyPr/>
          <a:lstStyle/>
          <a:p>
            <a:r>
              <a:rPr lang="en-US" dirty="0"/>
              <a:t>Set in different Data Types</a:t>
            </a:r>
          </a:p>
        </p:txBody>
      </p:sp>
      <p:sp>
        <p:nvSpPr>
          <p:cNvPr id="22" name="Title 7">
            <a:extLst>
              <a:ext uri="{FF2B5EF4-FFF2-40B4-BE49-F238E27FC236}">
                <a16:creationId xmlns:a16="http://schemas.microsoft.com/office/drawing/2014/main" id="{6005076B-4A99-4911-80B5-7210A465B55B}"/>
              </a:ext>
            </a:extLst>
          </p:cNvPr>
          <p:cNvSpPr txBox="1">
            <a:spLocks/>
          </p:cNvSpPr>
          <p:nvPr/>
        </p:nvSpPr>
        <p:spPr bwMode="gray">
          <a:xfrm>
            <a:off x="8343486" y="878969"/>
            <a:ext cx="987755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6000" dirty="0"/>
              <a:t>{ }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85B86B8-5ADD-4EA6-B427-204AA2ED9508}"/>
              </a:ext>
            </a:extLst>
          </p:cNvPr>
          <p:cNvSpPr txBox="1"/>
          <p:nvPr/>
        </p:nvSpPr>
        <p:spPr>
          <a:xfrm>
            <a:off x="1154954" y="2239156"/>
            <a:ext cx="49410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Set in different Data Types :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5B58C18-2021-41D5-BD1B-A798EAC7DB69}"/>
              </a:ext>
            </a:extLst>
          </p:cNvPr>
          <p:cNvSpPr txBox="1"/>
          <p:nvPr/>
        </p:nvSpPr>
        <p:spPr>
          <a:xfrm>
            <a:off x="1154956" y="2700821"/>
            <a:ext cx="10043132" cy="495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/>
              <a:t>Set also support different data types in a single Set.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1C70261-3E6C-4751-A28E-0E4C9085F743}"/>
              </a:ext>
            </a:extLst>
          </p:cNvPr>
          <p:cNvSpPr txBox="1"/>
          <p:nvPr/>
        </p:nvSpPr>
        <p:spPr>
          <a:xfrm>
            <a:off x="1154955" y="3427396"/>
            <a:ext cx="24408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Example :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F30DAA0-ACCD-4036-BBF5-D18AE84FC73B}"/>
              </a:ext>
            </a:extLst>
          </p:cNvPr>
          <p:cNvSpPr/>
          <p:nvPr/>
        </p:nvSpPr>
        <p:spPr>
          <a:xfrm>
            <a:off x="1276709" y="4029080"/>
            <a:ext cx="6727604" cy="2031325"/>
          </a:xfrm>
          <a:prstGeom prst="rect">
            <a:avLst/>
          </a:prstGeom>
          <a:ln>
            <a:solidFill>
              <a:srgbClr val="C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9CDCFE"/>
                </a:solidFill>
                <a:latin typeface="Consolas" panose="020B0609020204030204" pitchFamily="49" charset="0"/>
              </a:rPr>
              <a:t>my_tuple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= {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39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49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"Kamran"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"Yasir"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40.5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3.4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}</a:t>
            </a:r>
          </a:p>
          <a:p>
            <a:endParaRPr lang="en-US" dirty="0">
              <a:solidFill>
                <a:srgbClr val="DCDCAA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DCDCAA"/>
                </a:solidFill>
                <a:latin typeface="Consolas" panose="020B0609020204030204" pitchFamily="49" charset="0"/>
              </a:rPr>
              <a:t>print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9CDCFE"/>
                </a:solidFill>
                <a:latin typeface="Consolas" panose="020B0609020204030204" pitchFamily="49" charset="0"/>
              </a:rPr>
              <a:t>my_tuple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)</a:t>
            </a:r>
          </a:p>
          <a:p>
            <a:endParaRPr lang="en-US" dirty="0">
              <a:solidFill>
                <a:srgbClr val="DCDCAA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DCDCAA"/>
                </a:solidFill>
                <a:latin typeface="Consolas" panose="020B0609020204030204" pitchFamily="49" charset="0"/>
              </a:rPr>
              <a:t>print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DCDCAA"/>
                </a:solidFill>
                <a:latin typeface="Consolas" panose="020B0609020204030204" pitchFamily="49" charset="0"/>
              </a:rPr>
              <a:t>len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9CDCFE"/>
                </a:solidFill>
                <a:latin typeface="Consolas" panose="020B0609020204030204" pitchFamily="49" charset="0"/>
              </a:rPr>
              <a:t>my_tuple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))</a:t>
            </a:r>
          </a:p>
          <a:p>
            <a:endParaRPr lang="en-US" dirty="0">
              <a:solidFill>
                <a:srgbClr val="DCDCAA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DCDCAA"/>
                </a:solidFill>
                <a:latin typeface="Consolas" panose="020B0609020204030204" pitchFamily="49" charset="0"/>
              </a:rPr>
              <a:t>print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4EC9B0"/>
                </a:solidFill>
                <a:latin typeface="Consolas" panose="020B0609020204030204" pitchFamily="49" charset="0"/>
              </a:rPr>
              <a:t>type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9CDCFE"/>
                </a:solidFill>
                <a:latin typeface="Consolas" panose="020B0609020204030204" pitchFamily="49" charset="0"/>
              </a:rPr>
              <a:t>my_tuple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))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949219C-9E42-4949-A63E-22DF34E40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28334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973668"/>
            <a:ext cx="5610896" cy="706964"/>
          </a:xfrm>
        </p:spPr>
        <p:txBody>
          <a:bodyPr/>
          <a:lstStyle/>
          <a:p>
            <a:r>
              <a:rPr lang="en-US" dirty="0"/>
              <a:t>Len() Function in Tuple</a:t>
            </a:r>
          </a:p>
        </p:txBody>
      </p:sp>
      <p:sp>
        <p:nvSpPr>
          <p:cNvPr id="22" name="Title 7">
            <a:extLst>
              <a:ext uri="{FF2B5EF4-FFF2-40B4-BE49-F238E27FC236}">
                <a16:creationId xmlns:a16="http://schemas.microsoft.com/office/drawing/2014/main" id="{6005076B-4A99-4911-80B5-7210A465B55B}"/>
              </a:ext>
            </a:extLst>
          </p:cNvPr>
          <p:cNvSpPr txBox="1">
            <a:spLocks/>
          </p:cNvSpPr>
          <p:nvPr/>
        </p:nvSpPr>
        <p:spPr bwMode="gray">
          <a:xfrm>
            <a:off x="8343486" y="878969"/>
            <a:ext cx="987755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6000" dirty="0"/>
              <a:t>{ }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85B86B8-5ADD-4EA6-B427-204AA2ED9508}"/>
              </a:ext>
            </a:extLst>
          </p:cNvPr>
          <p:cNvSpPr txBox="1"/>
          <p:nvPr/>
        </p:nvSpPr>
        <p:spPr>
          <a:xfrm>
            <a:off x="1154955" y="2239156"/>
            <a:ext cx="24408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Len() Function :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5B58C18-2021-41D5-BD1B-A798EAC7DB69}"/>
              </a:ext>
            </a:extLst>
          </p:cNvPr>
          <p:cNvSpPr txBox="1"/>
          <p:nvPr/>
        </p:nvSpPr>
        <p:spPr>
          <a:xfrm>
            <a:off x="1154956" y="2700821"/>
            <a:ext cx="10043132" cy="495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/>
              <a:t>Length function is used to count the total items of a Tuple.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1C70261-3E6C-4751-A28E-0E4C9085F743}"/>
              </a:ext>
            </a:extLst>
          </p:cNvPr>
          <p:cNvSpPr txBox="1"/>
          <p:nvPr/>
        </p:nvSpPr>
        <p:spPr>
          <a:xfrm>
            <a:off x="1154955" y="3427396"/>
            <a:ext cx="24408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Example :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6D05241-148A-4C14-A29C-460013588D2C}"/>
              </a:ext>
            </a:extLst>
          </p:cNvPr>
          <p:cNvSpPr/>
          <p:nvPr/>
        </p:nvSpPr>
        <p:spPr>
          <a:xfrm>
            <a:off x="1274223" y="5134058"/>
            <a:ext cx="4083667" cy="1477328"/>
          </a:xfrm>
          <a:prstGeom prst="rect">
            <a:avLst/>
          </a:prstGeom>
          <a:ln>
            <a:solidFill>
              <a:srgbClr val="C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pt-BR" dirty="0">
                <a:solidFill>
                  <a:srgbClr val="9CDCFE"/>
                </a:solidFill>
                <a:latin typeface="Consolas" panose="020B0609020204030204" pitchFamily="49" charset="0"/>
              </a:rPr>
              <a:t>num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 = {</a:t>
            </a:r>
            <a:r>
              <a:rPr lang="pt-BR" dirty="0">
                <a:solidFill>
                  <a:srgbClr val="B5CEA8"/>
                </a:solidFill>
                <a:latin typeface="Consolas" panose="020B0609020204030204" pitchFamily="49" charset="0"/>
              </a:rPr>
              <a:t>39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pt-BR" dirty="0">
                <a:solidFill>
                  <a:srgbClr val="B5CEA8"/>
                </a:solidFill>
                <a:latin typeface="Consolas" panose="020B0609020204030204" pitchFamily="49" charset="0"/>
              </a:rPr>
              <a:t>59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pt-BR" dirty="0">
                <a:solidFill>
                  <a:srgbClr val="B5CEA8"/>
                </a:solidFill>
                <a:latin typeface="Consolas" panose="020B0609020204030204" pitchFamily="49" charset="0"/>
              </a:rPr>
              <a:t>45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pt-BR" dirty="0">
                <a:solidFill>
                  <a:srgbClr val="B5CEA8"/>
                </a:solidFill>
                <a:latin typeface="Consolas" panose="020B0609020204030204" pitchFamily="49" charset="0"/>
              </a:rPr>
              <a:t>23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pt-BR" dirty="0">
                <a:solidFill>
                  <a:srgbClr val="B5CEA8"/>
                </a:solidFill>
                <a:latin typeface="Consolas" panose="020B0609020204030204" pitchFamily="49" charset="0"/>
              </a:rPr>
              <a:t>23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}</a:t>
            </a:r>
          </a:p>
          <a:p>
            <a:endParaRPr lang="pt-BR" dirty="0">
              <a:solidFill>
                <a:srgbClr val="9CDCFE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9CDCFE"/>
                </a:solidFill>
                <a:latin typeface="Consolas" panose="020B0609020204030204" pitchFamily="49" charset="0"/>
              </a:rPr>
              <a:t>count_num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pt-BR" dirty="0">
                <a:solidFill>
                  <a:srgbClr val="DCDCAA"/>
                </a:solidFill>
                <a:latin typeface="Consolas" panose="020B0609020204030204" pitchFamily="49" charset="0"/>
              </a:rPr>
              <a:t>len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9CDCFE"/>
                </a:solidFill>
                <a:latin typeface="Consolas" panose="020B0609020204030204" pitchFamily="49" charset="0"/>
              </a:rPr>
              <a:t>num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)</a:t>
            </a:r>
          </a:p>
          <a:p>
            <a:endParaRPr lang="pt-BR" dirty="0">
              <a:solidFill>
                <a:srgbClr val="DCDCAA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DCDCAA"/>
                </a:solidFill>
                <a:latin typeface="Consolas" panose="020B0609020204030204" pitchFamily="49" charset="0"/>
              </a:rPr>
              <a:t>print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9CDCFE"/>
                </a:solidFill>
                <a:latin typeface="Consolas" panose="020B0609020204030204" pitchFamily="49" charset="0"/>
              </a:rPr>
              <a:t>count_num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)</a:t>
            </a:r>
            <a:endParaRPr lang="pt-BR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C52818A-33EE-46F8-A38B-E745CB4488F2}"/>
              </a:ext>
            </a:extLst>
          </p:cNvPr>
          <p:cNvSpPr/>
          <p:nvPr/>
        </p:nvSpPr>
        <p:spPr>
          <a:xfrm>
            <a:off x="1274223" y="4007623"/>
            <a:ext cx="4083667" cy="923330"/>
          </a:xfrm>
          <a:prstGeom prst="rect">
            <a:avLst/>
          </a:prstGeom>
          <a:ln>
            <a:solidFill>
              <a:srgbClr val="C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pt-BR" dirty="0">
                <a:solidFill>
                  <a:srgbClr val="9CDCFE"/>
                </a:solidFill>
                <a:latin typeface="Consolas" panose="020B0609020204030204" pitchFamily="49" charset="0"/>
              </a:rPr>
              <a:t>num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 = {</a:t>
            </a:r>
            <a:r>
              <a:rPr lang="pt-BR" dirty="0">
                <a:solidFill>
                  <a:srgbClr val="B5CEA8"/>
                </a:solidFill>
                <a:latin typeface="Consolas" panose="020B0609020204030204" pitchFamily="49" charset="0"/>
              </a:rPr>
              <a:t>39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pt-BR" dirty="0">
                <a:solidFill>
                  <a:srgbClr val="B5CEA8"/>
                </a:solidFill>
                <a:latin typeface="Consolas" panose="020B0609020204030204" pitchFamily="49" charset="0"/>
              </a:rPr>
              <a:t>59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pt-BR" dirty="0">
                <a:solidFill>
                  <a:srgbClr val="B5CEA8"/>
                </a:solidFill>
                <a:latin typeface="Consolas" panose="020B0609020204030204" pitchFamily="49" charset="0"/>
              </a:rPr>
              <a:t>45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pt-BR" dirty="0">
                <a:solidFill>
                  <a:srgbClr val="B5CEA8"/>
                </a:solidFill>
                <a:latin typeface="Consolas" panose="020B0609020204030204" pitchFamily="49" charset="0"/>
              </a:rPr>
              <a:t>23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pt-BR" dirty="0">
                <a:solidFill>
                  <a:srgbClr val="B5CEA8"/>
                </a:solidFill>
                <a:latin typeface="Consolas" panose="020B0609020204030204" pitchFamily="49" charset="0"/>
              </a:rPr>
              <a:t>23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}</a:t>
            </a:r>
          </a:p>
          <a:p>
            <a:endParaRPr lang="pt-BR" dirty="0">
              <a:solidFill>
                <a:srgbClr val="DCDCAA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DCDCAA"/>
                </a:solidFill>
                <a:latin typeface="Consolas" panose="020B0609020204030204" pitchFamily="49" charset="0"/>
              </a:rPr>
              <a:t>print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DCDCAA"/>
                </a:solidFill>
                <a:latin typeface="Consolas" panose="020B0609020204030204" pitchFamily="49" charset="0"/>
              </a:rPr>
              <a:t>len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9CDCFE"/>
                </a:solidFill>
                <a:latin typeface="Consolas" panose="020B0609020204030204" pitchFamily="49" charset="0"/>
              </a:rPr>
              <a:t>num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))</a:t>
            </a:r>
            <a:endParaRPr lang="pt-BR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Arrow: Chevron 5">
            <a:extLst>
              <a:ext uri="{FF2B5EF4-FFF2-40B4-BE49-F238E27FC236}">
                <a16:creationId xmlns:a16="http://schemas.microsoft.com/office/drawing/2014/main" id="{3F3823B3-5A13-4882-942F-A3BD32E77C85}"/>
              </a:ext>
            </a:extLst>
          </p:cNvPr>
          <p:cNvSpPr/>
          <p:nvPr/>
        </p:nvSpPr>
        <p:spPr>
          <a:xfrm>
            <a:off x="5291630" y="4484955"/>
            <a:ext cx="1311965" cy="1334260"/>
          </a:xfrm>
          <a:prstGeom prst="chevron">
            <a:avLst>
              <a:gd name="adj" fmla="val 8636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0A7EDF7-7A57-431F-BD23-E0BD9D8A2DA1}"/>
              </a:ext>
            </a:extLst>
          </p:cNvPr>
          <p:cNvSpPr txBox="1"/>
          <p:nvPr/>
        </p:nvSpPr>
        <p:spPr>
          <a:xfrm>
            <a:off x="6603595" y="4831695"/>
            <a:ext cx="1642495" cy="495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/>
              <a:t>as you wish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4977C92-61DA-4202-8A64-07E3BA68D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0072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973668"/>
            <a:ext cx="5610896" cy="706964"/>
          </a:xfrm>
        </p:spPr>
        <p:txBody>
          <a:bodyPr/>
          <a:lstStyle/>
          <a:p>
            <a:r>
              <a:rPr lang="en-US" dirty="0"/>
              <a:t>Insert Function</a:t>
            </a:r>
          </a:p>
        </p:txBody>
      </p:sp>
      <p:sp>
        <p:nvSpPr>
          <p:cNvPr id="22" name="Title 7">
            <a:extLst>
              <a:ext uri="{FF2B5EF4-FFF2-40B4-BE49-F238E27FC236}">
                <a16:creationId xmlns:a16="http://schemas.microsoft.com/office/drawing/2014/main" id="{6005076B-4A99-4911-80B5-7210A465B55B}"/>
              </a:ext>
            </a:extLst>
          </p:cNvPr>
          <p:cNvSpPr txBox="1">
            <a:spLocks/>
          </p:cNvSpPr>
          <p:nvPr/>
        </p:nvSpPr>
        <p:spPr bwMode="gray">
          <a:xfrm>
            <a:off x="8343486" y="878969"/>
            <a:ext cx="987755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6000" dirty="0"/>
              <a:t>{ }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85B86B8-5ADD-4EA6-B427-204AA2ED9508}"/>
              </a:ext>
            </a:extLst>
          </p:cNvPr>
          <p:cNvSpPr txBox="1"/>
          <p:nvPr/>
        </p:nvSpPr>
        <p:spPr>
          <a:xfrm>
            <a:off x="1154954" y="2239156"/>
            <a:ext cx="51133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Insert() function :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5B58C18-2021-41D5-BD1B-A798EAC7DB69}"/>
              </a:ext>
            </a:extLst>
          </p:cNvPr>
          <p:cNvSpPr txBox="1"/>
          <p:nvPr/>
        </p:nvSpPr>
        <p:spPr>
          <a:xfrm>
            <a:off x="3805391" y="3564896"/>
            <a:ext cx="3708592" cy="737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2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Not Work In Set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51C421-7906-4016-B9D5-9F50E46CC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29397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6412037" cy="706964"/>
          </a:xfrm>
        </p:spPr>
        <p:txBody>
          <a:bodyPr/>
          <a:lstStyle/>
          <a:p>
            <a:r>
              <a:rPr lang="en-US" dirty="0"/>
              <a:t>Accessing Items in a Set</a:t>
            </a:r>
          </a:p>
        </p:txBody>
      </p:sp>
      <p:sp>
        <p:nvSpPr>
          <p:cNvPr id="22" name="Title 7">
            <a:extLst>
              <a:ext uri="{FF2B5EF4-FFF2-40B4-BE49-F238E27FC236}">
                <a16:creationId xmlns:a16="http://schemas.microsoft.com/office/drawing/2014/main" id="{6005076B-4A99-4911-80B5-7210A465B55B}"/>
              </a:ext>
            </a:extLst>
          </p:cNvPr>
          <p:cNvSpPr txBox="1">
            <a:spLocks/>
          </p:cNvSpPr>
          <p:nvPr/>
        </p:nvSpPr>
        <p:spPr bwMode="gray">
          <a:xfrm>
            <a:off x="8343486" y="878969"/>
            <a:ext cx="987755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6000" dirty="0"/>
              <a:t>{ }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85B86B8-5ADD-4EA6-B427-204AA2ED9508}"/>
              </a:ext>
            </a:extLst>
          </p:cNvPr>
          <p:cNvSpPr txBox="1"/>
          <p:nvPr/>
        </p:nvSpPr>
        <p:spPr>
          <a:xfrm>
            <a:off x="1154954" y="2239156"/>
            <a:ext cx="51133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Set Items Access :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5B58C18-2021-41D5-BD1B-A798EAC7DB69}"/>
              </a:ext>
            </a:extLst>
          </p:cNvPr>
          <p:cNvSpPr txBox="1"/>
          <p:nvPr/>
        </p:nvSpPr>
        <p:spPr>
          <a:xfrm>
            <a:off x="1154955" y="2753829"/>
            <a:ext cx="10084277" cy="1418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2000" dirty="0"/>
              <a:t>You cannot access items in a set by referring to an index or a key.</a:t>
            </a:r>
          </a:p>
          <a:p>
            <a:pPr marL="342900" lvl="0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2000" dirty="0"/>
              <a:t>But you can loop through the set items using a for loop, or ask if a specified value is present in a set, by using the in keyword.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185EA9A-ED68-433C-B747-B7C005F8BE00}"/>
              </a:ext>
            </a:extLst>
          </p:cNvPr>
          <p:cNvSpPr txBox="1"/>
          <p:nvPr/>
        </p:nvSpPr>
        <p:spPr>
          <a:xfrm>
            <a:off x="4241704" y="4576689"/>
            <a:ext cx="3708592" cy="737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2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Not Work In Set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8B9A8A9-4107-418E-B0C0-DB2EA4B5B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37238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973668"/>
            <a:ext cx="5610896" cy="706964"/>
          </a:xfrm>
        </p:spPr>
        <p:txBody>
          <a:bodyPr/>
          <a:lstStyle/>
          <a:p>
            <a:r>
              <a:rPr lang="en-US" dirty="0"/>
              <a:t>Using Negative Indexes</a:t>
            </a:r>
          </a:p>
        </p:txBody>
      </p:sp>
      <p:sp>
        <p:nvSpPr>
          <p:cNvPr id="22" name="Title 7">
            <a:extLst>
              <a:ext uri="{FF2B5EF4-FFF2-40B4-BE49-F238E27FC236}">
                <a16:creationId xmlns:a16="http://schemas.microsoft.com/office/drawing/2014/main" id="{6005076B-4A99-4911-80B5-7210A465B55B}"/>
              </a:ext>
            </a:extLst>
          </p:cNvPr>
          <p:cNvSpPr txBox="1">
            <a:spLocks/>
          </p:cNvSpPr>
          <p:nvPr/>
        </p:nvSpPr>
        <p:spPr bwMode="gray">
          <a:xfrm>
            <a:off x="8343486" y="878969"/>
            <a:ext cx="987755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6000" dirty="0"/>
              <a:t>{ }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85B86B8-5ADD-4EA6-B427-204AA2ED9508}"/>
              </a:ext>
            </a:extLst>
          </p:cNvPr>
          <p:cNvSpPr txBox="1"/>
          <p:nvPr/>
        </p:nvSpPr>
        <p:spPr>
          <a:xfrm>
            <a:off x="1154954" y="2239156"/>
            <a:ext cx="51133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Negative Indexes :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E4E6E80-2FD3-4C5A-BC64-771A631FDAE1}"/>
              </a:ext>
            </a:extLst>
          </p:cNvPr>
          <p:cNvSpPr txBox="1"/>
          <p:nvPr/>
        </p:nvSpPr>
        <p:spPr>
          <a:xfrm>
            <a:off x="4241704" y="3622532"/>
            <a:ext cx="3708592" cy="737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2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Not Work In Set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F94DE43-A8C5-4F03-B071-8298547ED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43109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973668"/>
            <a:ext cx="5610896" cy="706964"/>
          </a:xfrm>
        </p:spPr>
        <p:txBody>
          <a:bodyPr/>
          <a:lstStyle/>
          <a:p>
            <a:r>
              <a:rPr lang="en-US" dirty="0"/>
              <a:t>Range using “:”</a:t>
            </a:r>
          </a:p>
        </p:txBody>
      </p:sp>
      <p:sp>
        <p:nvSpPr>
          <p:cNvPr id="22" name="Title 7">
            <a:extLst>
              <a:ext uri="{FF2B5EF4-FFF2-40B4-BE49-F238E27FC236}">
                <a16:creationId xmlns:a16="http://schemas.microsoft.com/office/drawing/2014/main" id="{6005076B-4A99-4911-80B5-7210A465B55B}"/>
              </a:ext>
            </a:extLst>
          </p:cNvPr>
          <p:cNvSpPr txBox="1">
            <a:spLocks/>
          </p:cNvSpPr>
          <p:nvPr/>
        </p:nvSpPr>
        <p:spPr bwMode="gray">
          <a:xfrm>
            <a:off x="8343486" y="878969"/>
            <a:ext cx="987755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6000" dirty="0"/>
              <a:t>{ }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85B86B8-5ADD-4EA6-B427-204AA2ED9508}"/>
              </a:ext>
            </a:extLst>
          </p:cNvPr>
          <p:cNvSpPr txBox="1"/>
          <p:nvPr/>
        </p:nvSpPr>
        <p:spPr>
          <a:xfrm>
            <a:off x="1154954" y="2239156"/>
            <a:ext cx="51133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Range Using “:”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0232659-2C9F-4840-8A58-818F942D657F}"/>
              </a:ext>
            </a:extLst>
          </p:cNvPr>
          <p:cNvSpPr txBox="1"/>
          <p:nvPr/>
        </p:nvSpPr>
        <p:spPr>
          <a:xfrm>
            <a:off x="4241704" y="3582776"/>
            <a:ext cx="3708592" cy="737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2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Not Work In Set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05F5296-65C2-4135-AD59-FAAF5C459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59652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973668"/>
            <a:ext cx="6266262" cy="706964"/>
          </a:xfrm>
        </p:spPr>
        <p:txBody>
          <a:bodyPr/>
          <a:lstStyle/>
          <a:p>
            <a:r>
              <a:rPr lang="en-US" dirty="0"/>
              <a:t>Change Item Value in List</a:t>
            </a:r>
          </a:p>
        </p:txBody>
      </p:sp>
      <p:sp>
        <p:nvSpPr>
          <p:cNvPr id="22" name="Title 7">
            <a:extLst>
              <a:ext uri="{FF2B5EF4-FFF2-40B4-BE49-F238E27FC236}">
                <a16:creationId xmlns:a16="http://schemas.microsoft.com/office/drawing/2014/main" id="{6005076B-4A99-4911-80B5-7210A465B55B}"/>
              </a:ext>
            </a:extLst>
          </p:cNvPr>
          <p:cNvSpPr txBox="1">
            <a:spLocks/>
          </p:cNvSpPr>
          <p:nvPr/>
        </p:nvSpPr>
        <p:spPr bwMode="gray">
          <a:xfrm>
            <a:off x="8343486" y="878969"/>
            <a:ext cx="987755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6000" dirty="0"/>
              <a:t>{ }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85B86B8-5ADD-4EA6-B427-204AA2ED9508}"/>
              </a:ext>
            </a:extLst>
          </p:cNvPr>
          <p:cNvSpPr txBox="1"/>
          <p:nvPr/>
        </p:nvSpPr>
        <p:spPr>
          <a:xfrm>
            <a:off x="1154954" y="2239156"/>
            <a:ext cx="51133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List Change Value :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298612C-B9FC-4FD1-B0A8-4AA8033CAF0C}"/>
              </a:ext>
            </a:extLst>
          </p:cNvPr>
          <p:cNvSpPr txBox="1"/>
          <p:nvPr/>
        </p:nvSpPr>
        <p:spPr>
          <a:xfrm>
            <a:off x="3805391" y="3564896"/>
            <a:ext cx="3708592" cy="737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2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Not Work In Tuple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DE052CD-A03C-4E6D-9F7E-17C55FD37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28805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973668"/>
            <a:ext cx="6266262" cy="706964"/>
          </a:xfrm>
        </p:spPr>
        <p:txBody>
          <a:bodyPr/>
          <a:lstStyle/>
          <a:p>
            <a:r>
              <a:rPr lang="en-US" dirty="0"/>
              <a:t>Append() Function</a:t>
            </a:r>
          </a:p>
        </p:txBody>
      </p:sp>
      <p:sp>
        <p:nvSpPr>
          <p:cNvPr id="22" name="Title 7">
            <a:extLst>
              <a:ext uri="{FF2B5EF4-FFF2-40B4-BE49-F238E27FC236}">
                <a16:creationId xmlns:a16="http://schemas.microsoft.com/office/drawing/2014/main" id="{6005076B-4A99-4911-80B5-7210A465B55B}"/>
              </a:ext>
            </a:extLst>
          </p:cNvPr>
          <p:cNvSpPr txBox="1">
            <a:spLocks/>
          </p:cNvSpPr>
          <p:nvPr/>
        </p:nvSpPr>
        <p:spPr bwMode="gray">
          <a:xfrm>
            <a:off x="8343486" y="878969"/>
            <a:ext cx="987755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6000" dirty="0"/>
              <a:t>{ }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85B86B8-5ADD-4EA6-B427-204AA2ED9508}"/>
              </a:ext>
            </a:extLst>
          </p:cNvPr>
          <p:cNvSpPr txBox="1"/>
          <p:nvPr/>
        </p:nvSpPr>
        <p:spPr>
          <a:xfrm>
            <a:off x="1154954" y="2239156"/>
            <a:ext cx="51133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Append() Function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C214F8-0065-4341-B42B-F38523B782AE}"/>
              </a:ext>
            </a:extLst>
          </p:cNvPr>
          <p:cNvSpPr txBox="1"/>
          <p:nvPr/>
        </p:nvSpPr>
        <p:spPr>
          <a:xfrm>
            <a:off x="3805391" y="3564896"/>
            <a:ext cx="3708592" cy="737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2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Not Work In Tuple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0632FA1-E6DD-405D-87BA-CF9BC0116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99164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973668"/>
            <a:ext cx="6266262" cy="706964"/>
          </a:xfrm>
        </p:spPr>
        <p:txBody>
          <a:bodyPr/>
          <a:lstStyle/>
          <a:p>
            <a:r>
              <a:rPr lang="en-US" dirty="0"/>
              <a:t>Pop() Function</a:t>
            </a:r>
          </a:p>
        </p:txBody>
      </p:sp>
      <p:sp>
        <p:nvSpPr>
          <p:cNvPr id="22" name="Title 7">
            <a:extLst>
              <a:ext uri="{FF2B5EF4-FFF2-40B4-BE49-F238E27FC236}">
                <a16:creationId xmlns:a16="http://schemas.microsoft.com/office/drawing/2014/main" id="{6005076B-4A99-4911-80B5-7210A465B55B}"/>
              </a:ext>
            </a:extLst>
          </p:cNvPr>
          <p:cNvSpPr txBox="1">
            <a:spLocks/>
          </p:cNvSpPr>
          <p:nvPr/>
        </p:nvSpPr>
        <p:spPr bwMode="gray">
          <a:xfrm>
            <a:off x="8343486" y="878969"/>
            <a:ext cx="987755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6000" dirty="0"/>
              <a:t>{ }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85B86B8-5ADD-4EA6-B427-204AA2ED9508}"/>
              </a:ext>
            </a:extLst>
          </p:cNvPr>
          <p:cNvSpPr txBox="1"/>
          <p:nvPr/>
        </p:nvSpPr>
        <p:spPr>
          <a:xfrm>
            <a:off x="1154954" y="2239156"/>
            <a:ext cx="51133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Pop Function :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65DAC9C-9516-4E85-81A2-CD86CD12B6B8}"/>
              </a:ext>
            </a:extLst>
          </p:cNvPr>
          <p:cNvSpPr txBox="1"/>
          <p:nvPr/>
        </p:nvSpPr>
        <p:spPr>
          <a:xfrm>
            <a:off x="3805391" y="3564896"/>
            <a:ext cx="3708592" cy="737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2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Not Work In Tuple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933B094-B852-443C-B037-3E294C6E6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18601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973668"/>
            <a:ext cx="5610896" cy="706964"/>
          </a:xfrm>
        </p:spPr>
        <p:txBody>
          <a:bodyPr/>
          <a:lstStyle/>
          <a:p>
            <a:r>
              <a:rPr lang="en-US" dirty="0"/>
              <a:t>Pop() Function by Index</a:t>
            </a:r>
          </a:p>
        </p:txBody>
      </p:sp>
      <p:sp>
        <p:nvSpPr>
          <p:cNvPr id="22" name="Title 7">
            <a:extLst>
              <a:ext uri="{FF2B5EF4-FFF2-40B4-BE49-F238E27FC236}">
                <a16:creationId xmlns:a16="http://schemas.microsoft.com/office/drawing/2014/main" id="{6005076B-4A99-4911-80B5-7210A465B55B}"/>
              </a:ext>
            </a:extLst>
          </p:cNvPr>
          <p:cNvSpPr txBox="1">
            <a:spLocks/>
          </p:cNvSpPr>
          <p:nvPr/>
        </p:nvSpPr>
        <p:spPr bwMode="gray">
          <a:xfrm>
            <a:off x="8343486" y="878969"/>
            <a:ext cx="987755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6000" dirty="0"/>
              <a:t>{ }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85B86B8-5ADD-4EA6-B427-204AA2ED9508}"/>
              </a:ext>
            </a:extLst>
          </p:cNvPr>
          <p:cNvSpPr txBox="1"/>
          <p:nvPr/>
        </p:nvSpPr>
        <p:spPr>
          <a:xfrm>
            <a:off x="1154954" y="2239156"/>
            <a:ext cx="51133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Pop() function :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A4192F0-D5E7-4482-AFF7-007C25F12242}"/>
              </a:ext>
            </a:extLst>
          </p:cNvPr>
          <p:cNvSpPr txBox="1"/>
          <p:nvPr/>
        </p:nvSpPr>
        <p:spPr>
          <a:xfrm>
            <a:off x="3805391" y="3564896"/>
            <a:ext cx="3708592" cy="737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2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Not Work In Tuple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C4CA189-F05C-43DC-8A8E-05C7F47B1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81485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973668"/>
            <a:ext cx="5610896" cy="706964"/>
          </a:xfrm>
        </p:spPr>
        <p:txBody>
          <a:bodyPr/>
          <a:lstStyle/>
          <a:p>
            <a:r>
              <a:rPr lang="en-US" dirty="0"/>
              <a:t>Extend() Function</a:t>
            </a:r>
          </a:p>
        </p:txBody>
      </p:sp>
      <p:sp>
        <p:nvSpPr>
          <p:cNvPr id="22" name="Title 7">
            <a:extLst>
              <a:ext uri="{FF2B5EF4-FFF2-40B4-BE49-F238E27FC236}">
                <a16:creationId xmlns:a16="http://schemas.microsoft.com/office/drawing/2014/main" id="{6005076B-4A99-4911-80B5-7210A465B55B}"/>
              </a:ext>
            </a:extLst>
          </p:cNvPr>
          <p:cNvSpPr txBox="1">
            <a:spLocks/>
          </p:cNvSpPr>
          <p:nvPr/>
        </p:nvSpPr>
        <p:spPr bwMode="gray">
          <a:xfrm>
            <a:off x="8343486" y="878969"/>
            <a:ext cx="987755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6000" dirty="0"/>
              <a:t>{ }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85B86B8-5ADD-4EA6-B427-204AA2ED9508}"/>
              </a:ext>
            </a:extLst>
          </p:cNvPr>
          <p:cNvSpPr txBox="1"/>
          <p:nvPr/>
        </p:nvSpPr>
        <p:spPr>
          <a:xfrm>
            <a:off x="1154954" y="2239156"/>
            <a:ext cx="51133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Extend() Method 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EF3CFC-C784-4D37-80C5-88AAD855D1D9}"/>
              </a:ext>
            </a:extLst>
          </p:cNvPr>
          <p:cNvSpPr txBox="1"/>
          <p:nvPr/>
        </p:nvSpPr>
        <p:spPr>
          <a:xfrm>
            <a:off x="3805391" y="3564896"/>
            <a:ext cx="3708592" cy="737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2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Not Work In Tuple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CB35907-B9AE-45F8-959E-2F6AD5A87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28801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973668"/>
            <a:ext cx="5610896" cy="706964"/>
          </a:xfrm>
        </p:spPr>
        <p:txBody>
          <a:bodyPr/>
          <a:lstStyle/>
          <a:p>
            <a:r>
              <a:rPr lang="en-US" dirty="0"/>
              <a:t>Loop Through a Set</a:t>
            </a:r>
          </a:p>
        </p:txBody>
      </p:sp>
      <p:sp>
        <p:nvSpPr>
          <p:cNvPr id="22" name="Title 7">
            <a:extLst>
              <a:ext uri="{FF2B5EF4-FFF2-40B4-BE49-F238E27FC236}">
                <a16:creationId xmlns:a16="http://schemas.microsoft.com/office/drawing/2014/main" id="{6005076B-4A99-4911-80B5-7210A465B55B}"/>
              </a:ext>
            </a:extLst>
          </p:cNvPr>
          <p:cNvSpPr txBox="1">
            <a:spLocks/>
          </p:cNvSpPr>
          <p:nvPr/>
        </p:nvSpPr>
        <p:spPr bwMode="gray">
          <a:xfrm>
            <a:off x="8343486" y="878969"/>
            <a:ext cx="987755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6000" dirty="0"/>
              <a:t>{ }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85B86B8-5ADD-4EA6-B427-204AA2ED9508}"/>
              </a:ext>
            </a:extLst>
          </p:cNvPr>
          <p:cNvSpPr txBox="1"/>
          <p:nvPr/>
        </p:nvSpPr>
        <p:spPr>
          <a:xfrm>
            <a:off x="1154954" y="2239156"/>
            <a:ext cx="51133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Loop Through a Set :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5B58C18-2021-41D5-BD1B-A798EAC7DB69}"/>
              </a:ext>
            </a:extLst>
          </p:cNvPr>
          <p:cNvSpPr txBox="1"/>
          <p:nvPr/>
        </p:nvSpPr>
        <p:spPr>
          <a:xfrm>
            <a:off x="1154955" y="2700821"/>
            <a:ext cx="10225296" cy="495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/>
              <a:t>You can loop through the Set items by using a for loop.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1C70261-3E6C-4751-A28E-0E4C9085F743}"/>
              </a:ext>
            </a:extLst>
          </p:cNvPr>
          <p:cNvSpPr txBox="1"/>
          <p:nvPr/>
        </p:nvSpPr>
        <p:spPr>
          <a:xfrm>
            <a:off x="1154955" y="3427396"/>
            <a:ext cx="24408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Example :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F657E0B-B2E9-47EA-9DCD-148B85F561F5}"/>
              </a:ext>
            </a:extLst>
          </p:cNvPr>
          <p:cNvSpPr/>
          <p:nvPr/>
        </p:nvSpPr>
        <p:spPr>
          <a:xfrm>
            <a:off x="1272209" y="4120179"/>
            <a:ext cx="5128591" cy="1200329"/>
          </a:xfrm>
          <a:prstGeom prst="rect">
            <a:avLst/>
          </a:prstGeom>
          <a:ln>
            <a:solidFill>
              <a:srgbClr val="C000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fruits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= {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"Banana"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"Mango"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"Cherry“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}</a:t>
            </a:r>
          </a:p>
          <a:p>
            <a:b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C586C0"/>
                </a:solidFill>
                <a:latin typeface="Consolas" panose="020B0609020204030204" pitchFamily="49" charset="0"/>
              </a:rPr>
              <a:t>for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x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in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fruits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DCDCAA"/>
                </a:solidFill>
                <a:latin typeface="Consolas" panose="020B0609020204030204" pitchFamily="49" charset="0"/>
              </a:rPr>
              <a:t>print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x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)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0E3F7F9-FEA1-41D9-A38B-B2C1302B4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91004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973668"/>
            <a:ext cx="8346854" cy="706964"/>
          </a:xfrm>
        </p:spPr>
        <p:txBody>
          <a:bodyPr/>
          <a:lstStyle/>
          <a:p>
            <a:r>
              <a:rPr lang="en-US" dirty="0"/>
              <a:t>Rang and Length Function in Loop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85B86B8-5ADD-4EA6-B427-204AA2ED9508}"/>
              </a:ext>
            </a:extLst>
          </p:cNvPr>
          <p:cNvSpPr txBox="1"/>
          <p:nvPr/>
        </p:nvSpPr>
        <p:spPr>
          <a:xfrm>
            <a:off x="1154954" y="2239156"/>
            <a:ext cx="51133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Range() and Len() function 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C27DFF-977B-4095-9BE4-020FE248690D}"/>
              </a:ext>
            </a:extLst>
          </p:cNvPr>
          <p:cNvSpPr txBox="1"/>
          <p:nvPr/>
        </p:nvSpPr>
        <p:spPr>
          <a:xfrm>
            <a:off x="3805391" y="3564896"/>
            <a:ext cx="3708592" cy="737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2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Not Work In Tuple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90C0834-EA6B-4E23-AA7F-1359E7CBC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53692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973668"/>
            <a:ext cx="8346854" cy="706964"/>
          </a:xfrm>
        </p:spPr>
        <p:txBody>
          <a:bodyPr/>
          <a:lstStyle/>
          <a:p>
            <a:r>
              <a:rPr lang="en-US" dirty="0"/>
              <a:t>Add() Function To a Set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5B58C18-2021-41D5-BD1B-A798EAC7DB69}"/>
              </a:ext>
            </a:extLst>
          </p:cNvPr>
          <p:cNvSpPr txBox="1"/>
          <p:nvPr/>
        </p:nvSpPr>
        <p:spPr>
          <a:xfrm>
            <a:off x="822643" y="2394726"/>
            <a:ext cx="10891272" cy="1418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sz="2000" dirty="0"/>
              <a:t>Once a set is created, you cannot </a:t>
            </a:r>
            <a:r>
              <a:rPr lang="en-US" sz="2000" b="1" dirty="0"/>
              <a:t>change</a:t>
            </a:r>
            <a:r>
              <a:rPr lang="en-US" sz="2000" dirty="0"/>
              <a:t> its items, but you can </a:t>
            </a:r>
            <a:r>
              <a:rPr lang="en-US" sz="2000" b="1" dirty="0"/>
              <a:t>add</a:t>
            </a:r>
            <a:r>
              <a:rPr lang="en-US" sz="2000" dirty="0"/>
              <a:t> new items.</a:t>
            </a:r>
          </a:p>
          <a:p>
            <a:pPr marL="342900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2000" dirty="0"/>
              <a:t>To add one item to a set use the </a:t>
            </a:r>
            <a:r>
              <a:rPr lang="en-US" altLang="en-US" sz="2000" b="1" dirty="0"/>
              <a:t>add()</a:t>
            </a:r>
            <a:r>
              <a:rPr lang="en-US" altLang="en-US" sz="2000" dirty="0"/>
              <a:t> method. </a:t>
            </a:r>
          </a:p>
          <a:p>
            <a:pPr marL="342900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2000" dirty="0"/>
              <a:t>The items stored unindexed and unorder.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B525AAB-C0E5-4D97-A810-BBB75D70936A}"/>
              </a:ext>
            </a:extLst>
          </p:cNvPr>
          <p:cNvSpPr/>
          <p:nvPr/>
        </p:nvSpPr>
        <p:spPr>
          <a:xfrm>
            <a:off x="1258956" y="4018144"/>
            <a:ext cx="5406887" cy="2031325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fruits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 = {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"apple"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"banana"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"cherry"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}</a:t>
            </a:r>
          </a:p>
          <a:p>
            <a:b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6A9955"/>
                </a:solidFill>
                <a:latin typeface="Consolas" panose="020B0609020204030204" pitchFamily="49" charset="0"/>
              </a:rPr>
              <a:t># Add Item in a Set.</a:t>
            </a:r>
            <a:endParaRPr lang="en-US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dirty="0" err="1">
                <a:solidFill>
                  <a:srgbClr val="9CDCFE"/>
                </a:solidFill>
                <a:latin typeface="Consolas" panose="020B0609020204030204" pitchFamily="49" charset="0"/>
              </a:rPr>
              <a:t>fruits</a:t>
            </a:r>
            <a:r>
              <a:rPr lang="en-US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DCDCAA"/>
                </a:solidFill>
                <a:latin typeface="Consolas" panose="020B0609020204030204" pitchFamily="49" charset="0"/>
              </a:rPr>
              <a:t>add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"orange"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dirty="0" err="1">
                <a:solidFill>
                  <a:srgbClr val="9CDCFE"/>
                </a:solidFill>
                <a:latin typeface="Consolas" panose="020B0609020204030204" pitchFamily="49" charset="0"/>
              </a:rPr>
              <a:t>fruits</a:t>
            </a:r>
            <a:r>
              <a:rPr lang="en-US" dirty="0" err="1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DCDCAA"/>
                </a:solidFill>
                <a:latin typeface="Consolas" panose="020B0609020204030204" pitchFamily="49" charset="0"/>
              </a:rPr>
              <a:t>add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"New"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)</a:t>
            </a:r>
          </a:p>
          <a:p>
            <a:b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DCDCAA"/>
                </a:solidFill>
                <a:latin typeface="Consolas" panose="020B0609020204030204" pitchFamily="49" charset="0"/>
              </a:rPr>
              <a:t>print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fruits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)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5FA3BA5-BBB0-441D-B6E1-E86EF13361F5}"/>
              </a:ext>
            </a:extLst>
          </p:cNvPr>
          <p:cNvSpPr/>
          <p:nvPr/>
        </p:nvSpPr>
        <p:spPr>
          <a:xfrm>
            <a:off x="8751190" y="4021877"/>
            <a:ext cx="1501237" cy="20451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A926D92-E907-442C-AE93-D7141741083F}"/>
              </a:ext>
            </a:extLst>
          </p:cNvPr>
          <p:cNvSpPr/>
          <p:nvPr/>
        </p:nvSpPr>
        <p:spPr>
          <a:xfrm>
            <a:off x="8892208" y="4118936"/>
            <a:ext cx="1219200" cy="3646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D0EEC17-7596-4E77-82E3-C20A51B22C7A}"/>
              </a:ext>
            </a:extLst>
          </p:cNvPr>
          <p:cNvSpPr/>
          <p:nvPr/>
        </p:nvSpPr>
        <p:spPr>
          <a:xfrm>
            <a:off x="8892208" y="4586173"/>
            <a:ext cx="1219200" cy="3646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8C3581E-0CBE-45FB-8FC6-3169E4377B75}"/>
              </a:ext>
            </a:extLst>
          </p:cNvPr>
          <p:cNvSpPr/>
          <p:nvPr/>
        </p:nvSpPr>
        <p:spPr>
          <a:xfrm>
            <a:off x="8892208" y="5077053"/>
            <a:ext cx="1219200" cy="3646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580FFFE-6921-417D-AC50-D8CA1E63916A}"/>
              </a:ext>
            </a:extLst>
          </p:cNvPr>
          <p:cNvSpPr/>
          <p:nvPr/>
        </p:nvSpPr>
        <p:spPr>
          <a:xfrm>
            <a:off x="8892208" y="5523490"/>
            <a:ext cx="1219200" cy="3646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97C9E9-6E7C-4010-AC1C-443951CD28B9}"/>
              </a:ext>
            </a:extLst>
          </p:cNvPr>
          <p:cNvSpPr txBox="1"/>
          <p:nvPr/>
        </p:nvSpPr>
        <p:spPr>
          <a:xfrm>
            <a:off x="6944139" y="4838408"/>
            <a:ext cx="9276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orange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3494677-0AFF-4FCC-82F1-2731D191E0A4}"/>
              </a:ext>
            </a:extLst>
          </p:cNvPr>
          <p:cNvCxnSpPr>
            <a:cxnSpLocks/>
          </p:cNvCxnSpPr>
          <p:nvPr/>
        </p:nvCxnSpPr>
        <p:spPr>
          <a:xfrm>
            <a:off x="8189844" y="4301238"/>
            <a:ext cx="0" cy="14045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AA15188-D315-47E8-8E60-99F864654F41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8203096" y="4301238"/>
            <a:ext cx="68911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08C78DB-8648-4D77-BB36-C12E6B1D38AF}"/>
              </a:ext>
            </a:extLst>
          </p:cNvPr>
          <p:cNvCxnSpPr>
            <a:cxnSpLocks/>
          </p:cNvCxnSpPr>
          <p:nvPr/>
        </p:nvCxnSpPr>
        <p:spPr>
          <a:xfrm>
            <a:off x="8203096" y="4768475"/>
            <a:ext cx="68911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C2C0F5A-29EB-44CE-B811-B52B3E9B46DB}"/>
              </a:ext>
            </a:extLst>
          </p:cNvPr>
          <p:cNvCxnSpPr>
            <a:cxnSpLocks/>
          </p:cNvCxnSpPr>
          <p:nvPr/>
        </p:nvCxnSpPr>
        <p:spPr>
          <a:xfrm>
            <a:off x="8203096" y="5259355"/>
            <a:ext cx="70049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CD1B004-B290-46B0-A4FE-DB08913B080B}"/>
              </a:ext>
            </a:extLst>
          </p:cNvPr>
          <p:cNvCxnSpPr>
            <a:cxnSpLocks/>
          </p:cNvCxnSpPr>
          <p:nvPr/>
        </p:nvCxnSpPr>
        <p:spPr>
          <a:xfrm>
            <a:off x="8203096" y="5705792"/>
            <a:ext cx="70049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A4A463CC-58F7-4925-B08D-780C4B44E2D6}"/>
              </a:ext>
            </a:extLst>
          </p:cNvPr>
          <p:cNvSpPr/>
          <p:nvPr/>
        </p:nvSpPr>
        <p:spPr>
          <a:xfrm>
            <a:off x="7845287" y="4945125"/>
            <a:ext cx="304800" cy="204632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A7AC8E-B272-4A92-819C-166A8808F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98135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973668"/>
            <a:ext cx="8346854" cy="706964"/>
          </a:xfrm>
        </p:spPr>
        <p:txBody>
          <a:bodyPr/>
          <a:lstStyle/>
          <a:p>
            <a:r>
              <a:rPr lang="en-US" dirty="0"/>
              <a:t>Convert Set into a List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85B86B8-5ADD-4EA6-B427-204AA2ED9508}"/>
              </a:ext>
            </a:extLst>
          </p:cNvPr>
          <p:cNvSpPr txBox="1"/>
          <p:nvPr/>
        </p:nvSpPr>
        <p:spPr>
          <a:xfrm>
            <a:off x="1154954" y="2239156"/>
            <a:ext cx="51133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Convert Set to List :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5B58C18-2021-41D5-BD1B-A798EAC7DB69}"/>
              </a:ext>
            </a:extLst>
          </p:cNvPr>
          <p:cNvSpPr txBox="1"/>
          <p:nvPr/>
        </p:nvSpPr>
        <p:spPr>
          <a:xfrm>
            <a:off x="1154955" y="2700821"/>
            <a:ext cx="10772002" cy="495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/>
              <a:t>It’s possible to convert Set into a List. The example are give below.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1C70261-3E6C-4751-A28E-0E4C9085F743}"/>
              </a:ext>
            </a:extLst>
          </p:cNvPr>
          <p:cNvSpPr txBox="1"/>
          <p:nvPr/>
        </p:nvSpPr>
        <p:spPr>
          <a:xfrm>
            <a:off x="1128451" y="3427396"/>
            <a:ext cx="24408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Example :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688F59B-0865-4801-9CD1-EED2889A8DE5}"/>
              </a:ext>
            </a:extLst>
          </p:cNvPr>
          <p:cNvSpPr/>
          <p:nvPr/>
        </p:nvSpPr>
        <p:spPr>
          <a:xfrm>
            <a:off x="1272209" y="4157313"/>
            <a:ext cx="6096000" cy="1477328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r>
              <a:rPr lang="fr-FR" dirty="0">
                <a:solidFill>
                  <a:srgbClr val="9CDCFE"/>
                </a:solidFill>
                <a:latin typeface="Consolas" panose="020B0609020204030204" pitchFamily="49" charset="0"/>
              </a:rPr>
              <a:t>fruits</a:t>
            </a:r>
            <a:r>
              <a:rPr lang="fr-FR" dirty="0">
                <a:solidFill>
                  <a:srgbClr val="D4D4D4"/>
                </a:solidFill>
                <a:latin typeface="Consolas" panose="020B0609020204030204" pitchFamily="49" charset="0"/>
              </a:rPr>
              <a:t> = {</a:t>
            </a:r>
            <a:r>
              <a:rPr lang="fr-FR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fr-FR" dirty="0" err="1">
                <a:solidFill>
                  <a:srgbClr val="CE9178"/>
                </a:solidFill>
                <a:latin typeface="Consolas" panose="020B0609020204030204" pitchFamily="49" charset="0"/>
              </a:rPr>
              <a:t>apple</a:t>
            </a:r>
            <a:r>
              <a:rPr lang="fr-FR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fr-FR" dirty="0">
                <a:solidFill>
                  <a:srgbClr val="9CDCFE"/>
                </a:solidFill>
                <a:latin typeface="Consolas" panose="020B0609020204030204" pitchFamily="49" charset="0"/>
              </a:rPr>
              <a:t>, </a:t>
            </a:r>
            <a:r>
              <a:rPr lang="fr-FR" dirty="0">
                <a:solidFill>
                  <a:srgbClr val="CE9178"/>
                </a:solidFill>
                <a:latin typeface="Consolas" panose="020B0609020204030204" pitchFamily="49" charset="0"/>
              </a:rPr>
              <a:t>"banana"</a:t>
            </a:r>
            <a:r>
              <a:rPr lang="fr-FR" dirty="0">
                <a:solidFill>
                  <a:srgbClr val="9CDCFE"/>
                </a:solidFill>
                <a:latin typeface="Consolas" panose="020B0609020204030204" pitchFamily="49" charset="0"/>
              </a:rPr>
              <a:t>, </a:t>
            </a:r>
            <a:r>
              <a:rPr lang="fr-FR" dirty="0">
                <a:solidFill>
                  <a:srgbClr val="CE9178"/>
                </a:solidFill>
                <a:latin typeface="Consolas" panose="020B0609020204030204" pitchFamily="49" charset="0"/>
              </a:rPr>
              <a:t>"cherry"</a:t>
            </a:r>
            <a:r>
              <a:rPr lang="fr-FR" dirty="0">
                <a:solidFill>
                  <a:srgbClr val="D4D4D4"/>
                </a:solidFill>
                <a:latin typeface="Consolas" panose="020B0609020204030204" pitchFamily="49" charset="0"/>
              </a:rPr>
              <a:t>}</a:t>
            </a:r>
          </a:p>
          <a:p>
            <a:br>
              <a:rPr lang="fr-FR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r>
              <a:rPr lang="fr-FR" dirty="0">
                <a:solidFill>
                  <a:srgbClr val="9CDCFE"/>
                </a:solidFill>
                <a:latin typeface="Consolas" panose="020B0609020204030204" pitchFamily="49" charset="0"/>
              </a:rPr>
              <a:t>y</a:t>
            </a:r>
            <a:r>
              <a:rPr lang="fr-FR" dirty="0">
                <a:solidFill>
                  <a:srgbClr val="D4D4D4"/>
                </a:solidFill>
                <a:latin typeface="Consolas" panose="020B0609020204030204" pitchFamily="49" charset="0"/>
              </a:rPr>
              <a:t> = </a:t>
            </a:r>
            <a:r>
              <a:rPr lang="fr-FR" dirty="0" err="1">
                <a:solidFill>
                  <a:srgbClr val="4EC9B0"/>
                </a:solidFill>
                <a:latin typeface="Consolas" panose="020B0609020204030204" pitchFamily="49" charset="0"/>
              </a:rPr>
              <a:t>list</a:t>
            </a:r>
            <a:r>
              <a:rPr lang="fr-FR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fr-FR" dirty="0">
                <a:solidFill>
                  <a:srgbClr val="9CDCFE"/>
                </a:solidFill>
                <a:latin typeface="Consolas" panose="020B0609020204030204" pitchFamily="49" charset="0"/>
              </a:rPr>
              <a:t>fruits</a:t>
            </a:r>
            <a:r>
              <a:rPr lang="fr-FR" dirty="0">
                <a:solidFill>
                  <a:srgbClr val="D4D4D4"/>
                </a:solidFill>
                <a:latin typeface="Consolas" panose="020B0609020204030204" pitchFamily="49" charset="0"/>
              </a:rPr>
              <a:t>)</a:t>
            </a:r>
          </a:p>
          <a:p>
            <a:br>
              <a:rPr lang="fr-FR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r>
              <a:rPr lang="fr-FR" dirty="0" err="1">
                <a:solidFill>
                  <a:srgbClr val="DCDCAA"/>
                </a:solidFill>
                <a:latin typeface="Consolas" panose="020B0609020204030204" pitchFamily="49" charset="0"/>
              </a:rPr>
              <a:t>print</a:t>
            </a:r>
            <a:r>
              <a:rPr lang="fr-FR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fr-FR" dirty="0">
                <a:solidFill>
                  <a:srgbClr val="4EC9B0"/>
                </a:solidFill>
                <a:latin typeface="Consolas" panose="020B0609020204030204" pitchFamily="49" charset="0"/>
              </a:rPr>
              <a:t>type</a:t>
            </a:r>
            <a:r>
              <a:rPr lang="fr-FR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fr-FR" dirty="0">
                <a:solidFill>
                  <a:srgbClr val="9CDCFE"/>
                </a:solidFill>
                <a:latin typeface="Consolas" panose="020B0609020204030204" pitchFamily="49" charset="0"/>
              </a:rPr>
              <a:t>y</a:t>
            </a:r>
            <a:r>
              <a:rPr lang="fr-FR" dirty="0">
                <a:solidFill>
                  <a:srgbClr val="D4D4D4"/>
                </a:solidFill>
                <a:latin typeface="Consolas" panose="020B0609020204030204" pitchFamily="49" charset="0"/>
              </a:rPr>
              <a:t>))</a:t>
            </a:r>
            <a:endParaRPr lang="fr-FR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FFE41AB-4F29-4E08-A0E4-4DE4462F7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16504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973668"/>
            <a:ext cx="8346854" cy="706964"/>
          </a:xfrm>
        </p:spPr>
        <p:txBody>
          <a:bodyPr/>
          <a:lstStyle/>
          <a:p>
            <a:r>
              <a:rPr lang="en-US" dirty="0"/>
              <a:t>Important Note About Set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85B86B8-5ADD-4EA6-B427-204AA2ED9508}"/>
              </a:ext>
            </a:extLst>
          </p:cNvPr>
          <p:cNvSpPr txBox="1"/>
          <p:nvPr/>
        </p:nvSpPr>
        <p:spPr>
          <a:xfrm>
            <a:off x="1154954" y="2239156"/>
            <a:ext cx="51133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Note :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5B58C18-2021-41D5-BD1B-A798EAC7DB69}"/>
              </a:ext>
            </a:extLst>
          </p:cNvPr>
          <p:cNvSpPr txBox="1"/>
          <p:nvPr/>
        </p:nvSpPr>
        <p:spPr>
          <a:xfrm>
            <a:off x="1154954" y="2859847"/>
            <a:ext cx="9882091" cy="18804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/>
              <a:t>You can also use the </a:t>
            </a:r>
            <a:r>
              <a:rPr lang="en-US" altLang="en-US" sz="2000" b="1" dirty="0"/>
              <a:t>pop()</a:t>
            </a:r>
            <a:r>
              <a:rPr lang="en-US" altLang="en-US" sz="2000" dirty="0"/>
              <a:t> method to </a:t>
            </a:r>
            <a:r>
              <a:rPr lang="en-US" altLang="en-US" sz="2000" b="1" dirty="0"/>
              <a:t>remove</a:t>
            </a:r>
            <a:r>
              <a:rPr lang="en-US" altLang="en-US" sz="2000" dirty="0"/>
              <a:t> an item, but this method will remove the last item. Remember that sets are </a:t>
            </a:r>
            <a:r>
              <a:rPr lang="en-US" altLang="en-US" sz="2000" b="1" dirty="0"/>
              <a:t>unordered</a:t>
            </a:r>
            <a:r>
              <a:rPr lang="en-US" altLang="en-US" sz="2000" dirty="0"/>
              <a:t>, so you will not know what item that gets </a:t>
            </a:r>
            <a:r>
              <a:rPr lang="en-US" altLang="en-US" sz="2000" b="1" dirty="0"/>
              <a:t>removed</a:t>
            </a:r>
            <a:r>
              <a:rPr lang="en-US" altLang="en-US" sz="2000" dirty="0"/>
              <a:t>.</a:t>
            </a:r>
          </a:p>
          <a:p>
            <a:pPr marL="342900" lvl="0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/>
              <a:t>The return value of the </a:t>
            </a:r>
            <a:r>
              <a:rPr lang="en-US" altLang="en-US" sz="2000" b="1" dirty="0"/>
              <a:t>pop()</a:t>
            </a:r>
            <a:r>
              <a:rPr lang="en-US" altLang="en-US" sz="2000" dirty="0"/>
              <a:t> method is the </a:t>
            </a:r>
            <a:r>
              <a:rPr lang="en-US" altLang="en-US" sz="2000" b="1" dirty="0"/>
              <a:t>removed</a:t>
            </a:r>
            <a:r>
              <a:rPr lang="en-US" altLang="en-US" sz="2000" dirty="0"/>
              <a:t> item.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8DFBC0D-D780-49C5-87D8-AD760A107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09298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82DE0D62-AAD7-4D50-AD06-F7CC05D961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3171" y="2650434"/>
            <a:ext cx="8825658" cy="1133033"/>
          </a:xfrm>
        </p:spPr>
        <p:txBody>
          <a:bodyPr/>
          <a:lstStyle/>
          <a:p>
            <a:r>
              <a:rPr lang="en-US" sz="7200" dirty="0"/>
              <a:t>Thanks for Reading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8E5BDD3-0FC0-4CF3-BF66-5A964E039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446018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824</TotalTime>
  <Words>669</Words>
  <Application>Microsoft Office PowerPoint</Application>
  <PresentationFormat>Widescreen</PresentationFormat>
  <Paragraphs>134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Arial</vt:lpstr>
      <vt:lpstr>Arial Rounded MT Bold</vt:lpstr>
      <vt:lpstr>Calibri</vt:lpstr>
      <vt:lpstr>Century Gothic</vt:lpstr>
      <vt:lpstr>Consolas</vt:lpstr>
      <vt:lpstr>Wingdings</vt:lpstr>
      <vt:lpstr>Wingdings 3</vt:lpstr>
      <vt:lpstr>Ion Boardroom</vt:lpstr>
      <vt:lpstr>Part 7  Introduction to Python Set</vt:lpstr>
      <vt:lpstr>What is Set in Python?</vt:lpstr>
      <vt:lpstr>Set in different Data Types</vt:lpstr>
      <vt:lpstr>Len() Function in Tuple</vt:lpstr>
      <vt:lpstr>Insert Function</vt:lpstr>
      <vt:lpstr>Accessing Items in a Set</vt:lpstr>
      <vt:lpstr>Using Negative Indexes</vt:lpstr>
      <vt:lpstr>Range using “:”</vt:lpstr>
      <vt:lpstr>Change Item Value in List</vt:lpstr>
      <vt:lpstr>Append() Function</vt:lpstr>
      <vt:lpstr>Pop() Function</vt:lpstr>
      <vt:lpstr>Pop() Function by Index</vt:lpstr>
      <vt:lpstr>Extend() Function</vt:lpstr>
      <vt:lpstr>Loop Through a Set</vt:lpstr>
      <vt:lpstr>Rang and Length Function in Loop</vt:lpstr>
      <vt:lpstr>Add() Function To a Set</vt:lpstr>
      <vt:lpstr>Convert Set into a List</vt:lpstr>
      <vt:lpstr>Important Note About Set</vt:lpstr>
      <vt:lpstr>Thanks for Reading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Babar Ali</dc:creator>
  <cp:lastModifiedBy>Babar Ali</cp:lastModifiedBy>
  <cp:revision>614</cp:revision>
  <dcterms:created xsi:type="dcterms:W3CDTF">2021-12-18T06:39:36Z</dcterms:created>
  <dcterms:modified xsi:type="dcterms:W3CDTF">2022-01-20T11:57:48Z</dcterms:modified>
</cp:coreProperties>
</file>