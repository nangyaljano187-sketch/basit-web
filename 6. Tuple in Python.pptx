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20"/>
  </p:notesMasterIdLst>
  <p:sldIdLst>
    <p:sldId id="256" r:id="rId2"/>
    <p:sldId id="267" r:id="rId3"/>
    <p:sldId id="273" r:id="rId4"/>
    <p:sldId id="272" r:id="rId5"/>
    <p:sldId id="274" r:id="rId6"/>
    <p:sldId id="278" r:id="rId7"/>
    <p:sldId id="279" r:id="rId8"/>
    <p:sldId id="280" r:id="rId9"/>
    <p:sldId id="281" r:id="rId10"/>
    <p:sldId id="282" r:id="rId11"/>
    <p:sldId id="283" r:id="rId12"/>
    <p:sldId id="275" r:id="rId13"/>
    <p:sldId id="284" r:id="rId14"/>
    <p:sldId id="286" r:id="rId15"/>
    <p:sldId id="287" r:id="rId16"/>
    <p:sldId id="288" r:id="rId17"/>
    <p:sldId id="289" r:id="rId18"/>
    <p:sldId id="266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291" autoAdjust="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CF142A-D1CD-4748-98C0-8A5089D86335}" type="datetimeFigureOut">
              <a:rPr lang="en-US" smtClean="0"/>
              <a:t>1/13/2022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2D3577-EC8A-496F-ADC5-67B8E0A23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349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2F457774-11CA-4258-ACAE-6FBC130F101B}" type="datetime1">
              <a:rPr lang="en-US" smtClean="0"/>
              <a:t>1/13/2022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812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4935E-C26A-4D95-ADA8-E007DD74DD62}" type="datetime1">
              <a:rPr lang="en-US" smtClean="0"/>
              <a:t>1/13/2022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518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2B620-F9C0-414E-88B8-0F31492F3116}" type="datetime1">
              <a:rPr lang="en-US" smtClean="0"/>
              <a:t>1/13/2022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654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28180-57B7-4C8D-879C-8A6D6AB11C67}" type="datetime1">
              <a:rPr lang="en-US" smtClean="0"/>
              <a:t>1/13/2022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258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833CA-A3EE-4C87-A3DD-3AA88B9F3C0A}" type="datetime1">
              <a:rPr lang="en-US" smtClean="0"/>
              <a:t>1/13/2022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445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999C2-DE7F-452D-B2E6-D7C6326BE0B7}" type="datetime1">
              <a:rPr lang="en-US" smtClean="0"/>
              <a:t>1/13/2022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41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FDC06-E8A2-40F2-B56E-C0BD0EB248AE}" type="datetime1">
              <a:rPr lang="en-US" smtClean="0"/>
              <a:t>1/13/2022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970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DEC30-1AC7-495C-A5CD-609D0B994035}" type="datetime1">
              <a:rPr lang="en-US" smtClean="0"/>
              <a:t>1/13/2022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587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34D04-061A-4359-8E66-6AD1115189B0}" type="datetime1">
              <a:rPr lang="en-US" smtClean="0"/>
              <a:t>1/13/2022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820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A4F35-2DE7-49D4-A1CF-745DB1314EDF}" type="datetime1">
              <a:rPr lang="en-US" smtClean="0"/>
              <a:t>1/13/2022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996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83A12-FD08-4AC7-A30F-7A85F1016858}" type="datetime1">
              <a:rPr lang="en-US" smtClean="0"/>
              <a:t>1/13/2022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3793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BD610-D7EC-4415-BD80-98913580AE3B}" type="datetime1">
              <a:rPr lang="en-US" smtClean="0"/>
              <a:t>1/13/2022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7058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E48ED-196B-4539-A4BB-CF8C2C762077}" type="datetime1">
              <a:rPr lang="en-US" smtClean="0"/>
              <a:t>1/13/2022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3515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25D28-DA91-46C1-9DE9-7727132097F5}" type="datetime1">
              <a:rPr lang="en-US" smtClean="0"/>
              <a:t>1/13/2022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06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90478-2CE9-40F6-8064-E4BA93FD213E}" type="datetime1">
              <a:rPr lang="en-US" smtClean="0"/>
              <a:t>1/13/2022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0609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A2338CE4-E7A8-415B-AA8E-501812F5CFC1}" type="datetime1">
              <a:rPr lang="en-US" smtClean="0"/>
              <a:t>1/13/2022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0214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A65AE4B2-CFBD-4B5C-9D21-BC6996B05B05}" type="datetime1">
              <a:rPr lang="en-US" smtClean="0"/>
              <a:t>1/13/2022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0030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D3478D3E-9EDB-42BC-9274-B58E2F21DF05}" type="datetime1">
              <a:rPr lang="en-US" smtClean="0"/>
              <a:t>1/13/2022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904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C75D2F71-C3D9-4A89-ADF7-43E4E7BE06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4" y="1384115"/>
            <a:ext cx="10188907" cy="2677648"/>
          </a:xfrm>
        </p:spPr>
        <p:txBody>
          <a:bodyPr/>
          <a:lstStyle/>
          <a:p>
            <a:r>
              <a:rPr lang="en-US">
                <a:latin typeface="Arial Rounded MT Bold" panose="020F0704030504030204" pitchFamily="34" charset="0"/>
              </a:rPr>
              <a:t>Part 6</a:t>
            </a:r>
            <a:br>
              <a:rPr lang="en-US" dirty="0">
                <a:latin typeface="Arial Rounded MT Bold" panose="020F0704030504030204" pitchFamily="34" charset="0"/>
              </a:rPr>
            </a:br>
            <a:br>
              <a:rPr lang="en-US" sz="4000" dirty="0">
                <a:latin typeface="Arial Rounded MT Bold" panose="020F0704030504030204" pitchFamily="34" charset="0"/>
              </a:rPr>
            </a:br>
            <a:r>
              <a:rPr lang="en-US" sz="4000" dirty="0">
                <a:latin typeface="Arial Rounded MT Bold" panose="020F0704030504030204" pitchFamily="34" charset="0"/>
              </a:rPr>
              <a:t>Introduction to Python Tuple</a:t>
            </a:r>
            <a:endParaRPr lang="en-US" sz="4800" b="1" dirty="0"/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7EAC1220-5808-4927-8A48-4FD19D7906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287049"/>
            <a:ext cx="8825658" cy="430725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Version: 3.o</a:t>
            </a:r>
          </a:p>
          <a:p>
            <a:endParaRPr lang="en-US" sz="2400" dirty="0"/>
          </a:p>
        </p:txBody>
      </p:sp>
      <p:sp>
        <p:nvSpPr>
          <p:cNvPr id="24" name="Subtitle 22">
            <a:extLst>
              <a:ext uri="{FF2B5EF4-FFF2-40B4-BE49-F238E27FC236}">
                <a16:creationId xmlns:a16="http://schemas.microsoft.com/office/drawing/2014/main" id="{EF647C65-2962-495E-8F1A-C5ABE3700C82}"/>
              </a:ext>
            </a:extLst>
          </p:cNvPr>
          <p:cNvSpPr txBox="1">
            <a:spLocks/>
          </p:cNvSpPr>
          <p:nvPr/>
        </p:nvSpPr>
        <p:spPr bwMode="gray">
          <a:xfrm>
            <a:off x="8489743" y="5755393"/>
            <a:ext cx="2981739" cy="4307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 cap="all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chemeClr val="bg1"/>
                </a:solidFill>
                <a:latin typeface="+mj-lt"/>
              </a:rPr>
              <a:t>Written by: Babar </a:t>
            </a:r>
            <a:r>
              <a:rPr lang="en-US" sz="2000" b="1" dirty="0" err="1">
                <a:solidFill>
                  <a:schemeClr val="bg1"/>
                </a:solidFill>
                <a:latin typeface="+mj-lt"/>
              </a:rPr>
              <a:t>ali</a:t>
            </a:r>
            <a:r>
              <a:rPr lang="en-US" sz="2000" b="1" dirty="0">
                <a:solidFill>
                  <a:schemeClr val="bg1"/>
                </a:solidFill>
                <a:latin typeface="+mj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D0956A-7A61-4225-A5BF-0B7672C66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014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868CA3-C840-4CA7-B47B-2FDE0375A038}"/>
              </a:ext>
            </a:extLst>
          </p:cNvPr>
          <p:cNvSpPr txBox="1"/>
          <p:nvPr/>
        </p:nvSpPr>
        <p:spPr>
          <a:xfrm>
            <a:off x="964924" y="2269003"/>
            <a:ext cx="10225815" cy="1880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/>
              <a:t>A tuple is a collection which is ordered and unchangeable.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/>
              <a:t>Allows duplicate members.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/>
              <a:t>Tuples are used to store multiple items in a single variable.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/>
              <a:t>Tuples are written with round brackets. ( )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5610896" cy="706964"/>
          </a:xfrm>
        </p:spPr>
        <p:txBody>
          <a:bodyPr/>
          <a:lstStyle/>
          <a:p>
            <a:r>
              <a:rPr lang="en-US" dirty="0"/>
              <a:t>What is Tuple in Python?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40BC75-4510-4EDB-8A33-817B92CCB526}"/>
              </a:ext>
            </a:extLst>
          </p:cNvPr>
          <p:cNvSpPr txBox="1"/>
          <p:nvPr/>
        </p:nvSpPr>
        <p:spPr>
          <a:xfrm>
            <a:off x="1285460" y="4417294"/>
            <a:ext cx="26769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Creating Tuple 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81D74E-4DC5-44AB-8A79-B8395F11CB6E}"/>
              </a:ext>
            </a:extLst>
          </p:cNvPr>
          <p:cNvSpPr txBox="1"/>
          <p:nvPr/>
        </p:nvSpPr>
        <p:spPr>
          <a:xfrm>
            <a:off x="1351722" y="5111681"/>
            <a:ext cx="3260036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num = </a:t>
            </a:r>
            <a:r>
              <a:rPr lang="en-US" sz="2000" b="1" dirty="0"/>
              <a:t>(</a:t>
            </a:r>
            <a:r>
              <a:rPr lang="en-US" sz="2000" dirty="0"/>
              <a:t>20, 40, 14, 70</a:t>
            </a:r>
            <a:r>
              <a:rPr lang="en-US" sz="2000" b="1" dirty="0"/>
              <a:t>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FE4503-AEB0-47CC-9D5F-A8C5F29141AB}"/>
              </a:ext>
            </a:extLst>
          </p:cNvPr>
          <p:cNvSpPr/>
          <p:nvPr/>
        </p:nvSpPr>
        <p:spPr>
          <a:xfrm>
            <a:off x="6805606" y="4417294"/>
            <a:ext cx="1501237" cy="20451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A4B0F1-5069-4D3F-8D23-32602190BF16}"/>
              </a:ext>
            </a:extLst>
          </p:cNvPr>
          <p:cNvSpPr/>
          <p:nvPr/>
        </p:nvSpPr>
        <p:spPr>
          <a:xfrm>
            <a:off x="6946624" y="4514353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591435-4966-4B9A-9B73-4A6C041B04D7}"/>
              </a:ext>
            </a:extLst>
          </p:cNvPr>
          <p:cNvSpPr/>
          <p:nvPr/>
        </p:nvSpPr>
        <p:spPr>
          <a:xfrm>
            <a:off x="6946624" y="4981590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DDBBDB-98E3-48D3-97D1-0E538CCDE5A8}"/>
              </a:ext>
            </a:extLst>
          </p:cNvPr>
          <p:cNvSpPr/>
          <p:nvPr/>
        </p:nvSpPr>
        <p:spPr>
          <a:xfrm>
            <a:off x="6946624" y="5472470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736813-793F-4E71-93AF-9826EB56CA7C}"/>
              </a:ext>
            </a:extLst>
          </p:cNvPr>
          <p:cNvSpPr/>
          <p:nvPr/>
        </p:nvSpPr>
        <p:spPr>
          <a:xfrm>
            <a:off x="6946624" y="5918907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70</a:t>
            </a:r>
          </a:p>
        </p:txBody>
      </p:sp>
      <p:sp>
        <p:nvSpPr>
          <p:cNvPr id="5" name="Arrow: Curved Left 4">
            <a:extLst>
              <a:ext uri="{FF2B5EF4-FFF2-40B4-BE49-F238E27FC236}">
                <a16:creationId xmlns:a16="http://schemas.microsoft.com/office/drawing/2014/main" id="{29BD046E-122B-4ABD-B235-F10051C938D1}"/>
              </a:ext>
            </a:extLst>
          </p:cNvPr>
          <p:cNvSpPr/>
          <p:nvPr/>
        </p:nvSpPr>
        <p:spPr>
          <a:xfrm rot="15620081">
            <a:off x="5333775" y="2549493"/>
            <a:ext cx="756090" cy="3973197"/>
          </a:xfrm>
          <a:prstGeom prst="curvedLeftArrow">
            <a:avLst>
              <a:gd name="adj1" fmla="val 22239"/>
              <a:gd name="adj2" fmla="val 92398"/>
              <a:gd name="adj3" fmla="val 3274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6C01576-D57F-459B-9599-071C21CB182A}"/>
              </a:ext>
            </a:extLst>
          </p:cNvPr>
          <p:cNvCxnSpPr/>
          <p:nvPr/>
        </p:nvCxnSpPr>
        <p:spPr>
          <a:xfrm>
            <a:off x="8165824" y="4678018"/>
            <a:ext cx="4348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238E0C0-A01C-4D4A-A097-4777B3934B49}"/>
              </a:ext>
            </a:extLst>
          </p:cNvPr>
          <p:cNvCxnSpPr/>
          <p:nvPr/>
        </p:nvCxnSpPr>
        <p:spPr>
          <a:xfrm>
            <a:off x="8165824" y="5151437"/>
            <a:ext cx="4348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8B881CA-AC15-4D5B-9973-DF7D1D98A3B7}"/>
              </a:ext>
            </a:extLst>
          </p:cNvPr>
          <p:cNvCxnSpPr/>
          <p:nvPr/>
        </p:nvCxnSpPr>
        <p:spPr>
          <a:xfrm>
            <a:off x="8165824" y="5665306"/>
            <a:ext cx="4348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E78651A-5E24-4EE4-9778-7F10FFC4D1F3}"/>
              </a:ext>
            </a:extLst>
          </p:cNvPr>
          <p:cNvCxnSpPr/>
          <p:nvPr/>
        </p:nvCxnSpPr>
        <p:spPr>
          <a:xfrm>
            <a:off x="8165824" y="6129132"/>
            <a:ext cx="4348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Title 7">
            <a:extLst>
              <a:ext uri="{FF2B5EF4-FFF2-40B4-BE49-F238E27FC236}">
                <a16:creationId xmlns:a16="http://schemas.microsoft.com/office/drawing/2014/main" id="{F8711ABE-68EF-42C5-9DE5-6590897EF60E}"/>
              </a:ext>
            </a:extLst>
          </p:cNvPr>
          <p:cNvSpPr txBox="1">
            <a:spLocks/>
          </p:cNvSpPr>
          <p:nvPr/>
        </p:nvSpPr>
        <p:spPr bwMode="gray">
          <a:xfrm>
            <a:off x="1367457" y="2080493"/>
            <a:ext cx="5610896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6005076B-4A99-4911-80B5-7210A465B55B}"/>
              </a:ext>
            </a:extLst>
          </p:cNvPr>
          <p:cNvSpPr txBox="1">
            <a:spLocks/>
          </p:cNvSpPr>
          <p:nvPr/>
        </p:nvSpPr>
        <p:spPr bwMode="gray">
          <a:xfrm>
            <a:off x="8343486" y="878969"/>
            <a:ext cx="987755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dirty="0"/>
              <a:t>( 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8CEBB4-F523-4F44-8B55-2178ABFF2170}"/>
              </a:ext>
            </a:extLst>
          </p:cNvPr>
          <p:cNvSpPr txBox="1"/>
          <p:nvPr/>
        </p:nvSpPr>
        <p:spPr>
          <a:xfrm>
            <a:off x="8635481" y="4382178"/>
            <a:ext cx="121920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num[0]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6CA052F-6DF0-413E-916C-6CB3EFEB02E2}"/>
              </a:ext>
            </a:extLst>
          </p:cNvPr>
          <p:cNvSpPr txBox="1"/>
          <p:nvPr/>
        </p:nvSpPr>
        <p:spPr>
          <a:xfrm>
            <a:off x="8635481" y="4836257"/>
            <a:ext cx="121920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num[1]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5B303D-18F1-4351-A2E0-3189AF1A4DD1}"/>
              </a:ext>
            </a:extLst>
          </p:cNvPr>
          <p:cNvSpPr txBox="1"/>
          <p:nvPr/>
        </p:nvSpPr>
        <p:spPr>
          <a:xfrm>
            <a:off x="8635481" y="5354559"/>
            <a:ext cx="121920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num[2]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BEC889-0A3D-453B-85AB-0FE7373FFF86}"/>
              </a:ext>
            </a:extLst>
          </p:cNvPr>
          <p:cNvSpPr txBox="1"/>
          <p:nvPr/>
        </p:nvSpPr>
        <p:spPr>
          <a:xfrm>
            <a:off x="8635481" y="5809031"/>
            <a:ext cx="121920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num[3]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FD0E9-D7CB-4C52-B2CD-DDF38C0D5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74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6544558" cy="706964"/>
          </a:xfrm>
        </p:spPr>
        <p:txBody>
          <a:bodyPr/>
          <a:lstStyle/>
          <a:p>
            <a:r>
              <a:rPr lang="en-US" dirty="0"/>
              <a:t>Tuple in different Data Types</a:t>
            </a: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6005076B-4A99-4911-80B5-7210A465B55B}"/>
              </a:ext>
            </a:extLst>
          </p:cNvPr>
          <p:cNvSpPr txBox="1">
            <a:spLocks/>
          </p:cNvSpPr>
          <p:nvPr/>
        </p:nvSpPr>
        <p:spPr bwMode="gray">
          <a:xfrm>
            <a:off x="8343486" y="878969"/>
            <a:ext cx="987755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dirty="0"/>
              <a:t>( 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5B86B8-5ADD-4EA6-B427-204AA2ED9508}"/>
              </a:ext>
            </a:extLst>
          </p:cNvPr>
          <p:cNvSpPr txBox="1"/>
          <p:nvPr/>
        </p:nvSpPr>
        <p:spPr>
          <a:xfrm>
            <a:off x="1154954" y="2239156"/>
            <a:ext cx="4941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Tuple in different Data Types 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B58C18-2021-41D5-BD1B-A798EAC7DB69}"/>
              </a:ext>
            </a:extLst>
          </p:cNvPr>
          <p:cNvSpPr txBox="1"/>
          <p:nvPr/>
        </p:nvSpPr>
        <p:spPr>
          <a:xfrm>
            <a:off x="1154956" y="2700821"/>
            <a:ext cx="10043132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Tuple also support different data types in a single Tuple.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C70261-3E6C-4751-A28E-0E4C9085F743}"/>
              </a:ext>
            </a:extLst>
          </p:cNvPr>
          <p:cNvSpPr txBox="1"/>
          <p:nvPr/>
        </p:nvSpPr>
        <p:spPr>
          <a:xfrm>
            <a:off x="1154955" y="3427396"/>
            <a:ext cx="2440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 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30DAA0-ACCD-4036-BBF5-D18AE84FC73B}"/>
              </a:ext>
            </a:extLst>
          </p:cNvPr>
          <p:cNvSpPr/>
          <p:nvPr/>
        </p:nvSpPr>
        <p:spPr>
          <a:xfrm>
            <a:off x="1276709" y="4029080"/>
            <a:ext cx="6727604" cy="2031325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my_tuple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(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39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49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"Kamran"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"Yasir"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40.5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3.4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dirty="0">
              <a:solidFill>
                <a:srgbClr val="DCDCAA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my_tuple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dirty="0">
              <a:solidFill>
                <a:srgbClr val="DCDCAA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len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my_tuple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))</a:t>
            </a:r>
          </a:p>
          <a:p>
            <a:endParaRPr lang="en-US" dirty="0">
              <a:solidFill>
                <a:srgbClr val="DCDCAA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type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my_tuple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))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90CE23-A37A-4656-8337-FBBC53B3B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833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5610896" cy="706964"/>
          </a:xfrm>
        </p:spPr>
        <p:txBody>
          <a:bodyPr/>
          <a:lstStyle/>
          <a:p>
            <a:r>
              <a:rPr lang="en-US" dirty="0"/>
              <a:t>Len() Function in Tuple</a:t>
            </a: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6005076B-4A99-4911-80B5-7210A465B55B}"/>
              </a:ext>
            </a:extLst>
          </p:cNvPr>
          <p:cNvSpPr txBox="1">
            <a:spLocks/>
          </p:cNvSpPr>
          <p:nvPr/>
        </p:nvSpPr>
        <p:spPr bwMode="gray">
          <a:xfrm>
            <a:off x="8343486" y="878969"/>
            <a:ext cx="987755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dirty="0"/>
              <a:t>( 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5B86B8-5ADD-4EA6-B427-204AA2ED9508}"/>
              </a:ext>
            </a:extLst>
          </p:cNvPr>
          <p:cNvSpPr txBox="1"/>
          <p:nvPr/>
        </p:nvSpPr>
        <p:spPr>
          <a:xfrm>
            <a:off x="1154955" y="2239156"/>
            <a:ext cx="2440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Len() Function 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B58C18-2021-41D5-BD1B-A798EAC7DB69}"/>
              </a:ext>
            </a:extLst>
          </p:cNvPr>
          <p:cNvSpPr txBox="1"/>
          <p:nvPr/>
        </p:nvSpPr>
        <p:spPr>
          <a:xfrm>
            <a:off x="1154956" y="2700821"/>
            <a:ext cx="10043132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Length function is used to count the total items of a Tuple.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C70261-3E6C-4751-A28E-0E4C9085F743}"/>
              </a:ext>
            </a:extLst>
          </p:cNvPr>
          <p:cNvSpPr txBox="1"/>
          <p:nvPr/>
        </p:nvSpPr>
        <p:spPr>
          <a:xfrm>
            <a:off x="1154955" y="3427396"/>
            <a:ext cx="2440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 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D05241-148A-4C14-A29C-460013588D2C}"/>
              </a:ext>
            </a:extLst>
          </p:cNvPr>
          <p:cNvSpPr/>
          <p:nvPr/>
        </p:nvSpPr>
        <p:spPr>
          <a:xfrm>
            <a:off x="1274223" y="5134058"/>
            <a:ext cx="4083667" cy="1477328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num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= (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39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59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45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23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23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endParaRPr lang="pt-BR" dirty="0">
              <a:solidFill>
                <a:srgbClr val="9CDCFE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count_num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pt-BR" dirty="0">
                <a:solidFill>
                  <a:srgbClr val="DCDCAA"/>
                </a:solidFill>
                <a:latin typeface="Consolas" panose="020B0609020204030204" pitchFamily="49" charset="0"/>
              </a:rPr>
              <a:t>len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num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endParaRPr lang="pt-BR" dirty="0">
              <a:solidFill>
                <a:srgbClr val="DCDCAA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count_num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  <a:endParaRPr lang="pt-B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52818A-33EE-46F8-A38B-E745CB4488F2}"/>
              </a:ext>
            </a:extLst>
          </p:cNvPr>
          <p:cNvSpPr/>
          <p:nvPr/>
        </p:nvSpPr>
        <p:spPr>
          <a:xfrm>
            <a:off x="1274223" y="4007623"/>
            <a:ext cx="4083667" cy="923330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num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= (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39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59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45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23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23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endParaRPr lang="pt-BR" dirty="0">
              <a:solidFill>
                <a:srgbClr val="DCDCAA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DCDCAA"/>
                </a:solidFill>
                <a:latin typeface="Consolas" panose="020B0609020204030204" pitchFamily="49" charset="0"/>
              </a:rPr>
              <a:t>len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num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))</a:t>
            </a:r>
            <a:endParaRPr lang="pt-B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3F3823B3-5A13-4882-942F-A3BD32E77C85}"/>
              </a:ext>
            </a:extLst>
          </p:cNvPr>
          <p:cNvSpPr/>
          <p:nvPr/>
        </p:nvSpPr>
        <p:spPr>
          <a:xfrm>
            <a:off x="5291630" y="4484955"/>
            <a:ext cx="1311965" cy="1334260"/>
          </a:xfrm>
          <a:prstGeom prst="chevron">
            <a:avLst>
              <a:gd name="adj" fmla="val 8636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A7EDF7-7A57-431F-BD23-E0BD9D8A2DA1}"/>
              </a:ext>
            </a:extLst>
          </p:cNvPr>
          <p:cNvSpPr txBox="1"/>
          <p:nvPr/>
        </p:nvSpPr>
        <p:spPr>
          <a:xfrm>
            <a:off x="6603595" y="4831695"/>
            <a:ext cx="1642495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as you wish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41EA84-3EB1-4C63-803F-4832F453B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07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5610896" cy="706964"/>
          </a:xfrm>
        </p:spPr>
        <p:txBody>
          <a:bodyPr/>
          <a:lstStyle/>
          <a:p>
            <a:r>
              <a:rPr lang="en-US" dirty="0"/>
              <a:t>Insert Function</a:t>
            </a: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6005076B-4A99-4911-80B5-7210A465B55B}"/>
              </a:ext>
            </a:extLst>
          </p:cNvPr>
          <p:cNvSpPr txBox="1">
            <a:spLocks/>
          </p:cNvSpPr>
          <p:nvPr/>
        </p:nvSpPr>
        <p:spPr bwMode="gray">
          <a:xfrm>
            <a:off x="8343486" y="878969"/>
            <a:ext cx="987755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dirty="0"/>
              <a:t>( 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5B86B8-5ADD-4EA6-B427-204AA2ED9508}"/>
              </a:ext>
            </a:extLst>
          </p:cNvPr>
          <p:cNvSpPr txBox="1"/>
          <p:nvPr/>
        </p:nvSpPr>
        <p:spPr>
          <a:xfrm>
            <a:off x="1154954" y="2239156"/>
            <a:ext cx="5113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Insert() function 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B58C18-2021-41D5-BD1B-A798EAC7DB69}"/>
              </a:ext>
            </a:extLst>
          </p:cNvPr>
          <p:cNvSpPr txBox="1"/>
          <p:nvPr/>
        </p:nvSpPr>
        <p:spPr>
          <a:xfrm>
            <a:off x="3805391" y="3564896"/>
            <a:ext cx="3708592" cy="737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Not Work In Tuple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6CFE9C-589E-4968-9904-C2EA5C3D2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939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6412037" cy="706964"/>
          </a:xfrm>
        </p:spPr>
        <p:txBody>
          <a:bodyPr/>
          <a:lstStyle/>
          <a:p>
            <a:r>
              <a:rPr lang="en-US" dirty="0"/>
              <a:t>Accessing Items in a Tuple</a:t>
            </a: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6005076B-4A99-4911-80B5-7210A465B55B}"/>
              </a:ext>
            </a:extLst>
          </p:cNvPr>
          <p:cNvSpPr txBox="1">
            <a:spLocks/>
          </p:cNvSpPr>
          <p:nvPr/>
        </p:nvSpPr>
        <p:spPr bwMode="gray">
          <a:xfrm>
            <a:off x="8343486" y="878969"/>
            <a:ext cx="987755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dirty="0"/>
              <a:t>( 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5B86B8-5ADD-4EA6-B427-204AA2ED9508}"/>
              </a:ext>
            </a:extLst>
          </p:cNvPr>
          <p:cNvSpPr txBox="1"/>
          <p:nvPr/>
        </p:nvSpPr>
        <p:spPr>
          <a:xfrm>
            <a:off x="1154954" y="2239156"/>
            <a:ext cx="5113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Tuple Items Access 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B58C18-2021-41D5-BD1B-A798EAC7DB69}"/>
              </a:ext>
            </a:extLst>
          </p:cNvPr>
          <p:cNvSpPr txBox="1"/>
          <p:nvPr/>
        </p:nvSpPr>
        <p:spPr>
          <a:xfrm>
            <a:off x="1154955" y="2700821"/>
            <a:ext cx="9009461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This is possible to access single items in a Tuple by index.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C70261-3E6C-4751-A28E-0E4C9085F743}"/>
              </a:ext>
            </a:extLst>
          </p:cNvPr>
          <p:cNvSpPr txBox="1"/>
          <p:nvPr/>
        </p:nvSpPr>
        <p:spPr>
          <a:xfrm>
            <a:off x="1154955" y="3374384"/>
            <a:ext cx="2440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 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CA546A-EE47-4F75-841F-55688FC14E5D}"/>
              </a:ext>
            </a:extLst>
          </p:cNvPr>
          <p:cNvSpPr/>
          <p:nvPr/>
        </p:nvSpPr>
        <p:spPr>
          <a:xfrm>
            <a:off x="1247719" y="4000903"/>
            <a:ext cx="4516977" cy="203132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num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(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56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90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89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96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120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67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# Access single Items of a list.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num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])</a:t>
            </a:r>
          </a:p>
          <a:p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num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])</a:t>
            </a:r>
          </a:p>
          <a:p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num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])</a:t>
            </a:r>
          </a:p>
          <a:p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num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])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4D46BFF-B1F9-4FB3-A940-20979F9EE917}"/>
              </a:ext>
            </a:extLst>
          </p:cNvPr>
          <p:cNvSpPr/>
          <p:nvPr/>
        </p:nvSpPr>
        <p:spPr>
          <a:xfrm>
            <a:off x="6964633" y="3657942"/>
            <a:ext cx="1501237" cy="29260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163000E-2D14-42BC-8B97-318AE50E1FD1}"/>
              </a:ext>
            </a:extLst>
          </p:cNvPr>
          <p:cNvSpPr/>
          <p:nvPr/>
        </p:nvSpPr>
        <p:spPr>
          <a:xfrm>
            <a:off x="7105651" y="3755002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56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D676FEA-B689-41FA-992B-07A2B80838F3}"/>
              </a:ext>
            </a:extLst>
          </p:cNvPr>
          <p:cNvSpPr/>
          <p:nvPr/>
        </p:nvSpPr>
        <p:spPr>
          <a:xfrm>
            <a:off x="7105651" y="4222239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90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0096E2F-6067-4DB3-9400-74882FDA3754}"/>
              </a:ext>
            </a:extLst>
          </p:cNvPr>
          <p:cNvSpPr/>
          <p:nvPr/>
        </p:nvSpPr>
        <p:spPr>
          <a:xfrm>
            <a:off x="7105651" y="4713119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89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E9D1A0B-2748-406D-A770-898A19583E94}"/>
              </a:ext>
            </a:extLst>
          </p:cNvPr>
          <p:cNvSpPr/>
          <p:nvPr/>
        </p:nvSpPr>
        <p:spPr>
          <a:xfrm>
            <a:off x="7105651" y="5174522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96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06B22DF-CFB3-423B-BE24-A59E220774FF}"/>
              </a:ext>
            </a:extLst>
          </p:cNvPr>
          <p:cNvCxnSpPr/>
          <p:nvPr/>
        </p:nvCxnSpPr>
        <p:spPr>
          <a:xfrm>
            <a:off x="8324851" y="3918667"/>
            <a:ext cx="4348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3C7966C-E31C-48EB-BAC0-A50D9AE7C1B8}"/>
              </a:ext>
            </a:extLst>
          </p:cNvPr>
          <p:cNvCxnSpPr/>
          <p:nvPr/>
        </p:nvCxnSpPr>
        <p:spPr>
          <a:xfrm>
            <a:off x="8324851" y="4392086"/>
            <a:ext cx="4348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8D7F031-742A-4907-8758-1033A1DFC6CF}"/>
              </a:ext>
            </a:extLst>
          </p:cNvPr>
          <p:cNvCxnSpPr/>
          <p:nvPr/>
        </p:nvCxnSpPr>
        <p:spPr>
          <a:xfrm>
            <a:off x="8324851" y="4905955"/>
            <a:ext cx="4348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4300B70-B11B-40F5-BE98-B5593A87D162}"/>
              </a:ext>
            </a:extLst>
          </p:cNvPr>
          <p:cNvCxnSpPr/>
          <p:nvPr/>
        </p:nvCxnSpPr>
        <p:spPr>
          <a:xfrm>
            <a:off x="8324851" y="5369781"/>
            <a:ext cx="4348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487E7F7-6DB3-4964-B33F-353AE489F157}"/>
              </a:ext>
            </a:extLst>
          </p:cNvPr>
          <p:cNvSpPr txBox="1"/>
          <p:nvPr/>
        </p:nvSpPr>
        <p:spPr>
          <a:xfrm>
            <a:off x="8794508" y="3622827"/>
            <a:ext cx="121920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num[0]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ECEF3AC-0751-456C-A692-D3EF323ACBC3}"/>
              </a:ext>
            </a:extLst>
          </p:cNvPr>
          <p:cNvSpPr txBox="1"/>
          <p:nvPr/>
        </p:nvSpPr>
        <p:spPr>
          <a:xfrm>
            <a:off x="8794508" y="4076906"/>
            <a:ext cx="121920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num[1]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626C144-9C70-4826-9DA7-8D2820DDD832}"/>
              </a:ext>
            </a:extLst>
          </p:cNvPr>
          <p:cNvSpPr txBox="1"/>
          <p:nvPr/>
        </p:nvSpPr>
        <p:spPr>
          <a:xfrm>
            <a:off x="8794508" y="4595208"/>
            <a:ext cx="121920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num[2]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C0F0019-D993-4AAA-A606-9889B34B3650}"/>
              </a:ext>
            </a:extLst>
          </p:cNvPr>
          <p:cNvSpPr txBox="1"/>
          <p:nvPr/>
        </p:nvSpPr>
        <p:spPr>
          <a:xfrm>
            <a:off x="8794508" y="5049680"/>
            <a:ext cx="121920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num[3]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BFF409E-5DB7-4C14-AE52-E6639E520015}"/>
              </a:ext>
            </a:extLst>
          </p:cNvPr>
          <p:cNvSpPr/>
          <p:nvPr/>
        </p:nvSpPr>
        <p:spPr>
          <a:xfrm>
            <a:off x="7105651" y="5667623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120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E7FB43D-84B0-4DF3-A79B-FEF218F57F18}"/>
              </a:ext>
            </a:extLst>
          </p:cNvPr>
          <p:cNvSpPr/>
          <p:nvPr/>
        </p:nvSpPr>
        <p:spPr>
          <a:xfrm>
            <a:off x="7105651" y="6125831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67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E3D86DA-8588-4178-BCCE-CAD61474EB48}"/>
              </a:ext>
            </a:extLst>
          </p:cNvPr>
          <p:cNvCxnSpPr/>
          <p:nvPr/>
        </p:nvCxnSpPr>
        <p:spPr>
          <a:xfrm>
            <a:off x="8333168" y="5859228"/>
            <a:ext cx="4348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463B5392-A4E5-4673-AB4A-394ABA3F2B64}"/>
              </a:ext>
            </a:extLst>
          </p:cNvPr>
          <p:cNvSpPr txBox="1"/>
          <p:nvPr/>
        </p:nvSpPr>
        <p:spPr>
          <a:xfrm>
            <a:off x="8802825" y="5539127"/>
            <a:ext cx="121920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num[4]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E6AAEF6-191C-45DF-931A-B94BE75578B7}"/>
              </a:ext>
            </a:extLst>
          </p:cNvPr>
          <p:cNvCxnSpPr/>
          <p:nvPr/>
        </p:nvCxnSpPr>
        <p:spPr>
          <a:xfrm>
            <a:off x="8333168" y="6302647"/>
            <a:ext cx="4348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EF98846F-B66E-40A4-BF20-00B974CD81A6}"/>
              </a:ext>
            </a:extLst>
          </p:cNvPr>
          <p:cNvSpPr txBox="1"/>
          <p:nvPr/>
        </p:nvSpPr>
        <p:spPr>
          <a:xfrm>
            <a:off x="8802825" y="5982546"/>
            <a:ext cx="121920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num[5]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8059AABD-3126-4ACE-A56C-123D5206B691}"/>
              </a:ext>
            </a:extLst>
          </p:cNvPr>
          <p:cNvSpPr/>
          <p:nvPr/>
        </p:nvSpPr>
        <p:spPr>
          <a:xfrm>
            <a:off x="6020935" y="4744205"/>
            <a:ext cx="727614" cy="477317"/>
          </a:xfrm>
          <a:prstGeom prst="rightArrow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672D58-6BEA-4AC4-A6C6-B13FD477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723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5610896" cy="706964"/>
          </a:xfrm>
        </p:spPr>
        <p:txBody>
          <a:bodyPr/>
          <a:lstStyle/>
          <a:p>
            <a:r>
              <a:rPr lang="en-US" dirty="0"/>
              <a:t>Using Negative Indexes</a:t>
            </a: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6005076B-4A99-4911-80B5-7210A465B55B}"/>
              </a:ext>
            </a:extLst>
          </p:cNvPr>
          <p:cNvSpPr txBox="1">
            <a:spLocks/>
          </p:cNvSpPr>
          <p:nvPr/>
        </p:nvSpPr>
        <p:spPr bwMode="gray">
          <a:xfrm>
            <a:off x="8343486" y="878969"/>
            <a:ext cx="987755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/>
              <a:t>( </a:t>
            </a:r>
            <a:r>
              <a:rPr lang="en-US" sz="6000" dirty="0"/>
              <a:t>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5B86B8-5ADD-4EA6-B427-204AA2ED9508}"/>
              </a:ext>
            </a:extLst>
          </p:cNvPr>
          <p:cNvSpPr txBox="1"/>
          <p:nvPr/>
        </p:nvSpPr>
        <p:spPr>
          <a:xfrm>
            <a:off x="1154954" y="2239156"/>
            <a:ext cx="5113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Negative Indexes 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B58C18-2021-41D5-BD1B-A798EAC7DB69}"/>
              </a:ext>
            </a:extLst>
          </p:cNvPr>
          <p:cNvSpPr txBox="1"/>
          <p:nvPr/>
        </p:nvSpPr>
        <p:spPr>
          <a:xfrm>
            <a:off x="1154955" y="2700821"/>
            <a:ext cx="9009461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This is possible to access Tuple item by using negative indexes.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C70261-3E6C-4751-A28E-0E4C9085F743}"/>
              </a:ext>
            </a:extLst>
          </p:cNvPr>
          <p:cNvSpPr txBox="1"/>
          <p:nvPr/>
        </p:nvSpPr>
        <p:spPr>
          <a:xfrm>
            <a:off x="1154955" y="3374384"/>
            <a:ext cx="2440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 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CA546A-EE47-4F75-841F-55688FC14E5D}"/>
              </a:ext>
            </a:extLst>
          </p:cNvPr>
          <p:cNvSpPr/>
          <p:nvPr/>
        </p:nvSpPr>
        <p:spPr>
          <a:xfrm>
            <a:off x="1247719" y="4067163"/>
            <a:ext cx="4516977" cy="175432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num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(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56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90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89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96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120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67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# Access single Items of a list.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num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[-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])</a:t>
            </a:r>
          </a:p>
          <a:p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num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[-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])</a:t>
            </a:r>
          </a:p>
          <a:p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num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[-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])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4D46BFF-B1F9-4FB3-A940-20979F9EE917}"/>
              </a:ext>
            </a:extLst>
          </p:cNvPr>
          <p:cNvSpPr/>
          <p:nvPr/>
        </p:nvSpPr>
        <p:spPr>
          <a:xfrm>
            <a:off x="6964633" y="3657942"/>
            <a:ext cx="1501237" cy="29260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163000E-2D14-42BC-8B97-318AE50E1FD1}"/>
              </a:ext>
            </a:extLst>
          </p:cNvPr>
          <p:cNvSpPr/>
          <p:nvPr/>
        </p:nvSpPr>
        <p:spPr>
          <a:xfrm>
            <a:off x="7105651" y="3755002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D676FEA-B689-41FA-992B-07A2B80838F3}"/>
              </a:ext>
            </a:extLst>
          </p:cNvPr>
          <p:cNvSpPr/>
          <p:nvPr/>
        </p:nvSpPr>
        <p:spPr>
          <a:xfrm>
            <a:off x="7105651" y="4222239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0096E2F-6067-4DB3-9400-74882FDA3754}"/>
              </a:ext>
            </a:extLst>
          </p:cNvPr>
          <p:cNvSpPr/>
          <p:nvPr/>
        </p:nvSpPr>
        <p:spPr>
          <a:xfrm>
            <a:off x="7105651" y="4713119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89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E9D1A0B-2748-406D-A770-898A19583E94}"/>
              </a:ext>
            </a:extLst>
          </p:cNvPr>
          <p:cNvSpPr/>
          <p:nvPr/>
        </p:nvSpPr>
        <p:spPr>
          <a:xfrm>
            <a:off x="7105651" y="5174522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96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06B22DF-CFB3-423B-BE24-A59E220774FF}"/>
              </a:ext>
            </a:extLst>
          </p:cNvPr>
          <p:cNvCxnSpPr/>
          <p:nvPr/>
        </p:nvCxnSpPr>
        <p:spPr>
          <a:xfrm>
            <a:off x="8324851" y="3918667"/>
            <a:ext cx="4348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3C7966C-E31C-48EB-BAC0-A50D9AE7C1B8}"/>
              </a:ext>
            </a:extLst>
          </p:cNvPr>
          <p:cNvCxnSpPr/>
          <p:nvPr/>
        </p:nvCxnSpPr>
        <p:spPr>
          <a:xfrm>
            <a:off x="8324851" y="4392086"/>
            <a:ext cx="4348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8D7F031-742A-4907-8758-1033A1DFC6CF}"/>
              </a:ext>
            </a:extLst>
          </p:cNvPr>
          <p:cNvCxnSpPr/>
          <p:nvPr/>
        </p:nvCxnSpPr>
        <p:spPr>
          <a:xfrm>
            <a:off x="8324851" y="4905955"/>
            <a:ext cx="4348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4300B70-B11B-40F5-BE98-B5593A87D162}"/>
              </a:ext>
            </a:extLst>
          </p:cNvPr>
          <p:cNvCxnSpPr/>
          <p:nvPr/>
        </p:nvCxnSpPr>
        <p:spPr>
          <a:xfrm>
            <a:off x="8324851" y="5369781"/>
            <a:ext cx="4348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487E7F7-6DB3-4964-B33F-353AE489F157}"/>
              </a:ext>
            </a:extLst>
          </p:cNvPr>
          <p:cNvSpPr txBox="1"/>
          <p:nvPr/>
        </p:nvSpPr>
        <p:spPr>
          <a:xfrm>
            <a:off x="8794508" y="3622827"/>
            <a:ext cx="121920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num[-6]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ECEF3AC-0751-456C-A692-D3EF323ACBC3}"/>
              </a:ext>
            </a:extLst>
          </p:cNvPr>
          <p:cNvSpPr txBox="1"/>
          <p:nvPr/>
        </p:nvSpPr>
        <p:spPr>
          <a:xfrm>
            <a:off x="8794508" y="4076906"/>
            <a:ext cx="121920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num[-5]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626C144-9C70-4826-9DA7-8D2820DDD832}"/>
              </a:ext>
            </a:extLst>
          </p:cNvPr>
          <p:cNvSpPr txBox="1"/>
          <p:nvPr/>
        </p:nvSpPr>
        <p:spPr>
          <a:xfrm>
            <a:off x="8794508" y="4595208"/>
            <a:ext cx="121920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num[-4]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C0F0019-D993-4AAA-A606-9889B34B3650}"/>
              </a:ext>
            </a:extLst>
          </p:cNvPr>
          <p:cNvSpPr txBox="1"/>
          <p:nvPr/>
        </p:nvSpPr>
        <p:spPr>
          <a:xfrm>
            <a:off x="8794508" y="5049680"/>
            <a:ext cx="121920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num[-3]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BFF409E-5DB7-4C14-AE52-E6639E520015}"/>
              </a:ext>
            </a:extLst>
          </p:cNvPr>
          <p:cNvSpPr/>
          <p:nvPr/>
        </p:nvSpPr>
        <p:spPr>
          <a:xfrm>
            <a:off x="7105651" y="5667623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120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E7FB43D-84B0-4DF3-A79B-FEF218F57F18}"/>
              </a:ext>
            </a:extLst>
          </p:cNvPr>
          <p:cNvSpPr/>
          <p:nvPr/>
        </p:nvSpPr>
        <p:spPr>
          <a:xfrm>
            <a:off x="7105651" y="6125831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67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E3D86DA-8588-4178-BCCE-CAD61474EB48}"/>
              </a:ext>
            </a:extLst>
          </p:cNvPr>
          <p:cNvCxnSpPr/>
          <p:nvPr/>
        </p:nvCxnSpPr>
        <p:spPr>
          <a:xfrm>
            <a:off x="8333168" y="5859228"/>
            <a:ext cx="4348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463B5392-A4E5-4673-AB4A-394ABA3F2B64}"/>
              </a:ext>
            </a:extLst>
          </p:cNvPr>
          <p:cNvSpPr txBox="1"/>
          <p:nvPr/>
        </p:nvSpPr>
        <p:spPr>
          <a:xfrm>
            <a:off x="8802825" y="5539127"/>
            <a:ext cx="121920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num[-2]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E6AAEF6-191C-45DF-931A-B94BE75578B7}"/>
              </a:ext>
            </a:extLst>
          </p:cNvPr>
          <p:cNvCxnSpPr/>
          <p:nvPr/>
        </p:nvCxnSpPr>
        <p:spPr>
          <a:xfrm>
            <a:off x="8333168" y="6302647"/>
            <a:ext cx="4348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EF98846F-B66E-40A4-BF20-00B974CD81A6}"/>
              </a:ext>
            </a:extLst>
          </p:cNvPr>
          <p:cNvSpPr txBox="1"/>
          <p:nvPr/>
        </p:nvSpPr>
        <p:spPr>
          <a:xfrm>
            <a:off x="8802825" y="5982546"/>
            <a:ext cx="121920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num[-1]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8059AABD-3126-4ACE-A56C-123D5206B691}"/>
              </a:ext>
            </a:extLst>
          </p:cNvPr>
          <p:cNvSpPr/>
          <p:nvPr/>
        </p:nvSpPr>
        <p:spPr>
          <a:xfrm>
            <a:off x="6020935" y="4744205"/>
            <a:ext cx="727614" cy="477317"/>
          </a:xfrm>
          <a:prstGeom prst="rightArrow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FC796C-3C4B-4CBA-B841-C109D04B4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310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5610896" cy="706964"/>
          </a:xfrm>
        </p:spPr>
        <p:txBody>
          <a:bodyPr/>
          <a:lstStyle/>
          <a:p>
            <a:r>
              <a:rPr lang="en-US" dirty="0"/>
              <a:t>Range using “:”</a:t>
            </a: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6005076B-4A99-4911-80B5-7210A465B55B}"/>
              </a:ext>
            </a:extLst>
          </p:cNvPr>
          <p:cNvSpPr txBox="1">
            <a:spLocks/>
          </p:cNvSpPr>
          <p:nvPr/>
        </p:nvSpPr>
        <p:spPr bwMode="gray">
          <a:xfrm>
            <a:off x="8343486" y="878969"/>
            <a:ext cx="987755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dirty="0"/>
              <a:t>( 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5B86B8-5ADD-4EA6-B427-204AA2ED9508}"/>
              </a:ext>
            </a:extLst>
          </p:cNvPr>
          <p:cNvSpPr txBox="1"/>
          <p:nvPr/>
        </p:nvSpPr>
        <p:spPr>
          <a:xfrm>
            <a:off x="1154954" y="2239156"/>
            <a:ext cx="5113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Range Using “:”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B58C18-2021-41D5-BD1B-A798EAC7DB69}"/>
              </a:ext>
            </a:extLst>
          </p:cNvPr>
          <p:cNvSpPr txBox="1"/>
          <p:nvPr/>
        </p:nvSpPr>
        <p:spPr>
          <a:xfrm>
            <a:off x="1154955" y="2700821"/>
            <a:ext cx="9009461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In “:” is used to show the Tuple items by indexes range.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C70261-3E6C-4751-A28E-0E4C9085F743}"/>
              </a:ext>
            </a:extLst>
          </p:cNvPr>
          <p:cNvSpPr txBox="1"/>
          <p:nvPr/>
        </p:nvSpPr>
        <p:spPr>
          <a:xfrm>
            <a:off x="1154955" y="3374384"/>
            <a:ext cx="2440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 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CA546A-EE47-4F75-841F-55688FC14E5D}"/>
              </a:ext>
            </a:extLst>
          </p:cNvPr>
          <p:cNvSpPr/>
          <p:nvPr/>
        </p:nvSpPr>
        <p:spPr>
          <a:xfrm>
            <a:off x="1335480" y="4404541"/>
            <a:ext cx="4516977" cy="175432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num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(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56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90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89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96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120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67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# Access list items using “:”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num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[2:5])</a:t>
            </a:r>
          </a:p>
          <a:p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num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[:5])</a:t>
            </a:r>
          </a:p>
          <a:p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num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[2:])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4D46BFF-B1F9-4FB3-A940-20979F9EE917}"/>
              </a:ext>
            </a:extLst>
          </p:cNvPr>
          <p:cNvSpPr/>
          <p:nvPr/>
        </p:nvSpPr>
        <p:spPr>
          <a:xfrm>
            <a:off x="6964633" y="3657942"/>
            <a:ext cx="1501237" cy="29260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163000E-2D14-42BC-8B97-318AE50E1FD1}"/>
              </a:ext>
            </a:extLst>
          </p:cNvPr>
          <p:cNvSpPr/>
          <p:nvPr/>
        </p:nvSpPr>
        <p:spPr>
          <a:xfrm>
            <a:off x="7105651" y="3755002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D676FEA-B689-41FA-992B-07A2B80838F3}"/>
              </a:ext>
            </a:extLst>
          </p:cNvPr>
          <p:cNvSpPr/>
          <p:nvPr/>
        </p:nvSpPr>
        <p:spPr>
          <a:xfrm>
            <a:off x="7105651" y="4222239"/>
            <a:ext cx="1219200" cy="364605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90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0096E2F-6067-4DB3-9400-74882FDA3754}"/>
              </a:ext>
            </a:extLst>
          </p:cNvPr>
          <p:cNvSpPr/>
          <p:nvPr/>
        </p:nvSpPr>
        <p:spPr>
          <a:xfrm>
            <a:off x="7105651" y="4713119"/>
            <a:ext cx="1219200" cy="364605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89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E9D1A0B-2748-406D-A770-898A19583E94}"/>
              </a:ext>
            </a:extLst>
          </p:cNvPr>
          <p:cNvSpPr/>
          <p:nvPr/>
        </p:nvSpPr>
        <p:spPr>
          <a:xfrm>
            <a:off x="7105651" y="5174522"/>
            <a:ext cx="1219200" cy="364605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96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06B22DF-CFB3-423B-BE24-A59E220774FF}"/>
              </a:ext>
            </a:extLst>
          </p:cNvPr>
          <p:cNvCxnSpPr/>
          <p:nvPr/>
        </p:nvCxnSpPr>
        <p:spPr>
          <a:xfrm>
            <a:off x="8324851" y="3918667"/>
            <a:ext cx="4348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3C7966C-E31C-48EB-BAC0-A50D9AE7C1B8}"/>
              </a:ext>
            </a:extLst>
          </p:cNvPr>
          <p:cNvCxnSpPr/>
          <p:nvPr/>
        </p:nvCxnSpPr>
        <p:spPr>
          <a:xfrm>
            <a:off x="8324851" y="4392086"/>
            <a:ext cx="4348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8D7F031-742A-4907-8758-1033A1DFC6CF}"/>
              </a:ext>
            </a:extLst>
          </p:cNvPr>
          <p:cNvCxnSpPr/>
          <p:nvPr/>
        </p:nvCxnSpPr>
        <p:spPr>
          <a:xfrm>
            <a:off x="8324851" y="4905955"/>
            <a:ext cx="4348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4300B70-B11B-40F5-BE98-B5593A87D162}"/>
              </a:ext>
            </a:extLst>
          </p:cNvPr>
          <p:cNvCxnSpPr/>
          <p:nvPr/>
        </p:nvCxnSpPr>
        <p:spPr>
          <a:xfrm>
            <a:off x="8324851" y="5369781"/>
            <a:ext cx="4348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487E7F7-6DB3-4964-B33F-353AE489F157}"/>
              </a:ext>
            </a:extLst>
          </p:cNvPr>
          <p:cNvSpPr txBox="1"/>
          <p:nvPr/>
        </p:nvSpPr>
        <p:spPr>
          <a:xfrm>
            <a:off x="8794508" y="3622827"/>
            <a:ext cx="121920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num[5]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ECEF3AC-0751-456C-A692-D3EF323ACBC3}"/>
              </a:ext>
            </a:extLst>
          </p:cNvPr>
          <p:cNvSpPr txBox="1"/>
          <p:nvPr/>
        </p:nvSpPr>
        <p:spPr>
          <a:xfrm>
            <a:off x="8794508" y="4076906"/>
            <a:ext cx="121920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num[4]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626C144-9C70-4826-9DA7-8D2820DDD832}"/>
              </a:ext>
            </a:extLst>
          </p:cNvPr>
          <p:cNvSpPr txBox="1"/>
          <p:nvPr/>
        </p:nvSpPr>
        <p:spPr>
          <a:xfrm>
            <a:off x="8794508" y="4595208"/>
            <a:ext cx="121920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num[3]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C0F0019-D993-4AAA-A606-9889B34B3650}"/>
              </a:ext>
            </a:extLst>
          </p:cNvPr>
          <p:cNvSpPr txBox="1"/>
          <p:nvPr/>
        </p:nvSpPr>
        <p:spPr>
          <a:xfrm>
            <a:off x="8794508" y="5049680"/>
            <a:ext cx="121920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num[2]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BFF409E-5DB7-4C14-AE52-E6639E520015}"/>
              </a:ext>
            </a:extLst>
          </p:cNvPr>
          <p:cNvSpPr/>
          <p:nvPr/>
        </p:nvSpPr>
        <p:spPr>
          <a:xfrm>
            <a:off x="7105651" y="5667623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120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E7FB43D-84B0-4DF3-A79B-FEF218F57F18}"/>
              </a:ext>
            </a:extLst>
          </p:cNvPr>
          <p:cNvSpPr/>
          <p:nvPr/>
        </p:nvSpPr>
        <p:spPr>
          <a:xfrm>
            <a:off x="7105651" y="6125831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67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E3D86DA-8588-4178-BCCE-CAD61474EB48}"/>
              </a:ext>
            </a:extLst>
          </p:cNvPr>
          <p:cNvCxnSpPr/>
          <p:nvPr/>
        </p:nvCxnSpPr>
        <p:spPr>
          <a:xfrm>
            <a:off x="8333168" y="5859228"/>
            <a:ext cx="4348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463B5392-A4E5-4673-AB4A-394ABA3F2B64}"/>
              </a:ext>
            </a:extLst>
          </p:cNvPr>
          <p:cNvSpPr txBox="1"/>
          <p:nvPr/>
        </p:nvSpPr>
        <p:spPr>
          <a:xfrm>
            <a:off x="8802825" y="5539127"/>
            <a:ext cx="121920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num[1]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E6AAEF6-191C-45DF-931A-B94BE75578B7}"/>
              </a:ext>
            </a:extLst>
          </p:cNvPr>
          <p:cNvCxnSpPr/>
          <p:nvPr/>
        </p:nvCxnSpPr>
        <p:spPr>
          <a:xfrm>
            <a:off x="8333168" y="6302647"/>
            <a:ext cx="4348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EF98846F-B66E-40A4-BF20-00B974CD81A6}"/>
              </a:ext>
            </a:extLst>
          </p:cNvPr>
          <p:cNvSpPr txBox="1"/>
          <p:nvPr/>
        </p:nvSpPr>
        <p:spPr>
          <a:xfrm>
            <a:off x="8802825" y="5982546"/>
            <a:ext cx="121920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num[0]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8059AABD-3126-4ACE-A56C-123D5206B691}"/>
              </a:ext>
            </a:extLst>
          </p:cNvPr>
          <p:cNvSpPr/>
          <p:nvPr/>
        </p:nvSpPr>
        <p:spPr>
          <a:xfrm>
            <a:off x="6020935" y="4744205"/>
            <a:ext cx="727614" cy="477317"/>
          </a:xfrm>
          <a:prstGeom prst="rightArrow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A24758-9D9E-4525-8434-C9CD32741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5965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6266262" cy="706964"/>
          </a:xfrm>
        </p:spPr>
        <p:txBody>
          <a:bodyPr/>
          <a:lstStyle/>
          <a:p>
            <a:r>
              <a:rPr lang="en-US" dirty="0"/>
              <a:t>Change Item Value in List</a:t>
            </a: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6005076B-4A99-4911-80B5-7210A465B55B}"/>
              </a:ext>
            </a:extLst>
          </p:cNvPr>
          <p:cNvSpPr txBox="1">
            <a:spLocks/>
          </p:cNvSpPr>
          <p:nvPr/>
        </p:nvSpPr>
        <p:spPr bwMode="gray">
          <a:xfrm>
            <a:off x="8343486" y="878969"/>
            <a:ext cx="987755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dirty="0"/>
              <a:t>( 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5B86B8-5ADD-4EA6-B427-204AA2ED9508}"/>
              </a:ext>
            </a:extLst>
          </p:cNvPr>
          <p:cNvSpPr txBox="1"/>
          <p:nvPr/>
        </p:nvSpPr>
        <p:spPr>
          <a:xfrm>
            <a:off x="1154954" y="2239156"/>
            <a:ext cx="5113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List Change Value :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298612C-B9FC-4FD1-B0A8-4AA8033CAF0C}"/>
              </a:ext>
            </a:extLst>
          </p:cNvPr>
          <p:cNvSpPr txBox="1"/>
          <p:nvPr/>
        </p:nvSpPr>
        <p:spPr>
          <a:xfrm>
            <a:off x="3805391" y="3564896"/>
            <a:ext cx="3708592" cy="737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Not Work In Tuple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CA5686-8C10-47E6-BEEC-6A054325B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880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6266262" cy="706964"/>
          </a:xfrm>
        </p:spPr>
        <p:txBody>
          <a:bodyPr/>
          <a:lstStyle/>
          <a:p>
            <a:r>
              <a:rPr lang="en-US" dirty="0"/>
              <a:t>Append() Function</a:t>
            </a: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6005076B-4A99-4911-80B5-7210A465B55B}"/>
              </a:ext>
            </a:extLst>
          </p:cNvPr>
          <p:cNvSpPr txBox="1">
            <a:spLocks/>
          </p:cNvSpPr>
          <p:nvPr/>
        </p:nvSpPr>
        <p:spPr bwMode="gray">
          <a:xfrm>
            <a:off x="8343486" y="878969"/>
            <a:ext cx="987755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dirty="0"/>
              <a:t>( 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5B86B8-5ADD-4EA6-B427-204AA2ED9508}"/>
              </a:ext>
            </a:extLst>
          </p:cNvPr>
          <p:cNvSpPr txBox="1"/>
          <p:nvPr/>
        </p:nvSpPr>
        <p:spPr>
          <a:xfrm>
            <a:off x="1154954" y="2239156"/>
            <a:ext cx="5113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Append() Function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C214F8-0065-4341-B42B-F38523B782AE}"/>
              </a:ext>
            </a:extLst>
          </p:cNvPr>
          <p:cNvSpPr txBox="1"/>
          <p:nvPr/>
        </p:nvSpPr>
        <p:spPr>
          <a:xfrm>
            <a:off x="3805391" y="3564896"/>
            <a:ext cx="3708592" cy="737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Not Work In Tuple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EB7C00-4A67-494D-8E32-DFC7B318B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916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6266262" cy="706964"/>
          </a:xfrm>
        </p:spPr>
        <p:txBody>
          <a:bodyPr/>
          <a:lstStyle/>
          <a:p>
            <a:r>
              <a:rPr lang="en-US" dirty="0"/>
              <a:t>Pop() Function</a:t>
            </a: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6005076B-4A99-4911-80B5-7210A465B55B}"/>
              </a:ext>
            </a:extLst>
          </p:cNvPr>
          <p:cNvSpPr txBox="1">
            <a:spLocks/>
          </p:cNvSpPr>
          <p:nvPr/>
        </p:nvSpPr>
        <p:spPr bwMode="gray">
          <a:xfrm>
            <a:off x="8343486" y="878969"/>
            <a:ext cx="987755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dirty="0"/>
              <a:t>( 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5B86B8-5ADD-4EA6-B427-204AA2ED9508}"/>
              </a:ext>
            </a:extLst>
          </p:cNvPr>
          <p:cNvSpPr txBox="1"/>
          <p:nvPr/>
        </p:nvSpPr>
        <p:spPr>
          <a:xfrm>
            <a:off x="1154954" y="2239156"/>
            <a:ext cx="5113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Pop Function 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5DAC9C-9516-4E85-81A2-CD86CD12B6B8}"/>
              </a:ext>
            </a:extLst>
          </p:cNvPr>
          <p:cNvSpPr txBox="1"/>
          <p:nvPr/>
        </p:nvSpPr>
        <p:spPr>
          <a:xfrm>
            <a:off x="3805391" y="3564896"/>
            <a:ext cx="3708592" cy="737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Not Work In Tuple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DB91DA-2458-4241-AE4A-0964CE1F9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8601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5610896" cy="706964"/>
          </a:xfrm>
        </p:spPr>
        <p:txBody>
          <a:bodyPr/>
          <a:lstStyle/>
          <a:p>
            <a:r>
              <a:rPr lang="en-US" dirty="0"/>
              <a:t>Pop() Function by Index</a:t>
            </a: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6005076B-4A99-4911-80B5-7210A465B55B}"/>
              </a:ext>
            </a:extLst>
          </p:cNvPr>
          <p:cNvSpPr txBox="1">
            <a:spLocks/>
          </p:cNvSpPr>
          <p:nvPr/>
        </p:nvSpPr>
        <p:spPr bwMode="gray">
          <a:xfrm>
            <a:off x="8343486" y="878969"/>
            <a:ext cx="987755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dirty="0"/>
              <a:t>( 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5B86B8-5ADD-4EA6-B427-204AA2ED9508}"/>
              </a:ext>
            </a:extLst>
          </p:cNvPr>
          <p:cNvSpPr txBox="1"/>
          <p:nvPr/>
        </p:nvSpPr>
        <p:spPr>
          <a:xfrm>
            <a:off x="1154954" y="2239156"/>
            <a:ext cx="5113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Pop() function :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4192F0-D5E7-4482-AFF7-007C25F12242}"/>
              </a:ext>
            </a:extLst>
          </p:cNvPr>
          <p:cNvSpPr txBox="1"/>
          <p:nvPr/>
        </p:nvSpPr>
        <p:spPr>
          <a:xfrm>
            <a:off x="3805391" y="3564896"/>
            <a:ext cx="3708592" cy="737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Not Work In Tuple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34F0FA-B240-491D-80B8-27D428913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1485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5610896" cy="706964"/>
          </a:xfrm>
        </p:spPr>
        <p:txBody>
          <a:bodyPr/>
          <a:lstStyle/>
          <a:p>
            <a:r>
              <a:rPr lang="en-US" dirty="0"/>
              <a:t>Extend() Function</a:t>
            </a: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6005076B-4A99-4911-80B5-7210A465B55B}"/>
              </a:ext>
            </a:extLst>
          </p:cNvPr>
          <p:cNvSpPr txBox="1">
            <a:spLocks/>
          </p:cNvSpPr>
          <p:nvPr/>
        </p:nvSpPr>
        <p:spPr bwMode="gray">
          <a:xfrm>
            <a:off x="8343486" y="878969"/>
            <a:ext cx="987755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dirty="0"/>
              <a:t>( )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5B86B8-5ADD-4EA6-B427-204AA2ED9508}"/>
              </a:ext>
            </a:extLst>
          </p:cNvPr>
          <p:cNvSpPr txBox="1"/>
          <p:nvPr/>
        </p:nvSpPr>
        <p:spPr>
          <a:xfrm>
            <a:off x="1154954" y="2239156"/>
            <a:ext cx="5113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Extend() Method 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EF3CFC-C784-4D37-80C5-88AAD855D1D9}"/>
              </a:ext>
            </a:extLst>
          </p:cNvPr>
          <p:cNvSpPr txBox="1"/>
          <p:nvPr/>
        </p:nvSpPr>
        <p:spPr>
          <a:xfrm>
            <a:off x="3805391" y="3564896"/>
            <a:ext cx="3708592" cy="737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Not Work In Tuple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98C766-FC59-4F46-8D9D-30F454A94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80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5610896" cy="706964"/>
          </a:xfrm>
        </p:spPr>
        <p:txBody>
          <a:bodyPr/>
          <a:lstStyle/>
          <a:p>
            <a:r>
              <a:rPr lang="en-US" dirty="0"/>
              <a:t>Loop Through a Tuple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5B86B8-5ADD-4EA6-B427-204AA2ED9508}"/>
              </a:ext>
            </a:extLst>
          </p:cNvPr>
          <p:cNvSpPr txBox="1"/>
          <p:nvPr/>
        </p:nvSpPr>
        <p:spPr>
          <a:xfrm>
            <a:off x="1154954" y="2239156"/>
            <a:ext cx="5113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Loop Through a Tuple 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B58C18-2021-41D5-BD1B-A798EAC7DB69}"/>
              </a:ext>
            </a:extLst>
          </p:cNvPr>
          <p:cNvSpPr txBox="1"/>
          <p:nvPr/>
        </p:nvSpPr>
        <p:spPr>
          <a:xfrm>
            <a:off x="1154955" y="2714676"/>
            <a:ext cx="10225296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You can loop through the Tuple items by using a for loop.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C70261-3E6C-4751-A28E-0E4C9085F743}"/>
              </a:ext>
            </a:extLst>
          </p:cNvPr>
          <p:cNvSpPr txBox="1"/>
          <p:nvPr/>
        </p:nvSpPr>
        <p:spPr>
          <a:xfrm>
            <a:off x="1154955" y="3427396"/>
            <a:ext cx="2440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 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657E0B-B2E9-47EA-9DCD-148B85F561F5}"/>
              </a:ext>
            </a:extLst>
          </p:cNvPr>
          <p:cNvSpPr/>
          <p:nvPr/>
        </p:nvSpPr>
        <p:spPr>
          <a:xfrm>
            <a:off x="1272209" y="4120179"/>
            <a:ext cx="5128591" cy="1200329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fruits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"Banana"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"Mango"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"Cherry“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fruits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A39D44-8820-49C5-AA2F-2A5CE1DA7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14</a:t>
            </a:fld>
            <a:endParaRPr lang="en-US" dirty="0"/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6B948B24-1E1E-4744-8D95-4E7B2671EF61}"/>
              </a:ext>
            </a:extLst>
          </p:cNvPr>
          <p:cNvSpPr txBox="1">
            <a:spLocks/>
          </p:cNvSpPr>
          <p:nvPr/>
        </p:nvSpPr>
        <p:spPr bwMode="gray">
          <a:xfrm>
            <a:off x="8343486" y="878969"/>
            <a:ext cx="987755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dirty="0"/>
              <a:t>( ) </a:t>
            </a:r>
          </a:p>
        </p:txBody>
      </p:sp>
    </p:spTree>
    <p:extLst>
      <p:ext uri="{BB962C8B-B14F-4D97-AF65-F5344CB8AC3E}">
        <p14:creationId xmlns:p14="http://schemas.microsoft.com/office/powerpoint/2010/main" val="34091004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8346854" cy="706964"/>
          </a:xfrm>
        </p:spPr>
        <p:txBody>
          <a:bodyPr/>
          <a:lstStyle/>
          <a:p>
            <a:r>
              <a:rPr lang="en-US" dirty="0"/>
              <a:t>Rang and Length Function in Loop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5B86B8-5ADD-4EA6-B427-204AA2ED9508}"/>
              </a:ext>
            </a:extLst>
          </p:cNvPr>
          <p:cNvSpPr txBox="1"/>
          <p:nvPr/>
        </p:nvSpPr>
        <p:spPr>
          <a:xfrm>
            <a:off x="1154954" y="2239156"/>
            <a:ext cx="5113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Range() and Len() function 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B58C18-2021-41D5-BD1B-A798EAC7DB69}"/>
              </a:ext>
            </a:extLst>
          </p:cNvPr>
          <p:cNvSpPr txBox="1"/>
          <p:nvPr/>
        </p:nvSpPr>
        <p:spPr>
          <a:xfrm>
            <a:off x="1154955" y="2700821"/>
            <a:ext cx="10772002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Range function get the length of a Tuple and </a:t>
            </a:r>
            <a:r>
              <a:rPr lang="en-US" sz="2000" dirty="0" err="1"/>
              <a:t>len</a:t>
            </a:r>
            <a:r>
              <a:rPr lang="en-US" sz="2000" dirty="0"/>
              <a:t>() function is get the items of a Tuple.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C70261-3E6C-4751-A28E-0E4C9085F743}"/>
              </a:ext>
            </a:extLst>
          </p:cNvPr>
          <p:cNvSpPr txBox="1"/>
          <p:nvPr/>
        </p:nvSpPr>
        <p:spPr>
          <a:xfrm>
            <a:off x="1154955" y="3427396"/>
            <a:ext cx="2440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 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15922A-0B4C-4E07-935D-709E57CF6B19}"/>
              </a:ext>
            </a:extLst>
          </p:cNvPr>
          <p:cNvSpPr/>
          <p:nvPr/>
        </p:nvSpPr>
        <p:spPr>
          <a:xfrm>
            <a:off x="1272209" y="4123703"/>
            <a:ext cx="6096000" cy="1200329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fruits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"Banana"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"Mango"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"Cherry“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range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len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fruits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)):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fruits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])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6A8780-9F0C-4FFD-B2A4-EF17BF31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3692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8346854" cy="706964"/>
          </a:xfrm>
        </p:spPr>
        <p:txBody>
          <a:bodyPr/>
          <a:lstStyle/>
          <a:p>
            <a:r>
              <a:rPr lang="en-US" dirty="0"/>
              <a:t>Note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B58C18-2021-41D5-BD1B-A798EAC7DB69}"/>
              </a:ext>
            </a:extLst>
          </p:cNvPr>
          <p:cNvSpPr txBox="1"/>
          <p:nvPr/>
        </p:nvSpPr>
        <p:spPr>
          <a:xfrm>
            <a:off x="650364" y="2487492"/>
            <a:ext cx="10891272" cy="18830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Once a tuple is created, you cannot change its values. Tuples are unchangeable.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arenR"/>
            </a:pPr>
            <a:endParaRPr lang="en-US" sz="2000" dirty="0"/>
          </a:p>
          <a:p>
            <a:pPr marL="457200" indent="-457200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But there is a workaround. You can convert the tuple into a list, change the list, and convert the list back into a tuple.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D7C23C-C168-48C0-84DC-84642655A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8135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8346854" cy="706964"/>
          </a:xfrm>
        </p:spPr>
        <p:txBody>
          <a:bodyPr/>
          <a:lstStyle/>
          <a:p>
            <a:r>
              <a:rPr lang="en-US" dirty="0"/>
              <a:t>Convert Tuple into a List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5B86B8-5ADD-4EA6-B427-204AA2ED9508}"/>
              </a:ext>
            </a:extLst>
          </p:cNvPr>
          <p:cNvSpPr txBox="1"/>
          <p:nvPr/>
        </p:nvSpPr>
        <p:spPr>
          <a:xfrm>
            <a:off x="1154954" y="2239156"/>
            <a:ext cx="5113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Convert Tuple to List 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B58C18-2021-41D5-BD1B-A798EAC7DB69}"/>
              </a:ext>
            </a:extLst>
          </p:cNvPr>
          <p:cNvSpPr txBox="1"/>
          <p:nvPr/>
        </p:nvSpPr>
        <p:spPr>
          <a:xfrm>
            <a:off x="1154955" y="2700821"/>
            <a:ext cx="10772002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It’s possible to convert Tuple into a List. The example are give below.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C70261-3E6C-4751-A28E-0E4C9085F743}"/>
              </a:ext>
            </a:extLst>
          </p:cNvPr>
          <p:cNvSpPr txBox="1"/>
          <p:nvPr/>
        </p:nvSpPr>
        <p:spPr>
          <a:xfrm>
            <a:off x="1128451" y="3427396"/>
            <a:ext cx="2440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 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46ADEE-5653-4DB0-8706-49AB088A3CBD}"/>
              </a:ext>
            </a:extLst>
          </p:cNvPr>
          <p:cNvSpPr/>
          <p:nvPr/>
        </p:nvSpPr>
        <p:spPr>
          <a:xfrm>
            <a:off x="1232453" y="4018148"/>
            <a:ext cx="6096000" cy="2585323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"Kamran"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"Younus"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"Wajid"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"Saleem"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y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list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y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insert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"New"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type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))</a:t>
            </a:r>
          </a:p>
          <a:p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y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C2A71E-8225-4F3B-8EF3-D56F0003D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16504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82DE0D62-AAD7-4D50-AD06-F7CC05D961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2650434"/>
            <a:ext cx="8825658" cy="1133033"/>
          </a:xfrm>
        </p:spPr>
        <p:txBody>
          <a:bodyPr/>
          <a:lstStyle/>
          <a:p>
            <a:r>
              <a:rPr lang="en-US" sz="7200" dirty="0"/>
              <a:t>Thanks for Reading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19BB86-8C64-49EA-BB4A-2058CAAB6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44601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805</TotalTime>
  <Words>855</Words>
  <Application>Microsoft Office PowerPoint</Application>
  <PresentationFormat>Widescreen</PresentationFormat>
  <Paragraphs>183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Arial Rounded MT Bold</vt:lpstr>
      <vt:lpstr>Calibri</vt:lpstr>
      <vt:lpstr>Century Gothic</vt:lpstr>
      <vt:lpstr>Consolas</vt:lpstr>
      <vt:lpstr>Times New Roman</vt:lpstr>
      <vt:lpstr>Wingdings</vt:lpstr>
      <vt:lpstr>Wingdings 3</vt:lpstr>
      <vt:lpstr>Ion Boardroom</vt:lpstr>
      <vt:lpstr>Part 6  Introduction to Python Tuple</vt:lpstr>
      <vt:lpstr>What is Tuple in Python?</vt:lpstr>
      <vt:lpstr>Tuple in different Data Types</vt:lpstr>
      <vt:lpstr>Len() Function in Tuple</vt:lpstr>
      <vt:lpstr>Insert Function</vt:lpstr>
      <vt:lpstr>Accessing Items in a Tuple</vt:lpstr>
      <vt:lpstr>Using Negative Indexes</vt:lpstr>
      <vt:lpstr>Range using “:”</vt:lpstr>
      <vt:lpstr>Change Item Value in List</vt:lpstr>
      <vt:lpstr>Append() Function</vt:lpstr>
      <vt:lpstr>Pop() Function</vt:lpstr>
      <vt:lpstr>Pop() Function by Index</vt:lpstr>
      <vt:lpstr>Extend() Function</vt:lpstr>
      <vt:lpstr>Loop Through a Tuple</vt:lpstr>
      <vt:lpstr>Rang and Length Function in Loop</vt:lpstr>
      <vt:lpstr>Note</vt:lpstr>
      <vt:lpstr>Convert Tuple into a List</vt:lpstr>
      <vt:lpstr>Thanks for 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Babar Ali</dc:creator>
  <cp:lastModifiedBy>Babar Ali</cp:lastModifiedBy>
  <cp:revision>544</cp:revision>
  <dcterms:created xsi:type="dcterms:W3CDTF">2021-12-18T06:39:36Z</dcterms:created>
  <dcterms:modified xsi:type="dcterms:W3CDTF">2022-01-13T18:15:55Z</dcterms:modified>
</cp:coreProperties>
</file>