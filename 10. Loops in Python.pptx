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72" r:id="rId3"/>
    <p:sldId id="279" r:id="rId4"/>
    <p:sldId id="273" r:id="rId5"/>
    <p:sldId id="278" r:id="rId6"/>
    <p:sldId id="274" r:id="rId7"/>
    <p:sldId id="275" r:id="rId8"/>
    <p:sldId id="276" r:id="rId9"/>
    <p:sldId id="277"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AC3BF3-4FA9-42CB-B593-4ADF739E3A97}" type="doc">
      <dgm:prSet loTypeId="urn:microsoft.com/office/officeart/2005/8/layout/cycle1" loCatId="cycle" qsTypeId="urn:microsoft.com/office/officeart/2005/8/quickstyle/simple5" qsCatId="simple" csTypeId="urn:microsoft.com/office/officeart/2005/8/colors/accent1_2" csCatId="accent1" phldr="1"/>
      <dgm:spPr/>
      <dgm:t>
        <a:bodyPr/>
        <a:lstStyle/>
        <a:p>
          <a:endParaRPr lang="en-US"/>
        </a:p>
      </dgm:t>
    </dgm:pt>
    <dgm:pt modelId="{238713E8-E590-48D3-8B67-AB4D4D86980A}">
      <dgm:prSet phldrT="[Text]"/>
      <dgm:spPr/>
      <dgm:t>
        <a:bodyPr/>
        <a:lstStyle/>
        <a:p>
          <a:r>
            <a:rPr lang="en-US" dirty="0"/>
            <a:t>Iteration 1</a:t>
          </a:r>
        </a:p>
      </dgm:t>
    </dgm:pt>
    <dgm:pt modelId="{7F4C6168-37D2-4BC6-B751-BAE7C808572C}" type="parTrans" cxnId="{08B8717D-85B6-435D-A68D-CC95E8A356E3}">
      <dgm:prSet/>
      <dgm:spPr/>
      <dgm:t>
        <a:bodyPr/>
        <a:lstStyle/>
        <a:p>
          <a:endParaRPr lang="en-US"/>
        </a:p>
      </dgm:t>
    </dgm:pt>
    <dgm:pt modelId="{F957D13E-E01D-4177-9C1E-F097EA9932BC}" type="sibTrans" cxnId="{08B8717D-85B6-435D-A68D-CC95E8A356E3}">
      <dgm:prSet/>
      <dgm:spPr/>
      <dgm:t>
        <a:bodyPr/>
        <a:lstStyle/>
        <a:p>
          <a:endParaRPr lang="en-US"/>
        </a:p>
      </dgm:t>
    </dgm:pt>
    <dgm:pt modelId="{0C4B9065-8732-4703-99D2-42DFF068F453}">
      <dgm:prSet phldrT="[Text]"/>
      <dgm:spPr/>
      <dgm:t>
        <a:bodyPr/>
        <a:lstStyle/>
        <a:p>
          <a:r>
            <a:rPr lang="en-US" dirty="0"/>
            <a:t>Iteration 2</a:t>
          </a:r>
        </a:p>
      </dgm:t>
    </dgm:pt>
    <dgm:pt modelId="{66DA3459-D7C5-4AA3-A8AE-5D76BB7F285A}" type="parTrans" cxnId="{1CCC2D0C-B933-4D7B-931E-D2884DCCBE6A}">
      <dgm:prSet/>
      <dgm:spPr/>
      <dgm:t>
        <a:bodyPr/>
        <a:lstStyle/>
        <a:p>
          <a:endParaRPr lang="en-US"/>
        </a:p>
      </dgm:t>
    </dgm:pt>
    <dgm:pt modelId="{FD0D3FA3-C4F6-49AA-84D8-5BDC941BEA72}" type="sibTrans" cxnId="{1CCC2D0C-B933-4D7B-931E-D2884DCCBE6A}">
      <dgm:prSet/>
      <dgm:spPr/>
      <dgm:t>
        <a:bodyPr/>
        <a:lstStyle/>
        <a:p>
          <a:endParaRPr lang="en-US"/>
        </a:p>
      </dgm:t>
    </dgm:pt>
    <dgm:pt modelId="{14A88C50-F897-4974-AE50-2F1D862DFEB2}">
      <dgm:prSet phldrT="[Text]"/>
      <dgm:spPr/>
      <dgm:t>
        <a:bodyPr/>
        <a:lstStyle/>
        <a:p>
          <a:r>
            <a:rPr lang="en-US" dirty="0"/>
            <a:t>Iteration 3</a:t>
          </a:r>
        </a:p>
      </dgm:t>
    </dgm:pt>
    <dgm:pt modelId="{654DC507-280B-408B-8480-59AB0CB240E2}" type="parTrans" cxnId="{0BE4FBD2-4105-4122-A5BC-3C28D10597BE}">
      <dgm:prSet/>
      <dgm:spPr/>
      <dgm:t>
        <a:bodyPr/>
        <a:lstStyle/>
        <a:p>
          <a:endParaRPr lang="en-US"/>
        </a:p>
      </dgm:t>
    </dgm:pt>
    <dgm:pt modelId="{3417E8C0-7CB7-4540-B372-9B0D39466799}" type="sibTrans" cxnId="{0BE4FBD2-4105-4122-A5BC-3C28D10597BE}">
      <dgm:prSet/>
      <dgm:spPr/>
      <dgm:t>
        <a:bodyPr/>
        <a:lstStyle/>
        <a:p>
          <a:endParaRPr lang="en-US"/>
        </a:p>
      </dgm:t>
    </dgm:pt>
    <dgm:pt modelId="{775AD6B2-C7C5-4806-A5D3-ADB08DC2D165}">
      <dgm:prSet phldrT="[Text]"/>
      <dgm:spPr/>
      <dgm:t>
        <a:bodyPr/>
        <a:lstStyle/>
        <a:p>
          <a:r>
            <a:rPr lang="en-US" dirty="0"/>
            <a:t>Iteration 4</a:t>
          </a:r>
        </a:p>
      </dgm:t>
    </dgm:pt>
    <dgm:pt modelId="{4FB7AB23-A84A-46FC-A64A-EA396F6D0BAA}" type="parTrans" cxnId="{6D29398C-485E-4DFE-AD94-26F98B78D1A1}">
      <dgm:prSet/>
      <dgm:spPr/>
      <dgm:t>
        <a:bodyPr/>
        <a:lstStyle/>
        <a:p>
          <a:endParaRPr lang="en-US"/>
        </a:p>
      </dgm:t>
    </dgm:pt>
    <dgm:pt modelId="{5B4A8C65-6946-4F06-BD36-5765959C4DEF}" type="sibTrans" cxnId="{6D29398C-485E-4DFE-AD94-26F98B78D1A1}">
      <dgm:prSet/>
      <dgm:spPr/>
      <dgm:t>
        <a:bodyPr/>
        <a:lstStyle/>
        <a:p>
          <a:endParaRPr lang="en-US"/>
        </a:p>
      </dgm:t>
    </dgm:pt>
    <dgm:pt modelId="{F1B74B5D-C860-4AA7-BDB0-646C664DB562}">
      <dgm:prSet phldrT="[Text]"/>
      <dgm:spPr/>
      <dgm:t>
        <a:bodyPr/>
        <a:lstStyle/>
        <a:p>
          <a:r>
            <a:rPr lang="en-US" dirty="0"/>
            <a:t>Iteration n</a:t>
          </a:r>
        </a:p>
      </dgm:t>
    </dgm:pt>
    <dgm:pt modelId="{1CDDE090-E595-472B-9F83-E98E5184F581}" type="parTrans" cxnId="{5F27C648-30E2-4643-8CF3-5823E2C21A0F}">
      <dgm:prSet/>
      <dgm:spPr/>
      <dgm:t>
        <a:bodyPr/>
        <a:lstStyle/>
        <a:p>
          <a:endParaRPr lang="en-US"/>
        </a:p>
      </dgm:t>
    </dgm:pt>
    <dgm:pt modelId="{0386AF6E-7023-4542-9AF9-93C4337C9C1E}" type="sibTrans" cxnId="{5F27C648-30E2-4643-8CF3-5823E2C21A0F}">
      <dgm:prSet/>
      <dgm:spPr/>
      <dgm:t>
        <a:bodyPr/>
        <a:lstStyle/>
        <a:p>
          <a:endParaRPr lang="en-US"/>
        </a:p>
      </dgm:t>
    </dgm:pt>
    <dgm:pt modelId="{7AD11012-DC88-4C90-B93E-DE57A363B1BB}" type="pres">
      <dgm:prSet presAssocID="{ABAC3BF3-4FA9-42CB-B593-4ADF739E3A97}" presName="cycle" presStyleCnt="0">
        <dgm:presLayoutVars>
          <dgm:dir/>
          <dgm:resizeHandles val="exact"/>
        </dgm:presLayoutVars>
      </dgm:prSet>
      <dgm:spPr/>
    </dgm:pt>
    <dgm:pt modelId="{331DB6A5-FA2B-4157-8B08-1AC20CBD79BE}" type="pres">
      <dgm:prSet presAssocID="{238713E8-E590-48D3-8B67-AB4D4D86980A}" presName="dummy" presStyleCnt="0"/>
      <dgm:spPr/>
    </dgm:pt>
    <dgm:pt modelId="{9E8D1AF7-B4C5-4CB3-B8FB-9159B6AA1D86}" type="pres">
      <dgm:prSet presAssocID="{238713E8-E590-48D3-8B67-AB4D4D86980A}" presName="node" presStyleLbl="revTx" presStyleIdx="0" presStyleCnt="5">
        <dgm:presLayoutVars>
          <dgm:bulletEnabled val="1"/>
        </dgm:presLayoutVars>
      </dgm:prSet>
      <dgm:spPr/>
    </dgm:pt>
    <dgm:pt modelId="{9FB53636-2EB6-45E1-9DA0-0796EC761089}" type="pres">
      <dgm:prSet presAssocID="{F957D13E-E01D-4177-9C1E-F097EA9932BC}" presName="sibTrans" presStyleLbl="node1" presStyleIdx="0" presStyleCnt="5"/>
      <dgm:spPr/>
    </dgm:pt>
    <dgm:pt modelId="{B790B4E8-7CA9-4790-A2BB-8237A734C959}" type="pres">
      <dgm:prSet presAssocID="{0C4B9065-8732-4703-99D2-42DFF068F453}" presName="dummy" presStyleCnt="0"/>
      <dgm:spPr/>
    </dgm:pt>
    <dgm:pt modelId="{5DB71227-E350-4A05-838F-E237F47D0A76}" type="pres">
      <dgm:prSet presAssocID="{0C4B9065-8732-4703-99D2-42DFF068F453}" presName="node" presStyleLbl="revTx" presStyleIdx="1" presStyleCnt="5">
        <dgm:presLayoutVars>
          <dgm:bulletEnabled val="1"/>
        </dgm:presLayoutVars>
      </dgm:prSet>
      <dgm:spPr/>
    </dgm:pt>
    <dgm:pt modelId="{60990F9A-79A7-4298-92EE-A08CD35738CA}" type="pres">
      <dgm:prSet presAssocID="{FD0D3FA3-C4F6-49AA-84D8-5BDC941BEA72}" presName="sibTrans" presStyleLbl="node1" presStyleIdx="1" presStyleCnt="5"/>
      <dgm:spPr/>
    </dgm:pt>
    <dgm:pt modelId="{FE7C52AC-9B1F-4150-BEEB-0B47FC8C60D9}" type="pres">
      <dgm:prSet presAssocID="{14A88C50-F897-4974-AE50-2F1D862DFEB2}" presName="dummy" presStyleCnt="0"/>
      <dgm:spPr/>
    </dgm:pt>
    <dgm:pt modelId="{944E0BE2-C044-414D-8FF8-C9BFC6318E17}" type="pres">
      <dgm:prSet presAssocID="{14A88C50-F897-4974-AE50-2F1D862DFEB2}" presName="node" presStyleLbl="revTx" presStyleIdx="2" presStyleCnt="5">
        <dgm:presLayoutVars>
          <dgm:bulletEnabled val="1"/>
        </dgm:presLayoutVars>
      </dgm:prSet>
      <dgm:spPr/>
    </dgm:pt>
    <dgm:pt modelId="{56A0E074-8714-4AFB-987D-FBD0834D99A1}" type="pres">
      <dgm:prSet presAssocID="{3417E8C0-7CB7-4540-B372-9B0D39466799}" presName="sibTrans" presStyleLbl="node1" presStyleIdx="2" presStyleCnt="5"/>
      <dgm:spPr/>
    </dgm:pt>
    <dgm:pt modelId="{A5A1350A-E860-4126-9690-CE79FF308082}" type="pres">
      <dgm:prSet presAssocID="{775AD6B2-C7C5-4806-A5D3-ADB08DC2D165}" presName="dummy" presStyleCnt="0"/>
      <dgm:spPr/>
    </dgm:pt>
    <dgm:pt modelId="{67F978CE-FBA6-4450-B365-9E0B9E169C2E}" type="pres">
      <dgm:prSet presAssocID="{775AD6B2-C7C5-4806-A5D3-ADB08DC2D165}" presName="node" presStyleLbl="revTx" presStyleIdx="3" presStyleCnt="5">
        <dgm:presLayoutVars>
          <dgm:bulletEnabled val="1"/>
        </dgm:presLayoutVars>
      </dgm:prSet>
      <dgm:spPr/>
    </dgm:pt>
    <dgm:pt modelId="{5839BE6E-6B31-4DBF-9D79-3FFB1912001A}" type="pres">
      <dgm:prSet presAssocID="{5B4A8C65-6946-4F06-BD36-5765959C4DEF}" presName="sibTrans" presStyleLbl="node1" presStyleIdx="3" presStyleCnt="5"/>
      <dgm:spPr/>
    </dgm:pt>
    <dgm:pt modelId="{D8EC430E-028C-4517-8BFB-43DAE9C6FC02}" type="pres">
      <dgm:prSet presAssocID="{F1B74B5D-C860-4AA7-BDB0-646C664DB562}" presName="dummy" presStyleCnt="0"/>
      <dgm:spPr/>
    </dgm:pt>
    <dgm:pt modelId="{EB4169B7-DF0A-4826-9E92-D16512C4E454}" type="pres">
      <dgm:prSet presAssocID="{F1B74B5D-C860-4AA7-BDB0-646C664DB562}" presName="node" presStyleLbl="revTx" presStyleIdx="4" presStyleCnt="5">
        <dgm:presLayoutVars>
          <dgm:bulletEnabled val="1"/>
        </dgm:presLayoutVars>
      </dgm:prSet>
      <dgm:spPr/>
    </dgm:pt>
    <dgm:pt modelId="{69C38ABD-E876-4771-8FDF-0B72E460D5CA}" type="pres">
      <dgm:prSet presAssocID="{0386AF6E-7023-4542-9AF9-93C4337C9C1E}" presName="sibTrans" presStyleLbl="node1" presStyleIdx="4" presStyleCnt="5"/>
      <dgm:spPr/>
    </dgm:pt>
  </dgm:ptLst>
  <dgm:cxnLst>
    <dgm:cxn modelId="{1CCC2D0C-B933-4D7B-931E-D2884DCCBE6A}" srcId="{ABAC3BF3-4FA9-42CB-B593-4ADF739E3A97}" destId="{0C4B9065-8732-4703-99D2-42DFF068F453}" srcOrd="1" destOrd="0" parTransId="{66DA3459-D7C5-4AA3-A8AE-5D76BB7F285A}" sibTransId="{FD0D3FA3-C4F6-49AA-84D8-5BDC941BEA72}"/>
    <dgm:cxn modelId="{CE5B7710-E88E-4F6B-97C4-003DF52A66D9}" type="presOf" srcId="{FD0D3FA3-C4F6-49AA-84D8-5BDC941BEA72}" destId="{60990F9A-79A7-4298-92EE-A08CD35738CA}" srcOrd="0" destOrd="0" presId="urn:microsoft.com/office/officeart/2005/8/layout/cycle1"/>
    <dgm:cxn modelId="{1DD5A712-F122-4D52-BB76-81110645DA76}" type="presOf" srcId="{775AD6B2-C7C5-4806-A5D3-ADB08DC2D165}" destId="{67F978CE-FBA6-4450-B365-9E0B9E169C2E}" srcOrd="0" destOrd="0" presId="urn:microsoft.com/office/officeart/2005/8/layout/cycle1"/>
    <dgm:cxn modelId="{5F27C648-30E2-4643-8CF3-5823E2C21A0F}" srcId="{ABAC3BF3-4FA9-42CB-B593-4ADF739E3A97}" destId="{F1B74B5D-C860-4AA7-BDB0-646C664DB562}" srcOrd="4" destOrd="0" parTransId="{1CDDE090-E595-472B-9F83-E98E5184F581}" sibTransId="{0386AF6E-7023-4542-9AF9-93C4337C9C1E}"/>
    <dgm:cxn modelId="{B1C4546D-EFB4-4202-A3D6-D0E3B6F6EC64}" type="presOf" srcId="{238713E8-E590-48D3-8B67-AB4D4D86980A}" destId="{9E8D1AF7-B4C5-4CB3-B8FB-9159B6AA1D86}" srcOrd="0" destOrd="0" presId="urn:microsoft.com/office/officeart/2005/8/layout/cycle1"/>
    <dgm:cxn modelId="{8EEB324F-5E68-4B59-A351-04BAD5F91119}" type="presOf" srcId="{0C4B9065-8732-4703-99D2-42DFF068F453}" destId="{5DB71227-E350-4A05-838F-E237F47D0A76}" srcOrd="0" destOrd="0" presId="urn:microsoft.com/office/officeart/2005/8/layout/cycle1"/>
    <dgm:cxn modelId="{6103E151-429B-49FA-9E40-5FFD3962DB40}" type="presOf" srcId="{ABAC3BF3-4FA9-42CB-B593-4ADF739E3A97}" destId="{7AD11012-DC88-4C90-B93E-DE57A363B1BB}" srcOrd="0" destOrd="0" presId="urn:microsoft.com/office/officeart/2005/8/layout/cycle1"/>
    <dgm:cxn modelId="{08B8717D-85B6-435D-A68D-CC95E8A356E3}" srcId="{ABAC3BF3-4FA9-42CB-B593-4ADF739E3A97}" destId="{238713E8-E590-48D3-8B67-AB4D4D86980A}" srcOrd="0" destOrd="0" parTransId="{7F4C6168-37D2-4BC6-B751-BAE7C808572C}" sibTransId="{F957D13E-E01D-4177-9C1E-F097EA9932BC}"/>
    <dgm:cxn modelId="{14329B87-2FEE-4C15-B235-9B3E2B83C1CD}" type="presOf" srcId="{0386AF6E-7023-4542-9AF9-93C4337C9C1E}" destId="{69C38ABD-E876-4771-8FDF-0B72E460D5CA}" srcOrd="0" destOrd="0" presId="urn:microsoft.com/office/officeart/2005/8/layout/cycle1"/>
    <dgm:cxn modelId="{6D29398C-485E-4DFE-AD94-26F98B78D1A1}" srcId="{ABAC3BF3-4FA9-42CB-B593-4ADF739E3A97}" destId="{775AD6B2-C7C5-4806-A5D3-ADB08DC2D165}" srcOrd="3" destOrd="0" parTransId="{4FB7AB23-A84A-46FC-A64A-EA396F6D0BAA}" sibTransId="{5B4A8C65-6946-4F06-BD36-5765959C4DEF}"/>
    <dgm:cxn modelId="{97AB04A2-7ACE-4226-A5B3-2AEDD5F4830F}" type="presOf" srcId="{F957D13E-E01D-4177-9C1E-F097EA9932BC}" destId="{9FB53636-2EB6-45E1-9DA0-0796EC761089}" srcOrd="0" destOrd="0" presId="urn:microsoft.com/office/officeart/2005/8/layout/cycle1"/>
    <dgm:cxn modelId="{C16A54AE-0F3D-414D-B9F1-AF0CF1D766F4}" type="presOf" srcId="{5B4A8C65-6946-4F06-BD36-5765959C4DEF}" destId="{5839BE6E-6B31-4DBF-9D79-3FFB1912001A}" srcOrd="0" destOrd="0" presId="urn:microsoft.com/office/officeart/2005/8/layout/cycle1"/>
    <dgm:cxn modelId="{986F3AB1-DD3C-4C5F-9D2B-F0E2C69536BD}" type="presOf" srcId="{14A88C50-F897-4974-AE50-2F1D862DFEB2}" destId="{944E0BE2-C044-414D-8FF8-C9BFC6318E17}" srcOrd="0" destOrd="0" presId="urn:microsoft.com/office/officeart/2005/8/layout/cycle1"/>
    <dgm:cxn modelId="{CE0E7EC5-33BD-4C58-AD2F-0C6E0CD90F48}" type="presOf" srcId="{3417E8C0-7CB7-4540-B372-9B0D39466799}" destId="{56A0E074-8714-4AFB-987D-FBD0834D99A1}" srcOrd="0" destOrd="0" presId="urn:microsoft.com/office/officeart/2005/8/layout/cycle1"/>
    <dgm:cxn modelId="{0BE4FBD2-4105-4122-A5BC-3C28D10597BE}" srcId="{ABAC3BF3-4FA9-42CB-B593-4ADF739E3A97}" destId="{14A88C50-F897-4974-AE50-2F1D862DFEB2}" srcOrd="2" destOrd="0" parTransId="{654DC507-280B-408B-8480-59AB0CB240E2}" sibTransId="{3417E8C0-7CB7-4540-B372-9B0D39466799}"/>
    <dgm:cxn modelId="{7A7E20D6-B5B6-464F-8BD7-6B4F5916E18F}" type="presOf" srcId="{F1B74B5D-C860-4AA7-BDB0-646C664DB562}" destId="{EB4169B7-DF0A-4826-9E92-D16512C4E454}" srcOrd="0" destOrd="0" presId="urn:microsoft.com/office/officeart/2005/8/layout/cycle1"/>
    <dgm:cxn modelId="{A91A2E8F-0CA9-4FE9-9F23-07188A589155}" type="presParOf" srcId="{7AD11012-DC88-4C90-B93E-DE57A363B1BB}" destId="{331DB6A5-FA2B-4157-8B08-1AC20CBD79BE}" srcOrd="0" destOrd="0" presId="urn:microsoft.com/office/officeart/2005/8/layout/cycle1"/>
    <dgm:cxn modelId="{387B389E-9EF5-4BCD-8DB8-D273A86B0EBF}" type="presParOf" srcId="{7AD11012-DC88-4C90-B93E-DE57A363B1BB}" destId="{9E8D1AF7-B4C5-4CB3-B8FB-9159B6AA1D86}" srcOrd="1" destOrd="0" presId="urn:microsoft.com/office/officeart/2005/8/layout/cycle1"/>
    <dgm:cxn modelId="{7A07BB9E-47ED-4546-BE8D-93E73440F231}" type="presParOf" srcId="{7AD11012-DC88-4C90-B93E-DE57A363B1BB}" destId="{9FB53636-2EB6-45E1-9DA0-0796EC761089}" srcOrd="2" destOrd="0" presId="urn:microsoft.com/office/officeart/2005/8/layout/cycle1"/>
    <dgm:cxn modelId="{FF902D89-181E-416F-8DC0-3EB0123D0836}" type="presParOf" srcId="{7AD11012-DC88-4C90-B93E-DE57A363B1BB}" destId="{B790B4E8-7CA9-4790-A2BB-8237A734C959}" srcOrd="3" destOrd="0" presId="urn:microsoft.com/office/officeart/2005/8/layout/cycle1"/>
    <dgm:cxn modelId="{23CCEDAC-CCBE-4B68-8C48-EA140F7208B3}" type="presParOf" srcId="{7AD11012-DC88-4C90-B93E-DE57A363B1BB}" destId="{5DB71227-E350-4A05-838F-E237F47D0A76}" srcOrd="4" destOrd="0" presId="urn:microsoft.com/office/officeart/2005/8/layout/cycle1"/>
    <dgm:cxn modelId="{C770991C-2C5D-45A6-99F9-130F4D2C7DFE}" type="presParOf" srcId="{7AD11012-DC88-4C90-B93E-DE57A363B1BB}" destId="{60990F9A-79A7-4298-92EE-A08CD35738CA}" srcOrd="5" destOrd="0" presId="urn:microsoft.com/office/officeart/2005/8/layout/cycle1"/>
    <dgm:cxn modelId="{954532F9-C98D-435A-8953-C5B66AE3D028}" type="presParOf" srcId="{7AD11012-DC88-4C90-B93E-DE57A363B1BB}" destId="{FE7C52AC-9B1F-4150-BEEB-0B47FC8C60D9}" srcOrd="6" destOrd="0" presId="urn:microsoft.com/office/officeart/2005/8/layout/cycle1"/>
    <dgm:cxn modelId="{FA0AD007-F6A7-4FA1-A8F1-F4E01383073B}" type="presParOf" srcId="{7AD11012-DC88-4C90-B93E-DE57A363B1BB}" destId="{944E0BE2-C044-414D-8FF8-C9BFC6318E17}" srcOrd="7" destOrd="0" presId="urn:microsoft.com/office/officeart/2005/8/layout/cycle1"/>
    <dgm:cxn modelId="{F08F38E4-5892-4AEC-AF13-184FA323CD39}" type="presParOf" srcId="{7AD11012-DC88-4C90-B93E-DE57A363B1BB}" destId="{56A0E074-8714-4AFB-987D-FBD0834D99A1}" srcOrd="8" destOrd="0" presId="urn:microsoft.com/office/officeart/2005/8/layout/cycle1"/>
    <dgm:cxn modelId="{A2BE8D1D-0C39-43E6-A265-E83D2CDB2AE6}" type="presParOf" srcId="{7AD11012-DC88-4C90-B93E-DE57A363B1BB}" destId="{A5A1350A-E860-4126-9690-CE79FF308082}" srcOrd="9" destOrd="0" presId="urn:microsoft.com/office/officeart/2005/8/layout/cycle1"/>
    <dgm:cxn modelId="{5D72DA56-DCF1-4FBD-BFA2-682AD15530C9}" type="presParOf" srcId="{7AD11012-DC88-4C90-B93E-DE57A363B1BB}" destId="{67F978CE-FBA6-4450-B365-9E0B9E169C2E}" srcOrd="10" destOrd="0" presId="urn:microsoft.com/office/officeart/2005/8/layout/cycle1"/>
    <dgm:cxn modelId="{7C5BD35C-FEC2-422B-863B-D3B70D86BC8E}" type="presParOf" srcId="{7AD11012-DC88-4C90-B93E-DE57A363B1BB}" destId="{5839BE6E-6B31-4DBF-9D79-3FFB1912001A}" srcOrd="11" destOrd="0" presId="urn:microsoft.com/office/officeart/2005/8/layout/cycle1"/>
    <dgm:cxn modelId="{6FC031E2-006A-4AB0-85A8-AFA00CA35F30}" type="presParOf" srcId="{7AD11012-DC88-4C90-B93E-DE57A363B1BB}" destId="{D8EC430E-028C-4517-8BFB-43DAE9C6FC02}" srcOrd="12" destOrd="0" presId="urn:microsoft.com/office/officeart/2005/8/layout/cycle1"/>
    <dgm:cxn modelId="{584D588D-391E-4EAA-A079-21482B0BD341}" type="presParOf" srcId="{7AD11012-DC88-4C90-B93E-DE57A363B1BB}" destId="{EB4169B7-DF0A-4826-9E92-D16512C4E454}" srcOrd="13" destOrd="0" presId="urn:microsoft.com/office/officeart/2005/8/layout/cycle1"/>
    <dgm:cxn modelId="{342FA0B7-5B6E-4FB9-8A0C-F6644706E00E}" type="presParOf" srcId="{7AD11012-DC88-4C90-B93E-DE57A363B1BB}" destId="{69C38ABD-E876-4771-8FDF-0B72E460D5CA}" srcOrd="14"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8D1AF7-B4C5-4CB3-B8FB-9159B6AA1D86}">
      <dsp:nvSpPr>
        <dsp:cNvPr id="0" name=""/>
        <dsp:cNvSpPr/>
      </dsp:nvSpPr>
      <dsp:spPr>
        <a:xfrm>
          <a:off x="3248773" y="27401"/>
          <a:ext cx="949523" cy="9495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Iteration 1</a:t>
          </a:r>
        </a:p>
      </dsp:txBody>
      <dsp:txXfrm>
        <a:off x="3248773" y="27401"/>
        <a:ext cx="949523" cy="949523"/>
      </dsp:txXfrm>
    </dsp:sp>
    <dsp:sp modelId="{9FB53636-2EB6-45E1-9DA0-0796EC761089}">
      <dsp:nvSpPr>
        <dsp:cNvPr id="0" name=""/>
        <dsp:cNvSpPr/>
      </dsp:nvSpPr>
      <dsp:spPr>
        <a:xfrm>
          <a:off x="1011993" y="-447"/>
          <a:ext cx="3564012" cy="3564012"/>
        </a:xfrm>
        <a:prstGeom prst="circularArrow">
          <a:avLst>
            <a:gd name="adj1" fmla="val 5195"/>
            <a:gd name="adj2" fmla="val 335551"/>
            <a:gd name="adj3" fmla="val 21294717"/>
            <a:gd name="adj4" fmla="val 19764946"/>
            <a:gd name="adj5" fmla="val 6061"/>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5DB71227-E350-4A05-838F-E237F47D0A76}">
      <dsp:nvSpPr>
        <dsp:cNvPr id="0" name=""/>
        <dsp:cNvSpPr/>
      </dsp:nvSpPr>
      <dsp:spPr>
        <a:xfrm>
          <a:off x="3823257" y="1795482"/>
          <a:ext cx="949523" cy="9495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Iteration 2</a:t>
          </a:r>
        </a:p>
      </dsp:txBody>
      <dsp:txXfrm>
        <a:off x="3823257" y="1795482"/>
        <a:ext cx="949523" cy="949523"/>
      </dsp:txXfrm>
    </dsp:sp>
    <dsp:sp modelId="{60990F9A-79A7-4298-92EE-A08CD35738CA}">
      <dsp:nvSpPr>
        <dsp:cNvPr id="0" name=""/>
        <dsp:cNvSpPr/>
      </dsp:nvSpPr>
      <dsp:spPr>
        <a:xfrm>
          <a:off x="1011993" y="-447"/>
          <a:ext cx="3564012" cy="3564012"/>
        </a:xfrm>
        <a:prstGeom prst="circularArrow">
          <a:avLst>
            <a:gd name="adj1" fmla="val 5195"/>
            <a:gd name="adj2" fmla="val 335551"/>
            <a:gd name="adj3" fmla="val 4016227"/>
            <a:gd name="adj4" fmla="val 2252028"/>
            <a:gd name="adj5" fmla="val 6061"/>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944E0BE2-C044-414D-8FF8-C9BFC6318E17}">
      <dsp:nvSpPr>
        <dsp:cNvPr id="0" name=""/>
        <dsp:cNvSpPr/>
      </dsp:nvSpPr>
      <dsp:spPr>
        <a:xfrm>
          <a:off x="2319238" y="2888216"/>
          <a:ext cx="949523" cy="9495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Iteration 3</a:t>
          </a:r>
        </a:p>
      </dsp:txBody>
      <dsp:txXfrm>
        <a:off x="2319238" y="2888216"/>
        <a:ext cx="949523" cy="949523"/>
      </dsp:txXfrm>
    </dsp:sp>
    <dsp:sp modelId="{56A0E074-8714-4AFB-987D-FBD0834D99A1}">
      <dsp:nvSpPr>
        <dsp:cNvPr id="0" name=""/>
        <dsp:cNvSpPr/>
      </dsp:nvSpPr>
      <dsp:spPr>
        <a:xfrm>
          <a:off x="1011993" y="-447"/>
          <a:ext cx="3564012" cy="3564012"/>
        </a:xfrm>
        <a:prstGeom prst="circularArrow">
          <a:avLst>
            <a:gd name="adj1" fmla="val 5195"/>
            <a:gd name="adj2" fmla="val 335551"/>
            <a:gd name="adj3" fmla="val 8212421"/>
            <a:gd name="adj4" fmla="val 6448222"/>
            <a:gd name="adj5" fmla="val 6061"/>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67F978CE-FBA6-4450-B365-9E0B9E169C2E}">
      <dsp:nvSpPr>
        <dsp:cNvPr id="0" name=""/>
        <dsp:cNvSpPr/>
      </dsp:nvSpPr>
      <dsp:spPr>
        <a:xfrm>
          <a:off x="815219" y="1795482"/>
          <a:ext cx="949523" cy="9495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Iteration 4</a:t>
          </a:r>
        </a:p>
      </dsp:txBody>
      <dsp:txXfrm>
        <a:off x="815219" y="1795482"/>
        <a:ext cx="949523" cy="949523"/>
      </dsp:txXfrm>
    </dsp:sp>
    <dsp:sp modelId="{5839BE6E-6B31-4DBF-9D79-3FFB1912001A}">
      <dsp:nvSpPr>
        <dsp:cNvPr id="0" name=""/>
        <dsp:cNvSpPr/>
      </dsp:nvSpPr>
      <dsp:spPr>
        <a:xfrm>
          <a:off x="1011993" y="-447"/>
          <a:ext cx="3564012" cy="3564012"/>
        </a:xfrm>
        <a:prstGeom prst="circularArrow">
          <a:avLst>
            <a:gd name="adj1" fmla="val 5195"/>
            <a:gd name="adj2" fmla="val 335551"/>
            <a:gd name="adj3" fmla="val 12299503"/>
            <a:gd name="adj4" fmla="val 10769732"/>
            <a:gd name="adj5" fmla="val 6061"/>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EB4169B7-DF0A-4826-9E92-D16512C4E454}">
      <dsp:nvSpPr>
        <dsp:cNvPr id="0" name=""/>
        <dsp:cNvSpPr/>
      </dsp:nvSpPr>
      <dsp:spPr>
        <a:xfrm>
          <a:off x="1389703" y="27401"/>
          <a:ext cx="949523" cy="9495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Iteration n</a:t>
          </a:r>
        </a:p>
      </dsp:txBody>
      <dsp:txXfrm>
        <a:off x="1389703" y="27401"/>
        <a:ext cx="949523" cy="949523"/>
      </dsp:txXfrm>
    </dsp:sp>
    <dsp:sp modelId="{69C38ABD-E876-4771-8FDF-0B72E460D5CA}">
      <dsp:nvSpPr>
        <dsp:cNvPr id="0" name=""/>
        <dsp:cNvSpPr/>
      </dsp:nvSpPr>
      <dsp:spPr>
        <a:xfrm>
          <a:off x="1011993" y="-447"/>
          <a:ext cx="3564012" cy="3564012"/>
        </a:xfrm>
        <a:prstGeom prst="circularArrow">
          <a:avLst>
            <a:gd name="adj1" fmla="val 5195"/>
            <a:gd name="adj2" fmla="val 335551"/>
            <a:gd name="adj3" fmla="val 16867211"/>
            <a:gd name="adj4" fmla="val 15197238"/>
            <a:gd name="adj5" fmla="val 6061"/>
          </a:avLst>
        </a:prstGeom>
        <a:gradFill rotWithShape="0">
          <a:gsLst>
            <a:gs pos="0">
              <a:schemeClr val="accent1">
                <a:hueOff val="0"/>
                <a:satOff val="0"/>
                <a:lumOff val="0"/>
                <a:alphaOff val="0"/>
                <a:tint val="98000"/>
                <a:lumMod val="114000"/>
              </a:schemeClr>
            </a:gs>
            <a:gs pos="100000">
              <a:schemeClr val="accent1">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27AA2-C240-46A2-936B-74D08DECA3A7}" type="datetimeFigureOut">
              <a:rPr lang="en-US" smtClean="0"/>
              <a:t>1/13/2022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2259B-3E87-49A4-A321-BEF1BD20C4E9}" type="slidenum">
              <a:rPr lang="en-US" smtClean="0"/>
              <a:t>‹#›</a:t>
            </a:fld>
            <a:endParaRPr lang="en-US"/>
          </a:p>
        </p:txBody>
      </p:sp>
    </p:spTree>
    <p:extLst>
      <p:ext uri="{BB962C8B-B14F-4D97-AF65-F5344CB8AC3E}">
        <p14:creationId xmlns:p14="http://schemas.microsoft.com/office/powerpoint/2010/main" val="6254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2A9FCE2-0C30-425B-BD34-65F77162D4A6}" type="datetime1">
              <a:rPr lang="en-US" smtClean="0"/>
              <a:t>1/13/2022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43812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9BE443-C17D-4310-A66C-8D41202C3877}"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34251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C48F0-158D-4C7A-9C2F-0DBD8A353A5A}"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9856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CC294F-D308-4C16-BAC1-7A44E6F06E76}"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410125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781214-69C5-49F8-A264-1AF2D079D60F}" type="datetime1">
              <a:rPr lang="en-US" smtClean="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23644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63F02D-F370-4394-8C74-0D51DD8D5673}" type="datetime1">
              <a:rPr lang="en-US" smtClean="0"/>
              <a:t>1/13/2022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8124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D8A645-686C-46D7-9A38-B0ED3D5C0FFE}" type="datetime1">
              <a:rPr lang="en-US" smtClean="0"/>
              <a:t>1/13/2022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449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0DECDB-27FF-408E-967E-2FF555BB7191}"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19858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F844ED-5725-4050-94BC-CEBBF5F15283}"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23682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C99F2C-D40C-4776-A30F-DAD692012614}" type="datetime1">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5209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F61E1AC-20E8-47BB-963B-32490DB75DF5}"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38637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E3625AC-5F1C-4018-ABA4-E7AC17AAC6A3}"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92070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E600F7-1B31-4E64-A77D-FDAA1B62FFAC}"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2503351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16D4620-801E-46F1-9983-AFE60CF14DA0}" type="datetime1">
              <a:rPr lang="en-US" smtClean="0"/>
              <a:t>1/13/2022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33040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D7E13EA-3392-4F08-958C-C87303863311}" type="datetime1">
              <a:rPr lang="en-US" smtClean="0"/>
              <a:t>1/13/2022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103006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EF8113F-4240-4B8B-90F6-D8BD8BDB6287}"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7021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1A0F2C2-DD47-4C57-8D93-BCE77E07E1FB}" type="datetime1">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dirty="0"/>
          </a:p>
        </p:txBody>
      </p:sp>
    </p:spTree>
    <p:extLst>
      <p:ext uri="{BB962C8B-B14F-4D97-AF65-F5344CB8AC3E}">
        <p14:creationId xmlns:p14="http://schemas.microsoft.com/office/powerpoint/2010/main" val="76003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D7A210D0-3BBA-41B4-A219-A06473CEBDA9}" type="datetime1">
              <a:rPr lang="en-US" smtClean="0"/>
              <a:t>1/13/2022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6F892B-1791-4F93-8AFD-83813F10F54D}" type="slidenum">
              <a:rPr lang="en-US" smtClean="0"/>
              <a:t>‹#›</a:t>
            </a:fld>
            <a:endParaRPr lang="en-US" dirty="0"/>
          </a:p>
        </p:txBody>
      </p:sp>
    </p:spTree>
    <p:extLst>
      <p:ext uri="{BB962C8B-B14F-4D97-AF65-F5344CB8AC3E}">
        <p14:creationId xmlns:p14="http://schemas.microsoft.com/office/powerpoint/2010/main" val="11969040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75D2F71-C3D9-4A89-ADF7-43E4E7BE06D5}"/>
              </a:ext>
            </a:extLst>
          </p:cNvPr>
          <p:cNvSpPr>
            <a:spLocks noGrp="1"/>
          </p:cNvSpPr>
          <p:nvPr>
            <p:ph type="ctrTitle"/>
          </p:nvPr>
        </p:nvSpPr>
        <p:spPr>
          <a:xfrm>
            <a:off x="1154954" y="1384115"/>
            <a:ext cx="10188907" cy="2677648"/>
          </a:xfrm>
        </p:spPr>
        <p:txBody>
          <a:bodyPr/>
          <a:lstStyle/>
          <a:p>
            <a:r>
              <a:rPr lang="en-US">
                <a:latin typeface="Arial Rounded MT Bold" panose="020F0704030504030204" pitchFamily="34" charset="0"/>
              </a:rPr>
              <a:t>Part 10</a:t>
            </a:r>
            <a:br>
              <a:rPr lang="en-US" dirty="0">
                <a:latin typeface="Arial Rounded MT Bold" panose="020F0704030504030204" pitchFamily="34" charset="0"/>
              </a:rPr>
            </a:br>
            <a:br>
              <a:rPr lang="en-US" sz="4000" dirty="0">
                <a:latin typeface="Arial Rounded MT Bold" panose="020F0704030504030204" pitchFamily="34" charset="0"/>
              </a:rPr>
            </a:br>
            <a:r>
              <a:rPr lang="en-US" sz="4000" dirty="0">
                <a:latin typeface="Arial Rounded MT Bold" panose="020F0704030504030204" pitchFamily="34" charset="0"/>
              </a:rPr>
              <a:t>Loops in Python</a:t>
            </a:r>
            <a:endParaRPr lang="en-US" sz="4800" b="1" dirty="0"/>
          </a:p>
        </p:txBody>
      </p:sp>
      <p:sp>
        <p:nvSpPr>
          <p:cNvPr id="23" name="Subtitle 22">
            <a:extLst>
              <a:ext uri="{FF2B5EF4-FFF2-40B4-BE49-F238E27FC236}">
                <a16:creationId xmlns:a16="http://schemas.microsoft.com/office/drawing/2014/main" id="{7EAC1220-5808-4927-8A48-4FD19D7906DA}"/>
              </a:ext>
            </a:extLst>
          </p:cNvPr>
          <p:cNvSpPr>
            <a:spLocks noGrp="1"/>
          </p:cNvSpPr>
          <p:nvPr>
            <p:ph type="subTitle" idx="1"/>
          </p:nvPr>
        </p:nvSpPr>
        <p:spPr>
          <a:xfrm>
            <a:off x="1154955" y="4287049"/>
            <a:ext cx="8825658" cy="430725"/>
          </a:xfrm>
        </p:spPr>
        <p:txBody>
          <a:bodyPr>
            <a:normAutofit lnSpcReduction="10000"/>
          </a:bodyPr>
          <a:lstStyle/>
          <a:p>
            <a:r>
              <a:rPr lang="en-US" sz="2400" dirty="0"/>
              <a:t>Version: 3.o</a:t>
            </a:r>
          </a:p>
          <a:p>
            <a:endParaRPr lang="en-US" sz="2400" dirty="0"/>
          </a:p>
        </p:txBody>
      </p:sp>
      <p:sp>
        <p:nvSpPr>
          <p:cNvPr id="24" name="Subtitle 22">
            <a:extLst>
              <a:ext uri="{FF2B5EF4-FFF2-40B4-BE49-F238E27FC236}">
                <a16:creationId xmlns:a16="http://schemas.microsoft.com/office/drawing/2014/main" id="{EF647C65-2962-495E-8F1A-C5ABE3700C82}"/>
              </a:ext>
            </a:extLst>
          </p:cNvPr>
          <p:cNvSpPr txBox="1">
            <a:spLocks/>
          </p:cNvSpPr>
          <p:nvPr/>
        </p:nvSpPr>
        <p:spPr bwMode="gray">
          <a:xfrm>
            <a:off x="8489743" y="5755393"/>
            <a:ext cx="2981739" cy="43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000" b="1" dirty="0">
                <a:solidFill>
                  <a:schemeClr val="bg1"/>
                </a:solidFill>
                <a:latin typeface="+mj-lt"/>
              </a:rPr>
              <a:t>Written by: Babar </a:t>
            </a:r>
            <a:r>
              <a:rPr lang="en-US" sz="2000" b="1" dirty="0" err="1">
                <a:solidFill>
                  <a:schemeClr val="bg1"/>
                </a:solidFill>
                <a:latin typeface="+mj-lt"/>
              </a:rPr>
              <a:t>ali</a:t>
            </a:r>
            <a:r>
              <a:rPr lang="en-US" sz="2000" b="1" dirty="0">
                <a:solidFill>
                  <a:schemeClr val="bg1"/>
                </a:solidFill>
                <a:latin typeface="+mj-lt"/>
              </a:rPr>
              <a:t> </a:t>
            </a:r>
          </a:p>
        </p:txBody>
      </p:sp>
      <p:sp>
        <p:nvSpPr>
          <p:cNvPr id="2" name="Slide Number Placeholder 1">
            <a:extLst>
              <a:ext uri="{FF2B5EF4-FFF2-40B4-BE49-F238E27FC236}">
                <a16:creationId xmlns:a16="http://schemas.microsoft.com/office/drawing/2014/main" id="{A319BE65-88D1-4524-9E14-2B34145F857B}"/>
              </a:ext>
            </a:extLst>
          </p:cNvPr>
          <p:cNvSpPr>
            <a:spLocks noGrp="1"/>
          </p:cNvSpPr>
          <p:nvPr>
            <p:ph type="sldNum" sz="quarter" idx="12"/>
          </p:nvPr>
        </p:nvSpPr>
        <p:spPr/>
        <p:txBody>
          <a:bodyPr/>
          <a:lstStyle/>
          <a:p>
            <a:fld id="{0D6F892B-1791-4F93-8AFD-83813F10F54D}" type="slidenum">
              <a:rPr lang="en-US" smtClean="0"/>
              <a:t>1</a:t>
            </a:fld>
            <a:endParaRPr lang="en-US" dirty="0"/>
          </a:p>
        </p:txBody>
      </p:sp>
    </p:spTree>
    <p:extLst>
      <p:ext uri="{BB962C8B-B14F-4D97-AF65-F5344CB8AC3E}">
        <p14:creationId xmlns:p14="http://schemas.microsoft.com/office/powerpoint/2010/main" val="3989014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How Loops Work?</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2</a:t>
            </a:fld>
            <a:endParaRPr lang="en-US" dirty="0"/>
          </a:p>
        </p:txBody>
      </p:sp>
      <p:graphicFrame>
        <p:nvGraphicFramePr>
          <p:cNvPr id="2" name="Diagram 1">
            <a:extLst>
              <a:ext uri="{FF2B5EF4-FFF2-40B4-BE49-F238E27FC236}">
                <a16:creationId xmlns:a16="http://schemas.microsoft.com/office/drawing/2014/main" id="{0A01383A-371B-4956-8AD7-5E0F4F32F49C}"/>
              </a:ext>
            </a:extLst>
          </p:cNvPr>
          <p:cNvGraphicFramePr/>
          <p:nvPr>
            <p:extLst>
              <p:ext uri="{D42A27DB-BD31-4B8C-83A1-F6EECF244321}">
                <p14:modId xmlns:p14="http://schemas.microsoft.com/office/powerpoint/2010/main" val="532391656"/>
              </p:ext>
            </p:extLst>
          </p:nvPr>
        </p:nvGraphicFramePr>
        <p:xfrm>
          <a:off x="840509" y="2431087"/>
          <a:ext cx="5588000" cy="3838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Arrow: Striped Right 2">
            <a:extLst>
              <a:ext uri="{FF2B5EF4-FFF2-40B4-BE49-F238E27FC236}">
                <a16:creationId xmlns:a16="http://schemas.microsoft.com/office/drawing/2014/main" id="{EFAB87AD-80D2-49DA-8EDE-70C4AEA6EF18}"/>
              </a:ext>
            </a:extLst>
          </p:cNvPr>
          <p:cNvSpPr/>
          <p:nvPr/>
        </p:nvSpPr>
        <p:spPr>
          <a:xfrm>
            <a:off x="6428509" y="4017818"/>
            <a:ext cx="1233054" cy="66501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Alternate Process 5">
            <a:extLst>
              <a:ext uri="{FF2B5EF4-FFF2-40B4-BE49-F238E27FC236}">
                <a16:creationId xmlns:a16="http://schemas.microsoft.com/office/drawing/2014/main" id="{2CC5E94D-2718-40D2-9E8D-0D0C008D1EC0}"/>
              </a:ext>
            </a:extLst>
          </p:cNvPr>
          <p:cNvSpPr/>
          <p:nvPr/>
        </p:nvSpPr>
        <p:spPr>
          <a:xfrm>
            <a:off x="8368144" y="3962400"/>
            <a:ext cx="1984396" cy="66501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a:t>
            </a:r>
          </a:p>
        </p:txBody>
      </p:sp>
    </p:spTree>
    <p:extLst>
      <p:ext uri="{BB962C8B-B14F-4D97-AF65-F5344CB8AC3E}">
        <p14:creationId xmlns:p14="http://schemas.microsoft.com/office/powerpoint/2010/main" val="3846637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What is Loop?</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3</a:t>
            </a:fld>
            <a:endParaRPr lang="en-US" dirty="0"/>
          </a:p>
        </p:txBody>
      </p:sp>
      <p:sp>
        <p:nvSpPr>
          <p:cNvPr id="7" name="TextBox 6">
            <a:extLst>
              <a:ext uri="{FF2B5EF4-FFF2-40B4-BE49-F238E27FC236}">
                <a16:creationId xmlns:a16="http://schemas.microsoft.com/office/drawing/2014/main" id="{A5911086-772C-4E81-9063-ABAFC9FF3438}"/>
              </a:ext>
            </a:extLst>
          </p:cNvPr>
          <p:cNvSpPr txBox="1"/>
          <p:nvPr/>
        </p:nvSpPr>
        <p:spPr>
          <a:xfrm>
            <a:off x="954079" y="2344623"/>
            <a:ext cx="10699480" cy="1880451"/>
          </a:xfrm>
          <a:prstGeom prst="rect">
            <a:avLst/>
          </a:prstGeom>
          <a:noFill/>
        </p:spPr>
        <p:txBody>
          <a:bodyPr wrap="square" rtlCol="0">
            <a:spAutoFit/>
          </a:bodyPr>
          <a:lstStyle/>
          <a:p>
            <a:pPr algn="just">
              <a:lnSpc>
                <a:spcPct val="150000"/>
              </a:lnSpc>
            </a:pPr>
            <a:r>
              <a:rPr lang="en-US" sz="2000" dirty="0">
                <a:solidFill>
                  <a:schemeClr val="bg2">
                    <a:lumMod val="10000"/>
                  </a:schemeClr>
                </a:solidFill>
              </a:rPr>
              <a:t>In computer programming, a loop is a sequence of instructions that is continually repeated until a certain condition is reached. Programmers use loops to cycle through values, add sums of numbers, repeat functions, and many other things. Two of the most common types of loops are the </a:t>
            </a:r>
            <a:r>
              <a:rPr lang="en-US" sz="2000" b="1" dirty="0">
                <a:solidFill>
                  <a:schemeClr val="bg2">
                    <a:lumMod val="10000"/>
                  </a:schemeClr>
                </a:solidFill>
              </a:rPr>
              <a:t>while</a:t>
            </a:r>
            <a:r>
              <a:rPr lang="en-US" sz="2000" dirty="0">
                <a:solidFill>
                  <a:schemeClr val="bg2">
                    <a:lumMod val="10000"/>
                  </a:schemeClr>
                </a:solidFill>
              </a:rPr>
              <a:t> loop and the </a:t>
            </a:r>
            <a:r>
              <a:rPr lang="en-US" sz="2000" b="1" dirty="0">
                <a:solidFill>
                  <a:schemeClr val="bg2">
                    <a:lumMod val="10000"/>
                  </a:schemeClr>
                </a:solidFill>
              </a:rPr>
              <a:t>for</a:t>
            </a:r>
            <a:r>
              <a:rPr lang="en-US" sz="2000" dirty="0">
                <a:solidFill>
                  <a:schemeClr val="bg2">
                    <a:lumMod val="10000"/>
                  </a:schemeClr>
                </a:solidFill>
              </a:rPr>
              <a:t> loop.</a:t>
            </a:r>
          </a:p>
        </p:txBody>
      </p:sp>
      <p:grpSp>
        <p:nvGrpSpPr>
          <p:cNvPr id="9" name="Group 8">
            <a:extLst>
              <a:ext uri="{FF2B5EF4-FFF2-40B4-BE49-F238E27FC236}">
                <a16:creationId xmlns:a16="http://schemas.microsoft.com/office/drawing/2014/main" id="{6949FD6D-6184-4270-9F98-DC4B1AD7C1C1}"/>
              </a:ext>
            </a:extLst>
          </p:cNvPr>
          <p:cNvGrpSpPr/>
          <p:nvPr/>
        </p:nvGrpSpPr>
        <p:grpSpPr>
          <a:xfrm>
            <a:off x="1154953" y="4828343"/>
            <a:ext cx="3075832" cy="1158650"/>
            <a:chOff x="2704824" y="360900"/>
            <a:chExt cx="3075832" cy="1158650"/>
          </a:xfrm>
        </p:grpSpPr>
        <p:sp>
          <p:nvSpPr>
            <p:cNvPr id="10" name="Rectangle: Rounded Corners 9">
              <a:extLst>
                <a:ext uri="{FF2B5EF4-FFF2-40B4-BE49-F238E27FC236}">
                  <a16:creationId xmlns:a16="http://schemas.microsoft.com/office/drawing/2014/main" id="{6F158F27-ABDE-42A0-877D-D542211E289F}"/>
                </a:ext>
              </a:extLst>
            </p:cNvPr>
            <p:cNvSpPr/>
            <p:nvPr/>
          </p:nvSpPr>
          <p:spPr>
            <a:xfrm>
              <a:off x="2704824" y="360900"/>
              <a:ext cx="3075832" cy="11586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ectangle: Rounded Corners 4">
              <a:extLst>
                <a:ext uri="{FF2B5EF4-FFF2-40B4-BE49-F238E27FC236}">
                  <a16:creationId xmlns:a16="http://schemas.microsoft.com/office/drawing/2014/main" id="{107612C8-7935-4B8E-BE8F-7CC177D2C24C}"/>
                </a:ext>
              </a:extLst>
            </p:cNvPr>
            <p:cNvSpPr txBox="1"/>
            <p:nvPr/>
          </p:nvSpPr>
          <p:spPr>
            <a:xfrm>
              <a:off x="2738760" y="394836"/>
              <a:ext cx="3007960" cy="10907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For Loop</a:t>
              </a:r>
            </a:p>
          </p:txBody>
        </p:sp>
      </p:grpSp>
      <p:grpSp>
        <p:nvGrpSpPr>
          <p:cNvPr id="12" name="Group 11">
            <a:extLst>
              <a:ext uri="{FF2B5EF4-FFF2-40B4-BE49-F238E27FC236}">
                <a16:creationId xmlns:a16="http://schemas.microsoft.com/office/drawing/2014/main" id="{7AF66AAA-FAAC-47FB-A937-90679149B3E1}"/>
              </a:ext>
            </a:extLst>
          </p:cNvPr>
          <p:cNvGrpSpPr/>
          <p:nvPr/>
        </p:nvGrpSpPr>
        <p:grpSpPr>
          <a:xfrm>
            <a:off x="4761548" y="4828343"/>
            <a:ext cx="3075832" cy="1158650"/>
            <a:chOff x="2704824" y="360900"/>
            <a:chExt cx="3075832" cy="1158650"/>
          </a:xfrm>
        </p:grpSpPr>
        <p:sp>
          <p:nvSpPr>
            <p:cNvPr id="13" name="Rectangle: Rounded Corners 12">
              <a:extLst>
                <a:ext uri="{FF2B5EF4-FFF2-40B4-BE49-F238E27FC236}">
                  <a16:creationId xmlns:a16="http://schemas.microsoft.com/office/drawing/2014/main" id="{39988604-C2AE-4036-8018-27DE03E0591E}"/>
                </a:ext>
              </a:extLst>
            </p:cNvPr>
            <p:cNvSpPr/>
            <p:nvPr/>
          </p:nvSpPr>
          <p:spPr>
            <a:xfrm>
              <a:off x="2704824" y="360900"/>
              <a:ext cx="3075832" cy="11586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Rectangle: Rounded Corners 4">
              <a:extLst>
                <a:ext uri="{FF2B5EF4-FFF2-40B4-BE49-F238E27FC236}">
                  <a16:creationId xmlns:a16="http://schemas.microsoft.com/office/drawing/2014/main" id="{48AE4100-1257-4F1E-9F0D-109E1C9153D2}"/>
                </a:ext>
              </a:extLst>
            </p:cNvPr>
            <p:cNvSpPr txBox="1"/>
            <p:nvPr/>
          </p:nvSpPr>
          <p:spPr>
            <a:xfrm>
              <a:off x="2738760" y="394836"/>
              <a:ext cx="3007960" cy="10907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While Loop</a:t>
              </a:r>
            </a:p>
          </p:txBody>
        </p:sp>
      </p:grpSp>
      <p:grpSp>
        <p:nvGrpSpPr>
          <p:cNvPr id="15" name="Group 14">
            <a:extLst>
              <a:ext uri="{FF2B5EF4-FFF2-40B4-BE49-F238E27FC236}">
                <a16:creationId xmlns:a16="http://schemas.microsoft.com/office/drawing/2014/main" id="{7D71C426-1FFC-4848-947D-D8375B93DC1A}"/>
              </a:ext>
            </a:extLst>
          </p:cNvPr>
          <p:cNvGrpSpPr/>
          <p:nvPr/>
        </p:nvGrpSpPr>
        <p:grpSpPr>
          <a:xfrm>
            <a:off x="8368143" y="4794407"/>
            <a:ext cx="3075832" cy="1158650"/>
            <a:chOff x="2704824" y="360900"/>
            <a:chExt cx="3075832" cy="1158650"/>
          </a:xfrm>
        </p:grpSpPr>
        <p:sp>
          <p:nvSpPr>
            <p:cNvPr id="16" name="Rectangle: Rounded Corners 15">
              <a:extLst>
                <a:ext uri="{FF2B5EF4-FFF2-40B4-BE49-F238E27FC236}">
                  <a16:creationId xmlns:a16="http://schemas.microsoft.com/office/drawing/2014/main" id="{B0059F17-9371-4DAD-95BD-CB4DBA856B2C}"/>
                </a:ext>
              </a:extLst>
            </p:cNvPr>
            <p:cNvSpPr/>
            <p:nvPr/>
          </p:nvSpPr>
          <p:spPr>
            <a:xfrm>
              <a:off x="2704824" y="360900"/>
              <a:ext cx="3075832" cy="1158650"/>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7" name="Rectangle: Rounded Corners 4">
              <a:extLst>
                <a:ext uri="{FF2B5EF4-FFF2-40B4-BE49-F238E27FC236}">
                  <a16:creationId xmlns:a16="http://schemas.microsoft.com/office/drawing/2014/main" id="{A1798C00-6604-4D89-9282-EE4C39075107}"/>
                </a:ext>
              </a:extLst>
            </p:cNvPr>
            <p:cNvSpPr txBox="1"/>
            <p:nvPr/>
          </p:nvSpPr>
          <p:spPr>
            <a:xfrm>
              <a:off x="2738760" y="394836"/>
              <a:ext cx="3007960" cy="10907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Do-While Loop</a:t>
              </a:r>
            </a:p>
          </p:txBody>
        </p:sp>
      </p:grpSp>
    </p:spTree>
    <p:extLst>
      <p:ext uri="{BB962C8B-B14F-4D97-AF65-F5344CB8AC3E}">
        <p14:creationId xmlns:p14="http://schemas.microsoft.com/office/powerpoint/2010/main" val="2164549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773836" y="1255225"/>
            <a:ext cx="4890958" cy="738839"/>
          </a:xfrm>
        </p:spPr>
        <p:txBody>
          <a:bodyPr>
            <a:normAutofit/>
          </a:bodyPr>
          <a:lstStyle/>
          <a:p>
            <a:r>
              <a:rPr lang="en-US" sz="3600" dirty="0"/>
              <a:t>For Loop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4</a:t>
            </a:fld>
            <a:endParaRPr lang="en-US" dirty="0"/>
          </a:p>
        </p:txBody>
      </p:sp>
      <p:sp>
        <p:nvSpPr>
          <p:cNvPr id="24" name="TextBox 23">
            <a:extLst>
              <a:ext uri="{FF2B5EF4-FFF2-40B4-BE49-F238E27FC236}">
                <a16:creationId xmlns:a16="http://schemas.microsoft.com/office/drawing/2014/main" id="{F8637BFE-EF3D-4BE9-BEEF-6270BE4095BC}"/>
              </a:ext>
            </a:extLst>
          </p:cNvPr>
          <p:cNvSpPr txBox="1"/>
          <p:nvPr/>
        </p:nvSpPr>
        <p:spPr>
          <a:xfrm>
            <a:off x="805014" y="2070639"/>
            <a:ext cx="4690052" cy="3730317"/>
          </a:xfrm>
          <a:prstGeom prst="rect">
            <a:avLst/>
          </a:prstGeom>
          <a:noFill/>
        </p:spPr>
        <p:txBody>
          <a:bodyPr wrap="square" rtlCol="0">
            <a:spAutoFit/>
          </a:bodyPr>
          <a:lstStyle/>
          <a:p>
            <a:pPr algn="just">
              <a:lnSpc>
                <a:spcPct val="150000"/>
              </a:lnSpc>
            </a:pPr>
            <a:r>
              <a:rPr lang="en-US" sz="2000" dirty="0">
                <a:solidFill>
                  <a:schemeClr val="bg1"/>
                </a:solidFill>
              </a:rPr>
              <a:t>Python for loops are used to loop through an </a:t>
            </a:r>
            <a:r>
              <a:rPr lang="en-US" sz="2000" dirty="0" err="1">
                <a:solidFill>
                  <a:schemeClr val="bg1"/>
                </a:solidFill>
              </a:rPr>
              <a:t>iterable</a:t>
            </a:r>
            <a:r>
              <a:rPr lang="en-US" sz="2000" dirty="0">
                <a:solidFill>
                  <a:schemeClr val="bg1"/>
                </a:solidFill>
              </a:rPr>
              <a:t> object ( like a list, tuple, set, etc. ) and perform the same action for each entry.</a:t>
            </a:r>
          </a:p>
          <a:p>
            <a:pPr algn="just">
              <a:lnSpc>
                <a:spcPct val="150000"/>
              </a:lnSpc>
            </a:pPr>
            <a:r>
              <a:rPr lang="en-US" sz="2000" dirty="0">
                <a:solidFill>
                  <a:schemeClr val="bg1"/>
                </a:solidFill>
              </a:rPr>
              <a:t>				OR</a:t>
            </a:r>
          </a:p>
          <a:p>
            <a:pPr algn="just">
              <a:lnSpc>
                <a:spcPct val="150000"/>
              </a:lnSpc>
            </a:pPr>
            <a:r>
              <a:rPr lang="en-US" sz="2000" dirty="0">
                <a:solidFill>
                  <a:schemeClr val="bg1"/>
                </a:solidFill>
              </a:rPr>
              <a:t>A for loop is used for iterating over a sequence (that is either a list, a tuple, a dictionary, a set, or a string).</a:t>
            </a:r>
          </a:p>
        </p:txBody>
      </p:sp>
      <p:sp>
        <p:nvSpPr>
          <p:cNvPr id="25" name="Diamond 24">
            <a:extLst>
              <a:ext uri="{FF2B5EF4-FFF2-40B4-BE49-F238E27FC236}">
                <a16:creationId xmlns:a16="http://schemas.microsoft.com/office/drawing/2014/main" id="{E71A4745-ACEC-4E69-826D-BAABE00A9661}"/>
              </a:ext>
            </a:extLst>
          </p:cNvPr>
          <p:cNvSpPr/>
          <p:nvPr/>
        </p:nvSpPr>
        <p:spPr>
          <a:xfrm>
            <a:off x="7881015" y="2200569"/>
            <a:ext cx="2139919" cy="158883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t>Test Condition</a:t>
            </a:r>
          </a:p>
        </p:txBody>
      </p:sp>
      <p:cxnSp>
        <p:nvCxnSpPr>
          <p:cNvPr id="26" name="Straight Arrow Connector 25">
            <a:extLst>
              <a:ext uri="{FF2B5EF4-FFF2-40B4-BE49-F238E27FC236}">
                <a16:creationId xmlns:a16="http://schemas.microsoft.com/office/drawing/2014/main" id="{292470B1-8D62-4C19-BD04-0778E5DF83C5}"/>
              </a:ext>
            </a:extLst>
          </p:cNvPr>
          <p:cNvCxnSpPr>
            <a:cxnSpLocks/>
          </p:cNvCxnSpPr>
          <p:nvPr/>
        </p:nvCxnSpPr>
        <p:spPr>
          <a:xfrm>
            <a:off x="8988365" y="6121408"/>
            <a:ext cx="0" cy="431792"/>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27" name="Flowchart: Alternate Process 26">
            <a:extLst>
              <a:ext uri="{FF2B5EF4-FFF2-40B4-BE49-F238E27FC236}">
                <a16:creationId xmlns:a16="http://schemas.microsoft.com/office/drawing/2014/main" id="{EC2614F7-6AD4-4391-A2AB-71C5D4A6BF0E}"/>
              </a:ext>
            </a:extLst>
          </p:cNvPr>
          <p:cNvSpPr/>
          <p:nvPr/>
        </p:nvSpPr>
        <p:spPr>
          <a:xfrm>
            <a:off x="7908585" y="4145060"/>
            <a:ext cx="2088738" cy="5957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Statement Block</a:t>
            </a:r>
          </a:p>
        </p:txBody>
      </p:sp>
      <p:sp>
        <p:nvSpPr>
          <p:cNvPr id="28" name="TextBox 27">
            <a:extLst>
              <a:ext uri="{FF2B5EF4-FFF2-40B4-BE49-F238E27FC236}">
                <a16:creationId xmlns:a16="http://schemas.microsoft.com/office/drawing/2014/main" id="{B5612E93-6F2A-42EB-BC59-2A3785476648}"/>
              </a:ext>
            </a:extLst>
          </p:cNvPr>
          <p:cNvSpPr txBox="1"/>
          <p:nvPr/>
        </p:nvSpPr>
        <p:spPr>
          <a:xfrm>
            <a:off x="9279719" y="3778303"/>
            <a:ext cx="741215" cy="338554"/>
          </a:xfrm>
          <a:prstGeom prst="rect">
            <a:avLst/>
          </a:prstGeom>
          <a:noFill/>
        </p:spPr>
        <p:txBody>
          <a:bodyPr wrap="square" rtlCol="0">
            <a:spAutoFit/>
          </a:bodyPr>
          <a:lstStyle/>
          <a:p>
            <a:r>
              <a:rPr lang="en-US" sz="1600" dirty="0"/>
              <a:t>True</a:t>
            </a:r>
          </a:p>
        </p:txBody>
      </p:sp>
      <p:sp>
        <p:nvSpPr>
          <p:cNvPr id="31" name="Flowchart: Alternate Process 30">
            <a:extLst>
              <a:ext uri="{FF2B5EF4-FFF2-40B4-BE49-F238E27FC236}">
                <a16:creationId xmlns:a16="http://schemas.microsoft.com/office/drawing/2014/main" id="{7F5F45EA-DEF4-491F-8B6C-11EE82E7952F}"/>
              </a:ext>
            </a:extLst>
          </p:cNvPr>
          <p:cNvSpPr/>
          <p:nvPr/>
        </p:nvSpPr>
        <p:spPr>
          <a:xfrm>
            <a:off x="8133556" y="1191805"/>
            <a:ext cx="1634836" cy="5957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Initialization</a:t>
            </a:r>
          </a:p>
        </p:txBody>
      </p:sp>
      <p:cxnSp>
        <p:nvCxnSpPr>
          <p:cNvPr id="32" name="Straight Arrow Connector 31">
            <a:extLst>
              <a:ext uri="{FF2B5EF4-FFF2-40B4-BE49-F238E27FC236}">
                <a16:creationId xmlns:a16="http://schemas.microsoft.com/office/drawing/2014/main" id="{5D67E51F-540F-4A66-A6F1-A506E0C560C1}"/>
              </a:ext>
            </a:extLst>
          </p:cNvPr>
          <p:cNvCxnSpPr>
            <a:cxnSpLocks/>
            <a:endCxn id="25" idx="0"/>
          </p:cNvCxnSpPr>
          <p:nvPr/>
        </p:nvCxnSpPr>
        <p:spPr>
          <a:xfrm>
            <a:off x="8950974" y="1787560"/>
            <a:ext cx="1" cy="41300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2B60BA7F-1CD2-456B-B623-5D9F394B7D61}"/>
              </a:ext>
            </a:extLst>
          </p:cNvPr>
          <p:cNvCxnSpPr>
            <a:cxnSpLocks/>
          </p:cNvCxnSpPr>
          <p:nvPr/>
        </p:nvCxnSpPr>
        <p:spPr>
          <a:xfrm flipV="1">
            <a:off x="7423816" y="2994984"/>
            <a:ext cx="520180" cy="1676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36" name="Flowchart: Alternate Process 35">
            <a:extLst>
              <a:ext uri="{FF2B5EF4-FFF2-40B4-BE49-F238E27FC236}">
                <a16:creationId xmlns:a16="http://schemas.microsoft.com/office/drawing/2014/main" id="{D6F2E2E4-DBB1-4827-A027-2576D79B6A76}"/>
              </a:ext>
            </a:extLst>
          </p:cNvPr>
          <p:cNvSpPr/>
          <p:nvPr/>
        </p:nvSpPr>
        <p:spPr>
          <a:xfrm>
            <a:off x="7943996" y="5096475"/>
            <a:ext cx="2088738" cy="5957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Update Expression</a:t>
            </a:r>
          </a:p>
        </p:txBody>
      </p:sp>
      <p:cxnSp>
        <p:nvCxnSpPr>
          <p:cNvPr id="37" name="Straight Connector 36">
            <a:extLst>
              <a:ext uri="{FF2B5EF4-FFF2-40B4-BE49-F238E27FC236}">
                <a16:creationId xmlns:a16="http://schemas.microsoft.com/office/drawing/2014/main" id="{49078915-7C14-445B-BD54-472C967E147D}"/>
              </a:ext>
            </a:extLst>
          </p:cNvPr>
          <p:cNvCxnSpPr>
            <a:cxnSpLocks/>
          </p:cNvCxnSpPr>
          <p:nvPr/>
        </p:nvCxnSpPr>
        <p:spPr>
          <a:xfrm flipH="1" flipV="1">
            <a:off x="7423816" y="3011747"/>
            <a:ext cx="17705" cy="2389786"/>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D69FF385-F750-452F-B2A1-159E0B0CB502}"/>
              </a:ext>
            </a:extLst>
          </p:cNvPr>
          <p:cNvCxnSpPr>
            <a:cxnSpLocks/>
          </p:cNvCxnSpPr>
          <p:nvPr/>
        </p:nvCxnSpPr>
        <p:spPr>
          <a:xfrm>
            <a:off x="7441521" y="5401533"/>
            <a:ext cx="484769" cy="0"/>
          </a:xfrm>
          <a:prstGeom prst="line">
            <a:avLst/>
          </a:prstGeom>
        </p:spPr>
        <p:style>
          <a:lnRef idx="3">
            <a:schemeClr val="dk1"/>
          </a:lnRef>
          <a:fillRef idx="0">
            <a:schemeClr val="dk1"/>
          </a:fillRef>
          <a:effectRef idx="2">
            <a:schemeClr val="dk1"/>
          </a:effectRef>
          <a:fontRef idx="minor">
            <a:schemeClr val="tx1"/>
          </a:fontRef>
        </p:style>
      </p:cxnSp>
      <p:cxnSp>
        <p:nvCxnSpPr>
          <p:cNvPr id="44" name="Straight Arrow Connector 43">
            <a:extLst>
              <a:ext uri="{FF2B5EF4-FFF2-40B4-BE49-F238E27FC236}">
                <a16:creationId xmlns:a16="http://schemas.microsoft.com/office/drawing/2014/main" id="{25E31537-3ED2-4FBF-8372-64EEB531FF94}"/>
              </a:ext>
            </a:extLst>
          </p:cNvPr>
          <p:cNvCxnSpPr>
            <a:cxnSpLocks/>
            <a:endCxn id="27" idx="0"/>
          </p:cNvCxnSpPr>
          <p:nvPr/>
        </p:nvCxnSpPr>
        <p:spPr>
          <a:xfrm flipH="1">
            <a:off x="8952954" y="3800382"/>
            <a:ext cx="7702" cy="34467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a:extLst>
              <a:ext uri="{FF2B5EF4-FFF2-40B4-BE49-F238E27FC236}">
                <a16:creationId xmlns:a16="http://schemas.microsoft.com/office/drawing/2014/main" id="{618287F9-A4BF-4B36-8A88-7362E98951E9}"/>
              </a:ext>
            </a:extLst>
          </p:cNvPr>
          <p:cNvCxnSpPr>
            <a:cxnSpLocks/>
          </p:cNvCxnSpPr>
          <p:nvPr/>
        </p:nvCxnSpPr>
        <p:spPr>
          <a:xfrm>
            <a:off x="8974242" y="4754670"/>
            <a:ext cx="0" cy="34467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CA0443CC-760D-4DC9-9311-1E0388BE8AD0}"/>
              </a:ext>
            </a:extLst>
          </p:cNvPr>
          <p:cNvCxnSpPr>
            <a:cxnSpLocks/>
          </p:cNvCxnSpPr>
          <p:nvPr/>
        </p:nvCxnSpPr>
        <p:spPr>
          <a:xfrm flipV="1">
            <a:off x="10020934" y="2994984"/>
            <a:ext cx="799197" cy="8380"/>
          </a:xfrm>
          <a:prstGeom prst="line">
            <a:avLst/>
          </a:prstGeom>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E404D3FC-D89D-4AEA-BDFE-E01F7A439AF3}"/>
              </a:ext>
            </a:extLst>
          </p:cNvPr>
          <p:cNvCxnSpPr>
            <a:cxnSpLocks/>
          </p:cNvCxnSpPr>
          <p:nvPr/>
        </p:nvCxnSpPr>
        <p:spPr>
          <a:xfrm>
            <a:off x="10820131" y="2986298"/>
            <a:ext cx="0" cy="3135110"/>
          </a:xfrm>
          <a:prstGeom prst="line">
            <a:avLst/>
          </a:prstGeom>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8946DD4E-726E-4CD9-BFBE-B57669F8DC01}"/>
              </a:ext>
            </a:extLst>
          </p:cNvPr>
          <p:cNvCxnSpPr>
            <a:cxnSpLocks/>
          </p:cNvCxnSpPr>
          <p:nvPr/>
        </p:nvCxnSpPr>
        <p:spPr>
          <a:xfrm>
            <a:off x="8988365" y="6121408"/>
            <a:ext cx="1831766" cy="0"/>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9053A74D-F05C-4E07-A782-2C7A394CEDA5}"/>
              </a:ext>
            </a:extLst>
          </p:cNvPr>
          <p:cNvCxnSpPr>
            <a:cxnSpLocks/>
          </p:cNvCxnSpPr>
          <p:nvPr/>
        </p:nvCxnSpPr>
        <p:spPr>
          <a:xfrm>
            <a:off x="8950973" y="844800"/>
            <a:ext cx="1" cy="41300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68" name="TextBox 67">
            <a:extLst>
              <a:ext uri="{FF2B5EF4-FFF2-40B4-BE49-F238E27FC236}">
                <a16:creationId xmlns:a16="http://schemas.microsoft.com/office/drawing/2014/main" id="{331A43E1-E6DC-4BB6-9632-A5921C53905C}"/>
              </a:ext>
            </a:extLst>
          </p:cNvPr>
          <p:cNvSpPr txBox="1"/>
          <p:nvPr/>
        </p:nvSpPr>
        <p:spPr>
          <a:xfrm>
            <a:off x="10078916" y="2637862"/>
            <a:ext cx="741215" cy="338554"/>
          </a:xfrm>
          <a:prstGeom prst="rect">
            <a:avLst/>
          </a:prstGeom>
          <a:noFill/>
        </p:spPr>
        <p:txBody>
          <a:bodyPr wrap="square" rtlCol="0">
            <a:spAutoFit/>
          </a:bodyPr>
          <a:lstStyle/>
          <a:p>
            <a:r>
              <a:rPr lang="en-US" sz="1600" dirty="0"/>
              <a:t>False</a:t>
            </a:r>
          </a:p>
        </p:txBody>
      </p:sp>
    </p:spTree>
    <p:extLst>
      <p:ext uri="{BB962C8B-B14F-4D97-AF65-F5344CB8AC3E}">
        <p14:creationId xmlns:p14="http://schemas.microsoft.com/office/powerpoint/2010/main" val="4105366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dirty="0">
                <a:solidFill>
                  <a:schemeClr val="bg1"/>
                </a:solidFill>
              </a:rPr>
              <a:t>Range() Function In Loop</a:t>
            </a:r>
            <a:endParaRPr lang="en-US" sz="3600" dirty="0">
              <a:solidFill>
                <a:schemeClr val="bg1"/>
              </a:solidFill>
            </a:endParaRP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solidFill>
                  <a:schemeClr val="tx1"/>
                </a:solidFill>
              </a:rPr>
              <a:t>5</a:t>
            </a:fld>
            <a:endParaRPr lang="en-US" dirty="0">
              <a:solidFill>
                <a:schemeClr val="tx1"/>
              </a:solidFill>
            </a:endParaRPr>
          </a:p>
        </p:txBody>
      </p:sp>
      <p:sp>
        <p:nvSpPr>
          <p:cNvPr id="9" name="TextBox 8">
            <a:extLst>
              <a:ext uri="{FF2B5EF4-FFF2-40B4-BE49-F238E27FC236}">
                <a16:creationId xmlns:a16="http://schemas.microsoft.com/office/drawing/2014/main" id="{C9DA99C8-6043-44E2-87B9-237383F58365}"/>
              </a:ext>
            </a:extLst>
          </p:cNvPr>
          <p:cNvSpPr txBox="1"/>
          <p:nvPr/>
        </p:nvSpPr>
        <p:spPr>
          <a:xfrm>
            <a:off x="1154953" y="2471879"/>
            <a:ext cx="10496720" cy="957121"/>
          </a:xfrm>
          <a:prstGeom prst="rect">
            <a:avLst/>
          </a:prstGeom>
          <a:noFill/>
        </p:spPr>
        <p:txBody>
          <a:bodyPr wrap="square" rtlCol="0">
            <a:spAutoFit/>
          </a:bodyPr>
          <a:lstStyle/>
          <a:p>
            <a:pPr algn="l">
              <a:lnSpc>
                <a:spcPct val="150000"/>
              </a:lnSpc>
            </a:pPr>
            <a:r>
              <a:rPr lang="en-US" sz="2000" dirty="0"/>
              <a:t>The range() function returns a sequence of numbers, starting from 0 by default, and increments by 1 (by default), and ends at a specified number.</a:t>
            </a:r>
          </a:p>
        </p:txBody>
      </p:sp>
      <p:sp>
        <p:nvSpPr>
          <p:cNvPr id="7" name="TextBox 6">
            <a:extLst>
              <a:ext uri="{FF2B5EF4-FFF2-40B4-BE49-F238E27FC236}">
                <a16:creationId xmlns:a16="http://schemas.microsoft.com/office/drawing/2014/main" id="{DCBD5DE3-DA96-4231-A3BC-84DF64E4F09D}"/>
              </a:ext>
            </a:extLst>
          </p:cNvPr>
          <p:cNvSpPr txBox="1"/>
          <p:nvPr/>
        </p:nvSpPr>
        <p:spPr>
          <a:xfrm>
            <a:off x="1265793" y="3736489"/>
            <a:ext cx="3569443" cy="2308324"/>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range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6</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range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range</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10</a:t>
            </a:r>
            <a:r>
              <a:rPr lang="en-US" b="0" dirty="0">
                <a:solidFill>
                  <a:srgbClr val="D4D4D4"/>
                </a:solidFill>
                <a:effectLst/>
                <a:latin typeface="Consolas" panose="020B0609020204030204" pitchFamily="49" charset="0"/>
              </a:rPr>
              <a:t>, </a:t>
            </a:r>
            <a:r>
              <a:rPr lang="en-US" b="0" dirty="0">
                <a:solidFill>
                  <a:srgbClr val="B5CEA8"/>
                </a:solidFill>
                <a:effectLst/>
                <a:latin typeface="Consolas" panose="020B0609020204030204" pitchFamily="49" charset="0"/>
              </a:rPr>
              <a:t>3</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p:txBody>
      </p:sp>
      <p:sp>
        <p:nvSpPr>
          <p:cNvPr id="11" name="Flowchart: Alternate Process 10">
            <a:extLst>
              <a:ext uri="{FF2B5EF4-FFF2-40B4-BE49-F238E27FC236}">
                <a16:creationId xmlns:a16="http://schemas.microsoft.com/office/drawing/2014/main" id="{6F649CBB-340F-4BFC-891F-19F60FE64B98}"/>
              </a:ext>
            </a:extLst>
          </p:cNvPr>
          <p:cNvSpPr/>
          <p:nvPr/>
        </p:nvSpPr>
        <p:spPr>
          <a:xfrm>
            <a:off x="5871967" y="3763069"/>
            <a:ext cx="5054240" cy="348049"/>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t>Print the value from 0 to 6</a:t>
            </a:r>
          </a:p>
        </p:txBody>
      </p:sp>
      <p:cxnSp>
        <p:nvCxnSpPr>
          <p:cNvPr id="12" name="Straight Arrow Connector 11">
            <a:extLst>
              <a:ext uri="{FF2B5EF4-FFF2-40B4-BE49-F238E27FC236}">
                <a16:creationId xmlns:a16="http://schemas.microsoft.com/office/drawing/2014/main" id="{DDDF7758-7A13-4A1C-99CE-E49778AD785E}"/>
              </a:ext>
            </a:extLst>
          </p:cNvPr>
          <p:cNvCxnSpPr>
            <a:cxnSpLocks/>
          </p:cNvCxnSpPr>
          <p:nvPr/>
        </p:nvCxnSpPr>
        <p:spPr>
          <a:xfrm>
            <a:off x="3796145" y="3937094"/>
            <a:ext cx="1917269" cy="0"/>
          </a:xfrm>
          <a:prstGeom prst="straightConnector1">
            <a:avLst/>
          </a:prstGeom>
          <a:ln w="28575">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13" name="Flowchart: Alternate Process 12">
            <a:extLst>
              <a:ext uri="{FF2B5EF4-FFF2-40B4-BE49-F238E27FC236}">
                <a16:creationId xmlns:a16="http://schemas.microsoft.com/office/drawing/2014/main" id="{856C14FA-FCC7-4F2A-9B7A-80BB6F9E3768}"/>
              </a:ext>
            </a:extLst>
          </p:cNvPr>
          <p:cNvSpPr/>
          <p:nvPr/>
        </p:nvSpPr>
        <p:spPr>
          <a:xfrm>
            <a:off x="5871966" y="4574771"/>
            <a:ext cx="5054239" cy="348049"/>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t>Print the value start 2 and end 10</a:t>
            </a:r>
          </a:p>
        </p:txBody>
      </p:sp>
      <p:cxnSp>
        <p:nvCxnSpPr>
          <p:cNvPr id="14" name="Straight Arrow Connector 13">
            <a:extLst>
              <a:ext uri="{FF2B5EF4-FFF2-40B4-BE49-F238E27FC236}">
                <a16:creationId xmlns:a16="http://schemas.microsoft.com/office/drawing/2014/main" id="{271DCC7F-5589-4F12-AA95-EE4AA1AFCEB2}"/>
              </a:ext>
            </a:extLst>
          </p:cNvPr>
          <p:cNvCxnSpPr>
            <a:cxnSpLocks/>
          </p:cNvCxnSpPr>
          <p:nvPr/>
        </p:nvCxnSpPr>
        <p:spPr>
          <a:xfrm>
            <a:off x="4211782" y="4748796"/>
            <a:ext cx="1501632" cy="0"/>
          </a:xfrm>
          <a:prstGeom prst="straightConnector1">
            <a:avLst/>
          </a:prstGeom>
          <a:ln w="28575">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15" name="Flowchart: Alternate Process 14">
            <a:extLst>
              <a:ext uri="{FF2B5EF4-FFF2-40B4-BE49-F238E27FC236}">
                <a16:creationId xmlns:a16="http://schemas.microsoft.com/office/drawing/2014/main" id="{C798DE9B-51DE-42A9-AF48-9FBB16F28490}"/>
              </a:ext>
            </a:extLst>
          </p:cNvPr>
          <p:cNvSpPr/>
          <p:nvPr/>
        </p:nvSpPr>
        <p:spPr>
          <a:xfrm>
            <a:off x="5871965" y="5344280"/>
            <a:ext cx="5054239" cy="4878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t>Print the value start1 end 10 and difference is 3</a:t>
            </a:r>
          </a:p>
        </p:txBody>
      </p:sp>
      <p:cxnSp>
        <p:nvCxnSpPr>
          <p:cNvPr id="16" name="Straight Arrow Connector 15">
            <a:extLst>
              <a:ext uri="{FF2B5EF4-FFF2-40B4-BE49-F238E27FC236}">
                <a16:creationId xmlns:a16="http://schemas.microsoft.com/office/drawing/2014/main" id="{1AD4ADF1-3860-424C-805C-3B2116064FBE}"/>
              </a:ext>
            </a:extLst>
          </p:cNvPr>
          <p:cNvCxnSpPr>
            <a:cxnSpLocks/>
          </p:cNvCxnSpPr>
          <p:nvPr/>
        </p:nvCxnSpPr>
        <p:spPr>
          <a:xfrm>
            <a:off x="4502727" y="5588208"/>
            <a:ext cx="1210687" cy="0"/>
          </a:xfrm>
          <a:prstGeom prst="straightConnector1">
            <a:avLst/>
          </a:prstGeom>
          <a:ln w="28575">
            <a:solidFill>
              <a:srgbClr val="C0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12512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sz="3600" dirty="0"/>
              <a:t>List in For loop</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6</a:t>
            </a:fld>
            <a:endParaRPr lang="en-US" dirty="0"/>
          </a:p>
        </p:txBody>
      </p:sp>
      <p:sp>
        <p:nvSpPr>
          <p:cNvPr id="19" name="Title 7">
            <a:extLst>
              <a:ext uri="{FF2B5EF4-FFF2-40B4-BE49-F238E27FC236}">
                <a16:creationId xmlns:a16="http://schemas.microsoft.com/office/drawing/2014/main" id="{FA363871-A22D-42A8-9D2E-E0EBC84E4C42}"/>
              </a:ext>
            </a:extLst>
          </p:cNvPr>
          <p:cNvSpPr txBox="1">
            <a:spLocks/>
          </p:cNvSpPr>
          <p:nvPr/>
        </p:nvSpPr>
        <p:spPr bwMode="gray">
          <a:xfrm>
            <a:off x="847637" y="2213952"/>
            <a:ext cx="2950421" cy="70696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rPr>
              <a:t>List in for loop</a:t>
            </a:r>
          </a:p>
        </p:txBody>
      </p:sp>
      <p:sp>
        <p:nvSpPr>
          <p:cNvPr id="7" name="TextBox 6">
            <a:extLst>
              <a:ext uri="{FF2B5EF4-FFF2-40B4-BE49-F238E27FC236}">
                <a16:creationId xmlns:a16="http://schemas.microsoft.com/office/drawing/2014/main" id="{31E362DD-EFD8-442D-9B32-9815801B5E2C}"/>
              </a:ext>
            </a:extLst>
          </p:cNvPr>
          <p:cNvSpPr txBox="1"/>
          <p:nvPr/>
        </p:nvSpPr>
        <p:spPr>
          <a:xfrm>
            <a:off x="955964" y="2999499"/>
            <a:ext cx="7213191" cy="1200329"/>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Wisal</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"Younus"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"Shahab"</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"Nadir"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"Wahab"</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1BA99B18-EE4B-47ED-9673-B82F7D249C52}"/>
              </a:ext>
            </a:extLst>
          </p:cNvPr>
          <p:cNvSpPr txBox="1"/>
          <p:nvPr/>
        </p:nvSpPr>
        <p:spPr>
          <a:xfrm>
            <a:off x="955964" y="5116646"/>
            <a:ext cx="7213191" cy="1200329"/>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Wisal</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"Younus"</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"Shahab"</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"Nadir"</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"Wahab"</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range</a:t>
            </a:r>
            <a:r>
              <a:rPr lang="en-US" b="0" dirty="0">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p:txBody>
      </p:sp>
      <p:sp>
        <p:nvSpPr>
          <p:cNvPr id="10" name="Title 7">
            <a:extLst>
              <a:ext uri="{FF2B5EF4-FFF2-40B4-BE49-F238E27FC236}">
                <a16:creationId xmlns:a16="http://schemas.microsoft.com/office/drawing/2014/main" id="{6B475E48-F0D4-497D-950B-41839565B067}"/>
              </a:ext>
            </a:extLst>
          </p:cNvPr>
          <p:cNvSpPr txBox="1">
            <a:spLocks/>
          </p:cNvSpPr>
          <p:nvPr/>
        </p:nvSpPr>
        <p:spPr bwMode="gray">
          <a:xfrm>
            <a:off x="847636" y="4304755"/>
            <a:ext cx="5567019" cy="706964"/>
          </a:xfrm>
          <a:prstGeom prst="rect">
            <a:avLst/>
          </a:prstGeom>
        </p:spPr>
        <p:txBody>
          <a:bodyPr vert="horz" lIns="91440" tIns="45720" rIns="91440" bIns="45720" rtlCol="0" anchor="ctr">
            <a:normAutofit fontScale="92500"/>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rPr>
              <a:t>Using range() and </a:t>
            </a:r>
            <a:r>
              <a:rPr lang="en-US" sz="2800" dirty="0" err="1">
                <a:solidFill>
                  <a:schemeClr val="tx1"/>
                </a:solidFill>
              </a:rPr>
              <a:t>len</a:t>
            </a:r>
            <a:r>
              <a:rPr lang="en-US" sz="2800" dirty="0">
                <a:solidFill>
                  <a:schemeClr val="tx1"/>
                </a:solidFill>
              </a:rPr>
              <a:t>() function</a:t>
            </a:r>
          </a:p>
        </p:txBody>
      </p:sp>
    </p:spTree>
    <p:extLst>
      <p:ext uri="{BB962C8B-B14F-4D97-AF65-F5344CB8AC3E}">
        <p14:creationId xmlns:p14="http://schemas.microsoft.com/office/powerpoint/2010/main" val="49868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773836" y="1255225"/>
            <a:ext cx="4890958" cy="738839"/>
          </a:xfrm>
        </p:spPr>
        <p:txBody>
          <a:bodyPr>
            <a:normAutofit/>
          </a:bodyPr>
          <a:lstStyle/>
          <a:p>
            <a:r>
              <a:rPr lang="en-US" dirty="0"/>
              <a:t>While</a:t>
            </a:r>
            <a:r>
              <a:rPr lang="en-US" sz="3600" dirty="0"/>
              <a:t> Loop in Python</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7</a:t>
            </a:fld>
            <a:endParaRPr lang="en-US" dirty="0"/>
          </a:p>
        </p:txBody>
      </p:sp>
      <p:sp>
        <p:nvSpPr>
          <p:cNvPr id="24" name="TextBox 23">
            <a:extLst>
              <a:ext uri="{FF2B5EF4-FFF2-40B4-BE49-F238E27FC236}">
                <a16:creationId xmlns:a16="http://schemas.microsoft.com/office/drawing/2014/main" id="{F8637BFE-EF3D-4BE9-BEEF-6270BE4095BC}"/>
              </a:ext>
            </a:extLst>
          </p:cNvPr>
          <p:cNvSpPr txBox="1"/>
          <p:nvPr/>
        </p:nvSpPr>
        <p:spPr>
          <a:xfrm>
            <a:off x="818869" y="2070639"/>
            <a:ext cx="4690052" cy="2342116"/>
          </a:xfrm>
          <a:prstGeom prst="rect">
            <a:avLst/>
          </a:prstGeom>
          <a:noFill/>
        </p:spPr>
        <p:txBody>
          <a:bodyPr wrap="square" rtlCol="0">
            <a:spAutoFit/>
          </a:bodyPr>
          <a:lstStyle/>
          <a:p>
            <a:pPr algn="just">
              <a:lnSpc>
                <a:spcPct val="150000"/>
              </a:lnSpc>
            </a:pPr>
            <a:r>
              <a:rPr lang="en-US" sz="2000" dirty="0">
                <a:solidFill>
                  <a:schemeClr val="bg1"/>
                </a:solidFill>
              </a:rPr>
              <a:t>In most computer programming languages, a while loop is a control flow statement that allows code to be executed repeatedly based on a given Boolean condition. </a:t>
            </a:r>
          </a:p>
        </p:txBody>
      </p:sp>
      <p:sp>
        <p:nvSpPr>
          <p:cNvPr id="25" name="Diamond 24">
            <a:extLst>
              <a:ext uri="{FF2B5EF4-FFF2-40B4-BE49-F238E27FC236}">
                <a16:creationId xmlns:a16="http://schemas.microsoft.com/office/drawing/2014/main" id="{E71A4745-ACEC-4E69-826D-BAABE00A9661}"/>
              </a:ext>
            </a:extLst>
          </p:cNvPr>
          <p:cNvSpPr/>
          <p:nvPr/>
        </p:nvSpPr>
        <p:spPr>
          <a:xfrm>
            <a:off x="7881015" y="2200569"/>
            <a:ext cx="2139919" cy="158883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t>Test Condition</a:t>
            </a:r>
          </a:p>
        </p:txBody>
      </p:sp>
      <p:sp>
        <p:nvSpPr>
          <p:cNvPr id="27" name="Flowchart: Alternate Process 26">
            <a:extLst>
              <a:ext uri="{FF2B5EF4-FFF2-40B4-BE49-F238E27FC236}">
                <a16:creationId xmlns:a16="http://schemas.microsoft.com/office/drawing/2014/main" id="{EC2614F7-6AD4-4391-A2AB-71C5D4A6BF0E}"/>
              </a:ext>
            </a:extLst>
          </p:cNvPr>
          <p:cNvSpPr/>
          <p:nvPr/>
        </p:nvSpPr>
        <p:spPr>
          <a:xfrm>
            <a:off x="7901333" y="4747997"/>
            <a:ext cx="2088738" cy="5957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t>Code inside body of while loop</a:t>
            </a:r>
          </a:p>
        </p:txBody>
      </p:sp>
      <p:sp>
        <p:nvSpPr>
          <p:cNvPr id="28" name="TextBox 27">
            <a:extLst>
              <a:ext uri="{FF2B5EF4-FFF2-40B4-BE49-F238E27FC236}">
                <a16:creationId xmlns:a16="http://schemas.microsoft.com/office/drawing/2014/main" id="{B5612E93-6F2A-42EB-BC59-2A3785476648}"/>
              </a:ext>
            </a:extLst>
          </p:cNvPr>
          <p:cNvSpPr txBox="1"/>
          <p:nvPr/>
        </p:nvSpPr>
        <p:spPr>
          <a:xfrm>
            <a:off x="8945702" y="4080993"/>
            <a:ext cx="741215" cy="338554"/>
          </a:xfrm>
          <a:prstGeom prst="rect">
            <a:avLst/>
          </a:prstGeom>
          <a:noFill/>
        </p:spPr>
        <p:txBody>
          <a:bodyPr wrap="square" rtlCol="0">
            <a:spAutoFit/>
          </a:bodyPr>
          <a:lstStyle/>
          <a:p>
            <a:r>
              <a:rPr lang="en-US" sz="1600" dirty="0"/>
              <a:t>True</a:t>
            </a:r>
          </a:p>
        </p:txBody>
      </p:sp>
      <p:sp>
        <p:nvSpPr>
          <p:cNvPr id="31" name="Flowchart: Alternate Process 30">
            <a:extLst>
              <a:ext uri="{FF2B5EF4-FFF2-40B4-BE49-F238E27FC236}">
                <a16:creationId xmlns:a16="http://schemas.microsoft.com/office/drawing/2014/main" id="{7F5F45EA-DEF4-491F-8B6C-11EE82E7952F}"/>
              </a:ext>
            </a:extLst>
          </p:cNvPr>
          <p:cNvSpPr/>
          <p:nvPr/>
        </p:nvSpPr>
        <p:spPr>
          <a:xfrm>
            <a:off x="8133556" y="1191805"/>
            <a:ext cx="1634836" cy="595755"/>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Initialization</a:t>
            </a:r>
          </a:p>
        </p:txBody>
      </p:sp>
      <p:cxnSp>
        <p:nvCxnSpPr>
          <p:cNvPr id="32" name="Straight Arrow Connector 31">
            <a:extLst>
              <a:ext uri="{FF2B5EF4-FFF2-40B4-BE49-F238E27FC236}">
                <a16:creationId xmlns:a16="http://schemas.microsoft.com/office/drawing/2014/main" id="{5D67E51F-540F-4A66-A6F1-A506E0C560C1}"/>
              </a:ext>
            </a:extLst>
          </p:cNvPr>
          <p:cNvCxnSpPr>
            <a:cxnSpLocks/>
            <a:endCxn id="25" idx="0"/>
          </p:cNvCxnSpPr>
          <p:nvPr/>
        </p:nvCxnSpPr>
        <p:spPr>
          <a:xfrm>
            <a:off x="8950974" y="1787560"/>
            <a:ext cx="1" cy="41300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44" name="Straight Arrow Connector 43">
            <a:extLst>
              <a:ext uri="{FF2B5EF4-FFF2-40B4-BE49-F238E27FC236}">
                <a16:creationId xmlns:a16="http://schemas.microsoft.com/office/drawing/2014/main" id="{25E31537-3ED2-4FBF-8372-64EEB531FF94}"/>
              </a:ext>
            </a:extLst>
          </p:cNvPr>
          <p:cNvCxnSpPr>
            <a:cxnSpLocks/>
            <a:stCxn id="25" idx="2"/>
            <a:endCxn id="27" idx="0"/>
          </p:cNvCxnSpPr>
          <p:nvPr/>
        </p:nvCxnSpPr>
        <p:spPr>
          <a:xfrm flipH="1">
            <a:off x="8945702" y="3789400"/>
            <a:ext cx="5273" cy="958597"/>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E404D3FC-D89D-4AEA-BDFE-E01F7A439AF3}"/>
              </a:ext>
            </a:extLst>
          </p:cNvPr>
          <p:cNvCxnSpPr>
            <a:cxnSpLocks/>
          </p:cNvCxnSpPr>
          <p:nvPr/>
        </p:nvCxnSpPr>
        <p:spPr>
          <a:xfrm>
            <a:off x="10820131" y="3011744"/>
            <a:ext cx="0" cy="2034130"/>
          </a:xfrm>
          <a:prstGeom prst="line">
            <a:avLst/>
          </a:prstGeom>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8946DD4E-726E-4CD9-BFBE-B57669F8DC01}"/>
              </a:ext>
            </a:extLst>
          </p:cNvPr>
          <p:cNvCxnSpPr>
            <a:cxnSpLocks/>
            <a:stCxn id="27" idx="3"/>
          </p:cNvCxnSpPr>
          <p:nvPr/>
        </p:nvCxnSpPr>
        <p:spPr>
          <a:xfrm>
            <a:off x="9990071" y="5045875"/>
            <a:ext cx="830060" cy="0"/>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Arrow Connector 66">
            <a:extLst>
              <a:ext uri="{FF2B5EF4-FFF2-40B4-BE49-F238E27FC236}">
                <a16:creationId xmlns:a16="http://schemas.microsoft.com/office/drawing/2014/main" id="{9053A74D-F05C-4E07-A782-2C7A394CEDA5}"/>
              </a:ext>
            </a:extLst>
          </p:cNvPr>
          <p:cNvCxnSpPr>
            <a:cxnSpLocks/>
          </p:cNvCxnSpPr>
          <p:nvPr/>
        </p:nvCxnSpPr>
        <p:spPr>
          <a:xfrm>
            <a:off x="8945702" y="803399"/>
            <a:ext cx="1" cy="41300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22" name="Straight Connector 21">
            <a:extLst>
              <a:ext uri="{FF2B5EF4-FFF2-40B4-BE49-F238E27FC236}">
                <a16:creationId xmlns:a16="http://schemas.microsoft.com/office/drawing/2014/main" id="{7F9E9AE9-09F8-407F-AD82-ECC68BA332E3}"/>
              </a:ext>
            </a:extLst>
          </p:cNvPr>
          <p:cNvCxnSpPr>
            <a:cxnSpLocks/>
          </p:cNvCxnSpPr>
          <p:nvPr/>
        </p:nvCxnSpPr>
        <p:spPr>
          <a:xfrm flipV="1">
            <a:off x="7112584" y="3003364"/>
            <a:ext cx="799197" cy="8380"/>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19F60D0C-803A-45B7-BE60-227D4EDB370F}"/>
              </a:ext>
            </a:extLst>
          </p:cNvPr>
          <p:cNvCxnSpPr>
            <a:cxnSpLocks/>
          </p:cNvCxnSpPr>
          <p:nvPr/>
        </p:nvCxnSpPr>
        <p:spPr>
          <a:xfrm flipH="1">
            <a:off x="7112584" y="3014629"/>
            <a:ext cx="1353" cy="265188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1178E0A7-8A0A-4F88-A3AD-8E35BB3AD94F}"/>
              </a:ext>
            </a:extLst>
          </p:cNvPr>
          <p:cNvCxnSpPr>
            <a:cxnSpLocks/>
          </p:cNvCxnSpPr>
          <p:nvPr/>
        </p:nvCxnSpPr>
        <p:spPr>
          <a:xfrm flipH="1">
            <a:off x="9990073" y="3002829"/>
            <a:ext cx="830058" cy="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sp>
        <p:nvSpPr>
          <p:cNvPr id="16" name="Oval 15">
            <a:extLst>
              <a:ext uri="{FF2B5EF4-FFF2-40B4-BE49-F238E27FC236}">
                <a16:creationId xmlns:a16="http://schemas.microsoft.com/office/drawing/2014/main" id="{979C673E-E598-4869-A480-116FF3B8CE54}"/>
              </a:ext>
            </a:extLst>
          </p:cNvPr>
          <p:cNvSpPr/>
          <p:nvPr/>
        </p:nvSpPr>
        <p:spPr>
          <a:xfrm>
            <a:off x="6165261" y="5666508"/>
            <a:ext cx="1894645" cy="63584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End Of Loop</a:t>
            </a:r>
          </a:p>
        </p:txBody>
      </p:sp>
      <p:sp>
        <p:nvSpPr>
          <p:cNvPr id="39" name="TextBox 38">
            <a:extLst>
              <a:ext uri="{FF2B5EF4-FFF2-40B4-BE49-F238E27FC236}">
                <a16:creationId xmlns:a16="http://schemas.microsoft.com/office/drawing/2014/main" id="{A4896CFB-53A9-4487-A266-037AA10294D5}"/>
              </a:ext>
            </a:extLst>
          </p:cNvPr>
          <p:cNvSpPr txBox="1"/>
          <p:nvPr/>
        </p:nvSpPr>
        <p:spPr>
          <a:xfrm>
            <a:off x="7170566" y="2610755"/>
            <a:ext cx="741215" cy="338554"/>
          </a:xfrm>
          <a:prstGeom prst="rect">
            <a:avLst/>
          </a:prstGeom>
          <a:noFill/>
        </p:spPr>
        <p:txBody>
          <a:bodyPr wrap="square" rtlCol="0">
            <a:spAutoFit/>
          </a:bodyPr>
          <a:lstStyle/>
          <a:p>
            <a:r>
              <a:rPr lang="en-US" sz="1600" dirty="0"/>
              <a:t>False</a:t>
            </a:r>
          </a:p>
        </p:txBody>
      </p:sp>
    </p:spTree>
    <p:extLst>
      <p:ext uri="{BB962C8B-B14F-4D97-AF65-F5344CB8AC3E}">
        <p14:creationId xmlns:p14="http://schemas.microsoft.com/office/powerpoint/2010/main" val="1487971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dirty="0"/>
              <a:t>While</a:t>
            </a:r>
            <a:r>
              <a:rPr lang="en-US" sz="3600" dirty="0"/>
              <a:t> loop example</a:t>
            </a: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t>8</a:t>
            </a:fld>
            <a:endParaRPr lang="en-US" dirty="0"/>
          </a:p>
        </p:txBody>
      </p:sp>
      <p:sp>
        <p:nvSpPr>
          <p:cNvPr id="19" name="Title 7">
            <a:extLst>
              <a:ext uri="{FF2B5EF4-FFF2-40B4-BE49-F238E27FC236}">
                <a16:creationId xmlns:a16="http://schemas.microsoft.com/office/drawing/2014/main" id="{FA363871-A22D-42A8-9D2E-E0EBC84E4C42}"/>
              </a:ext>
            </a:extLst>
          </p:cNvPr>
          <p:cNvSpPr txBox="1">
            <a:spLocks/>
          </p:cNvSpPr>
          <p:nvPr/>
        </p:nvSpPr>
        <p:spPr bwMode="gray">
          <a:xfrm>
            <a:off x="847637" y="2463336"/>
            <a:ext cx="2950421" cy="70696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rPr>
              <a:t>Example:</a:t>
            </a:r>
          </a:p>
        </p:txBody>
      </p:sp>
      <p:sp>
        <p:nvSpPr>
          <p:cNvPr id="11" name="TextBox 10">
            <a:extLst>
              <a:ext uri="{FF2B5EF4-FFF2-40B4-BE49-F238E27FC236}">
                <a16:creationId xmlns:a16="http://schemas.microsoft.com/office/drawing/2014/main" id="{9E9BAE36-2A95-43E1-85DD-B0D391476147}"/>
              </a:ext>
            </a:extLst>
          </p:cNvPr>
          <p:cNvSpPr txBox="1"/>
          <p:nvPr/>
        </p:nvSpPr>
        <p:spPr>
          <a:xfrm>
            <a:off x="944622" y="3336969"/>
            <a:ext cx="2563090" cy="2031325"/>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nn-NO" b="0" dirty="0">
                <a:solidFill>
                  <a:srgbClr val="9CDCFE"/>
                </a:solidFill>
                <a:effectLst/>
                <a:latin typeface="Consolas" panose="020B0609020204030204" pitchFamily="49" charset="0"/>
              </a:rPr>
              <a:t>i</a:t>
            </a:r>
            <a:r>
              <a:rPr lang="nn-NO" b="0" dirty="0">
                <a:solidFill>
                  <a:srgbClr val="D4D4D4"/>
                </a:solidFill>
                <a:effectLst/>
                <a:latin typeface="Consolas" panose="020B0609020204030204" pitchFamily="49" charset="0"/>
              </a:rPr>
              <a:t> = </a:t>
            </a:r>
            <a:r>
              <a:rPr lang="nn-NO" b="0" dirty="0">
                <a:solidFill>
                  <a:srgbClr val="B5CEA8"/>
                </a:solidFill>
                <a:effectLst/>
                <a:latin typeface="Consolas" panose="020B0609020204030204" pitchFamily="49" charset="0"/>
              </a:rPr>
              <a:t>0</a:t>
            </a:r>
            <a:endParaRPr lang="nn-NO" b="0" dirty="0">
              <a:solidFill>
                <a:srgbClr val="D4D4D4"/>
              </a:solidFill>
              <a:effectLst/>
              <a:latin typeface="Consolas" panose="020B0609020204030204" pitchFamily="49" charset="0"/>
            </a:endParaRPr>
          </a:p>
          <a:p>
            <a:br>
              <a:rPr lang="nn-NO" b="0" dirty="0">
                <a:solidFill>
                  <a:srgbClr val="D4D4D4"/>
                </a:solidFill>
                <a:effectLst/>
                <a:latin typeface="Consolas" panose="020B0609020204030204" pitchFamily="49" charset="0"/>
              </a:rPr>
            </a:br>
            <a:r>
              <a:rPr lang="nn-NO" b="0" dirty="0">
                <a:solidFill>
                  <a:srgbClr val="C586C0"/>
                </a:solidFill>
                <a:effectLst/>
                <a:latin typeface="Consolas" panose="020B0609020204030204" pitchFamily="49" charset="0"/>
              </a:rPr>
              <a:t>while</a:t>
            </a:r>
            <a:r>
              <a:rPr lang="nn-NO" b="0" dirty="0">
                <a:solidFill>
                  <a:srgbClr val="D4D4D4"/>
                </a:solidFill>
                <a:effectLst/>
                <a:latin typeface="Consolas" panose="020B0609020204030204" pitchFamily="49" charset="0"/>
              </a:rPr>
              <a:t> </a:t>
            </a:r>
            <a:r>
              <a:rPr lang="nn-NO" b="0" dirty="0">
                <a:solidFill>
                  <a:srgbClr val="9CDCFE"/>
                </a:solidFill>
                <a:effectLst/>
                <a:latin typeface="Consolas" panose="020B0609020204030204" pitchFamily="49" charset="0"/>
              </a:rPr>
              <a:t>i</a:t>
            </a:r>
            <a:r>
              <a:rPr lang="nn-NO" b="0" dirty="0">
                <a:solidFill>
                  <a:srgbClr val="D4D4D4"/>
                </a:solidFill>
                <a:effectLst/>
                <a:latin typeface="Consolas" panose="020B0609020204030204" pitchFamily="49" charset="0"/>
              </a:rPr>
              <a:t>&lt;</a:t>
            </a:r>
            <a:r>
              <a:rPr lang="nn-NO" b="0" dirty="0">
                <a:solidFill>
                  <a:srgbClr val="B5CEA8"/>
                </a:solidFill>
                <a:effectLst/>
                <a:latin typeface="Consolas" panose="020B0609020204030204" pitchFamily="49" charset="0"/>
              </a:rPr>
              <a:t>20</a:t>
            </a:r>
            <a:r>
              <a:rPr lang="nn-NO" b="0" dirty="0">
                <a:solidFill>
                  <a:srgbClr val="D4D4D4"/>
                </a:solidFill>
                <a:effectLst/>
                <a:latin typeface="Consolas" panose="020B0609020204030204" pitchFamily="49" charset="0"/>
              </a:rPr>
              <a:t>:</a:t>
            </a:r>
          </a:p>
          <a:p>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    </a:t>
            </a:r>
            <a:r>
              <a:rPr lang="nn-NO" b="0" dirty="0">
                <a:solidFill>
                  <a:srgbClr val="DCDCAA"/>
                </a:solidFill>
                <a:effectLst/>
                <a:latin typeface="Consolas" panose="020B0609020204030204" pitchFamily="49" charset="0"/>
              </a:rPr>
              <a:t>print</a:t>
            </a:r>
            <a:r>
              <a:rPr lang="nn-NO" b="0" dirty="0">
                <a:solidFill>
                  <a:srgbClr val="D4D4D4"/>
                </a:solidFill>
                <a:effectLst/>
                <a:latin typeface="Consolas" panose="020B0609020204030204" pitchFamily="49" charset="0"/>
              </a:rPr>
              <a:t>(</a:t>
            </a:r>
            <a:r>
              <a:rPr lang="nn-NO" b="0">
                <a:solidFill>
                  <a:srgbClr val="9CDCFE"/>
                </a:solidFill>
                <a:effectLst/>
                <a:latin typeface="Consolas" panose="020B0609020204030204" pitchFamily="49" charset="0"/>
              </a:rPr>
              <a:t>i</a:t>
            </a:r>
            <a:r>
              <a:rPr lang="nn-NO" b="0">
                <a:solidFill>
                  <a:srgbClr val="D4D4D4"/>
                </a:solidFill>
                <a:effectLst/>
                <a:latin typeface="Consolas" panose="020B0609020204030204" pitchFamily="49" charset="0"/>
              </a:rPr>
              <a:t>)</a:t>
            </a:r>
          </a:p>
          <a:p>
            <a:endParaRPr lang="nn-NO" b="0" dirty="0">
              <a:solidFill>
                <a:srgbClr val="D4D4D4"/>
              </a:solidFill>
              <a:effectLst/>
              <a:latin typeface="Consolas" panose="020B0609020204030204" pitchFamily="49" charset="0"/>
            </a:endParaRPr>
          </a:p>
          <a:p>
            <a:r>
              <a:rPr lang="nn-NO" b="0" dirty="0">
                <a:solidFill>
                  <a:srgbClr val="D4D4D4"/>
                </a:solidFill>
                <a:effectLst/>
                <a:latin typeface="Consolas" panose="020B0609020204030204" pitchFamily="49" charset="0"/>
              </a:rPr>
              <a:t>    </a:t>
            </a:r>
            <a:r>
              <a:rPr lang="nn-NO" b="0" dirty="0">
                <a:solidFill>
                  <a:srgbClr val="9CDCFE"/>
                </a:solidFill>
                <a:effectLst/>
                <a:latin typeface="Consolas" panose="020B0609020204030204" pitchFamily="49" charset="0"/>
              </a:rPr>
              <a:t>i</a:t>
            </a:r>
            <a:r>
              <a:rPr lang="nn-NO" b="0" dirty="0">
                <a:solidFill>
                  <a:srgbClr val="D4D4D4"/>
                </a:solidFill>
                <a:effectLst/>
                <a:latin typeface="Consolas" panose="020B0609020204030204" pitchFamily="49" charset="0"/>
              </a:rPr>
              <a:t> = </a:t>
            </a:r>
            <a:r>
              <a:rPr lang="nn-NO" b="0" dirty="0">
                <a:solidFill>
                  <a:srgbClr val="9CDCFE"/>
                </a:solidFill>
                <a:effectLst/>
                <a:latin typeface="Consolas" panose="020B0609020204030204" pitchFamily="49" charset="0"/>
              </a:rPr>
              <a:t>i</a:t>
            </a:r>
            <a:r>
              <a:rPr lang="nn-NO" b="0" dirty="0">
                <a:solidFill>
                  <a:srgbClr val="D4D4D4"/>
                </a:solidFill>
                <a:effectLst/>
                <a:latin typeface="Consolas" panose="020B0609020204030204" pitchFamily="49" charset="0"/>
              </a:rPr>
              <a:t>+</a:t>
            </a:r>
            <a:r>
              <a:rPr lang="nn-NO" b="0" dirty="0">
                <a:solidFill>
                  <a:srgbClr val="B5CEA8"/>
                </a:solidFill>
                <a:effectLst/>
                <a:latin typeface="Consolas" panose="020B0609020204030204" pitchFamily="49" charset="0"/>
              </a:rPr>
              <a:t>1</a:t>
            </a:r>
            <a:endParaRPr lang="nn-NO" b="0" dirty="0">
              <a:solidFill>
                <a:srgbClr val="D4D4D4"/>
              </a:solidFill>
              <a:effectLst/>
              <a:latin typeface="Consolas" panose="020B0609020204030204" pitchFamily="49" charset="0"/>
            </a:endParaRPr>
          </a:p>
        </p:txBody>
      </p:sp>
      <p:sp>
        <p:nvSpPr>
          <p:cNvPr id="12" name="TextBox 11">
            <a:extLst>
              <a:ext uri="{FF2B5EF4-FFF2-40B4-BE49-F238E27FC236}">
                <a16:creationId xmlns:a16="http://schemas.microsoft.com/office/drawing/2014/main" id="{5E96B840-3756-4C9C-8A2A-1D07BC926A2D}"/>
              </a:ext>
            </a:extLst>
          </p:cNvPr>
          <p:cNvSpPr txBox="1"/>
          <p:nvPr/>
        </p:nvSpPr>
        <p:spPr>
          <a:xfrm>
            <a:off x="4641271" y="3267284"/>
            <a:ext cx="7010401" cy="2585323"/>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Wisal</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"Wahab"</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"Kamran"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Arif</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"Jamal"</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9CDCFE"/>
                </a:solidFill>
                <a:effectLst/>
                <a:latin typeface="Consolas" panose="020B0609020204030204" pitchFamily="49" charset="0"/>
              </a:rPr>
              <a:t>k</a:t>
            </a:r>
            <a:r>
              <a:rPr lang="en-US" b="0" dirty="0">
                <a:solidFill>
                  <a:srgbClr val="D4D4D4"/>
                </a:solidFill>
                <a:effectLst/>
                <a:latin typeface="Consolas" panose="020B0609020204030204" pitchFamily="49" charset="0"/>
              </a:rPr>
              <a:t> = </a:t>
            </a:r>
            <a:r>
              <a:rPr lang="en-US" b="0" dirty="0" err="1">
                <a:solidFill>
                  <a:srgbClr val="DCDCAA"/>
                </a:solidFill>
                <a:effectLst/>
                <a:latin typeface="Consolas" panose="020B0609020204030204" pitchFamily="49" charset="0"/>
              </a:rPr>
              <a:t>len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0</a:t>
            </a:r>
            <a:endParaRPr lang="en-US" b="0" dirty="0">
              <a:solidFill>
                <a:srgbClr val="D4D4D4"/>
              </a:solidFill>
              <a:effectLst/>
              <a:latin typeface="Consolas" panose="020B0609020204030204" pitchFamily="49" charset="0"/>
            </a:endParaRP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while</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&lt;</a:t>
            </a:r>
            <a:r>
              <a:rPr lang="en-US" b="0" dirty="0">
                <a:solidFill>
                  <a:srgbClr val="9CDCFE"/>
                </a:solidFill>
                <a:effectLst/>
                <a:latin typeface="Consolas" panose="020B0609020204030204" pitchFamily="49" charset="0"/>
              </a:rPr>
              <a:t>k</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r>
              <a:rPr lang="en-US" b="0" dirty="0">
                <a:solidFill>
                  <a:srgbClr val="B5CEA8"/>
                </a:solidFill>
                <a:effectLst/>
                <a:latin typeface="Consolas" panose="020B0609020204030204" pitchFamily="49" charset="0"/>
              </a:rPr>
              <a:t>1</a:t>
            </a:r>
            <a:endParaRPr lang="en-US" b="0" dirty="0">
              <a:solidFill>
                <a:srgbClr val="D4D4D4"/>
              </a:solidFill>
              <a:effectLst/>
              <a:latin typeface="Consolas" panose="020B0609020204030204" pitchFamily="49" charset="0"/>
            </a:endParaRPr>
          </a:p>
        </p:txBody>
      </p:sp>
      <p:sp>
        <p:nvSpPr>
          <p:cNvPr id="13" name="Title 7">
            <a:extLst>
              <a:ext uri="{FF2B5EF4-FFF2-40B4-BE49-F238E27FC236}">
                <a16:creationId xmlns:a16="http://schemas.microsoft.com/office/drawing/2014/main" id="{DF78F4E5-9D02-415A-930E-15EBA184F14F}"/>
              </a:ext>
            </a:extLst>
          </p:cNvPr>
          <p:cNvSpPr txBox="1">
            <a:spLocks/>
          </p:cNvSpPr>
          <p:nvPr/>
        </p:nvSpPr>
        <p:spPr bwMode="gray">
          <a:xfrm>
            <a:off x="4620789" y="2463336"/>
            <a:ext cx="3276302" cy="70696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tx1"/>
                </a:solidFill>
              </a:rPr>
              <a:t>List in While Loop:</a:t>
            </a:r>
          </a:p>
        </p:txBody>
      </p:sp>
    </p:spTree>
    <p:extLst>
      <p:ext uri="{BB962C8B-B14F-4D97-AF65-F5344CB8AC3E}">
        <p14:creationId xmlns:p14="http://schemas.microsoft.com/office/powerpoint/2010/main" val="3220163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54953" y="973668"/>
            <a:ext cx="7213191" cy="767686"/>
          </a:xfrm>
        </p:spPr>
        <p:txBody>
          <a:bodyPr>
            <a:normAutofit/>
          </a:bodyPr>
          <a:lstStyle/>
          <a:p>
            <a:r>
              <a:rPr lang="en-US" dirty="0">
                <a:solidFill>
                  <a:schemeClr val="bg1"/>
                </a:solidFill>
              </a:rPr>
              <a:t>Break Statement in Loop</a:t>
            </a:r>
            <a:endParaRPr lang="en-US" sz="3600" dirty="0">
              <a:solidFill>
                <a:schemeClr val="bg1"/>
              </a:solidFill>
            </a:endParaRPr>
          </a:p>
        </p:txBody>
      </p:sp>
      <p:sp>
        <p:nvSpPr>
          <p:cNvPr id="5" name="Slide Number Placeholder 4">
            <a:extLst>
              <a:ext uri="{FF2B5EF4-FFF2-40B4-BE49-F238E27FC236}">
                <a16:creationId xmlns:a16="http://schemas.microsoft.com/office/drawing/2014/main" id="{06C59131-AB4D-44B6-A52A-21F44E10715E}"/>
              </a:ext>
            </a:extLst>
          </p:cNvPr>
          <p:cNvSpPr>
            <a:spLocks noGrp="1"/>
          </p:cNvSpPr>
          <p:nvPr>
            <p:ph type="sldNum" sz="quarter" idx="12"/>
          </p:nvPr>
        </p:nvSpPr>
        <p:spPr/>
        <p:txBody>
          <a:bodyPr/>
          <a:lstStyle/>
          <a:p>
            <a:fld id="{0D6F892B-1791-4F93-8AFD-83813F10F54D}" type="slidenum">
              <a:rPr lang="en-US" smtClean="0">
                <a:solidFill>
                  <a:schemeClr val="tx1"/>
                </a:solidFill>
              </a:rPr>
              <a:t>9</a:t>
            </a:fld>
            <a:endParaRPr lang="en-US" dirty="0">
              <a:solidFill>
                <a:schemeClr val="tx1"/>
              </a:solidFill>
            </a:endParaRPr>
          </a:p>
        </p:txBody>
      </p:sp>
      <p:sp>
        <p:nvSpPr>
          <p:cNvPr id="9" name="TextBox 8">
            <a:extLst>
              <a:ext uri="{FF2B5EF4-FFF2-40B4-BE49-F238E27FC236}">
                <a16:creationId xmlns:a16="http://schemas.microsoft.com/office/drawing/2014/main" id="{C9DA99C8-6043-44E2-87B9-237383F58365}"/>
              </a:ext>
            </a:extLst>
          </p:cNvPr>
          <p:cNvSpPr txBox="1"/>
          <p:nvPr/>
        </p:nvSpPr>
        <p:spPr>
          <a:xfrm>
            <a:off x="1154953" y="2471879"/>
            <a:ext cx="8810237" cy="957121"/>
          </a:xfrm>
          <a:prstGeom prst="rect">
            <a:avLst/>
          </a:prstGeom>
          <a:noFill/>
        </p:spPr>
        <p:txBody>
          <a:bodyPr wrap="square" rtlCol="0">
            <a:spAutoFit/>
          </a:bodyPr>
          <a:lstStyle/>
          <a:p>
            <a:pPr algn="just">
              <a:lnSpc>
                <a:spcPct val="150000"/>
              </a:lnSpc>
            </a:pPr>
            <a:r>
              <a:rPr lang="en-US" sz="2000" dirty="0"/>
              <a:t>With the break statement we can stop the loop before it has looped through all the items:</a:t>
            </a:r>
          </a:p>
        </p:txBody>
      </p:sp>
      <p:sp>
        <p:nvSpPr>
          <p:cNvPr id="10" name="TextBox 9">
            <a:extLst>
              <a:ext uri="{FF2B5EF4-FFF2-40B4-BE49-F238E27FC236}">
                <a16:creationId xmlns:a16="http://schemas.microsoft.com/office/drawing/2014/main" id="{AFA44F88-601C-4959-ABDD-72D2F1B8D234}"/>
              </a:ext>
            </a:extLst>
          </p:cNvPr>
          <p:cNvSpPr txBox="1"/>
          <p:nvPr/>
        </p:nvSpPr>
        <p:spPr>
          <a:xfrm>
            <a:off x="1238084" y="3750346"/>
            <a:ext cx="7116206" cy="2031325"/>
          </a:xfrm>
          <a:prstGeom prst="rect">
            <a:avLst/>
          </a:prstGeom>
          <a:ln>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 =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Wisal</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"Wahab"</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"Kamran"</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Arif</a:t>
            </a:r>
            <a:r>
              <a:rPr lang="en-US" b="0" dirty="0">
                <a:solidFill>
                  <a:srgbClr val="CE9178"/>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"Jamal"</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C586C0"/>
                </a:solidFill>
                <a:effectLst/>
                <a:latin typeface="Consolas" panose="020B0609020204030204" pitchFamily="49" charset="0"/>
              </a:rPr>
              <a:t>for</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in</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range</a:t>
            </a:r>
            <a:r>
              <a:rPr lang="en-US" b="0" dirty="0">
                <a:solidFill>
                  <a:srgbClr val="D4D4D4"/>
                </a:solidFill>
                <a:effectLst/>
                <a:latin typeface="Consolas" panose="020B0609020204030204" pitchFamily="49" charset="0"/>
              </a:rPr>
              <a:t>(</a:t>
            </a:r>
            <a:r>
              <a:rPr lang="en-US" b="0" dirty="0" err="1">
                <a:solidFill>
                  <a:srgbClr val="DCDCAA"/>
                </a:solidFill>
                <a:effectLst/>
                <a:latin typeface="Consolas" panose="020B0609020204030204" pitchFamily="49" charset="0"/>
              </a:rPr>
              <a:t>len</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print</a:t>
            </a:r>
            <a:r>
              <a:rPr lang="en-US" b="0" dirty="0">
                <a:solidFill>
                  <a:srgbClr val="D4D4D4"/>
                </a:solidFill>
                <a:effectLst/>
                <a:latin typeface="Consolas" panose="020B0609020204030204" pitchFamily="49" charset="0"/>
              </a:rPr>
              <a:t>(</a:t>
            </a:r>
            <a:r>
              <a:rPr lang="en-US" b="0" dirty="0">
                <a:solidFill>
                  <a:srgbClr val="9CDCFE"/>
                </a:solidFill>
                <a:effectLst/>
                <a:latin typeface="Consolas" panose="020B0609020204030204" pitchFamily="49" charset="0"/>
              </a:rPr>
              <a:t>name</a:t>
            </a:r>
            <a:r>
              <a:rPr lang="en-US" b="0" dirty="0">
                <a:solidFill>
                  <a:srgbClr val="D4D4D4"/>
                </a:solidFill>
                <a:effectLst/>
                <a:latin typeface="Consolas" panose="020B0609020204030204" pitchFamily="49" charset="0"/>
              </a:rPr>
              <a:t>[</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a:t>
            </a:r>
          </a:p>
          <a:p>
            <a:br>
              <a:rPr lang="en-US" b="0" dirty="0">
                <a:solidFill>
                  <a:srgbClr val="D4D4D4"/>
                </a:solidFill>
                <a:effectLst/>
                <a:latin typeface="Consolas" panose="020B0609020204030204" pitchFamily="49" charset="0"/>
              </a:rPr>
            </a:br>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4D4D4"/>
                </a:solidFill>
                <a:effectLst/>
                <a:latin typeface="Consolas" panose="020B0609020204030204" pitchFamily="49" charset="0"/>
              </a:rPr>
              <a:t> </a:t>
            </a:r>
            <a:r>
              <a:rPr lang="en-US" b="0" dirty="0" err="1">
                <a:solidFill>
                  <a:srgbClr val="9CDCFE"/>
                </a:solidFill>
                <a:effectLst/>
                <a:latin typeface="Consolas" panose="020B0609020204030204" pitchFamily="49" charset="0"/>
              </a:rPr>
              <a:t>i</a:t>
            </a:r>
            <a:r>
              <a:rPr lang="en-US" b="0" dirty="0">
                <a:solidFill>
                  <a:srgbClr val="D4D4D4"/>
                </a:solidFill>
                <a:effectLst/>
                <a:latin typeface="Consolas" panose="020B0609020204030204" pitchFamily="49" charset="0"/>
              </a:rPr>
              <a:t> == </a:t>
            </a:r>
            <a:r>
              <a:rPr lang="en-US" b="0" dirty="0">
                <a:solidFill>
                  <a:srgbClr val="B5CEA8"/>
                </a:solidFill>
                <a:effectLst/>
                <a:latin typeface="Consolas" panose="020B0609020204030204" pitchFamily="49" charset="0"/>
              </a:rPr>
              <a:t>2</a:t>
            </a:r>
            <a:r>
              <a:rPr lang="en-US" b="0" dirty="0">
                <a:solidFill>
                  <a:srgbClr val="D4D4D4"/>
                </a:solidFill>
                <a:effectLst/>
                <a:latin typeface="Consolas" panose="020B0609020204030204" pitchFamily="49" charset="0"/>
              </a:rPr>
              <a:t>:</a:t>
            </a: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break</a:t>
            </a:r>
            <a:endParaRPr 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046754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2DE0D62-AAD7-4D50-AD06-F7CC05D96117}"/>
              </a:ext>
            </a:extLst>
          </p:cNvPr>
          <p:cNvSpPr>
            <a:spLocks noGrp="1"/>
          </p:cNvSpPr>
          <p:nvPr>
            <p:ph type="ctrTitle"/>
          </p:nvPr>
        </p:nvSpPr>
        <p:spPr>
          <a:xfrm>
            <a:off x="1683171" y="2650434"/>
            <a:ext cx="8825658" cy="1133033"/>
          </a:xfrm>
        </p:spPr>
        <p:txBody>
          <a:bodyPr/>
          <a:lstStyle/>
          <a:p>
            <a:r>
              <a:rPr lang="en-US" sz="7200" dirty="0"/>
              <a:t>Thanks for Reading</a:t>
            </a:r>
          </a:p>
        </p:txBody>
      </p:sp>
      <p:sp>
        <p:nvSpPr>
          <p:cNvPr id="2" name="Slide Number Placeholder 1">
            <a:extLst>
              <a:ext uri="{FF2B5EF4-FFF2-40B4-BE49-F238E27FC236}">
                <a16:creationId xmlns:a16="http://schemas.microsoft.com/office/drawing/2014/main" id="{DE991412-8677-443B-AE2D-B256FF39888A}"/>
              </a:ext>
            </a:extLst>
          </p:cNvPr>
          <p:cNvSpPr>
            <a:spLocks noGrp="1"/>
          </p:cNvSpPr>
          <p:nvPr>
            <p:ph type="sldNum" sz="quarter" idx="12"/>
          </p:nvPr>
        </p:nvSpPr>
        <p:spPr/>
        <p:txBody>
          <a:bodyPr/>
          <a:lstStyle/>
          <a:p>
            <a:fld id="{0D6F892B-1791-4F93-8AFD-83813F10F54D}" type="slidenum">
              <a:rPr lang="en-US" smtClean="0"/>
              <a:t>10</a:t>
            </a:fld>
            <a:endParaRPr lang="en-US" dirty="0"/>
          </a:p>
        </p:txBody>
      </p:sp>
    </p:spTree>
    <p:extLst>
      <p:ext uri="{BB962C8B-B14F-4D97-AF65-F5344CB8AC3E}">
        <p14:creationId xmlns:p14="http://schemas.microsoft.com/office/powerpoint/2010/main" val="2334460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1310</TotalTime>
  <Words>565</Words>
  <Application>Microsoft Office PowerPoint</Application>
  <PresentationFormat>Widescreen</PresentationFormat>
  <Paragraphs>86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Rounded MT Bold</vt:lpstr>
      <vt:lpstr>Calibri</vt:lpstr>
      <vt:lpstr>Century Gothic</vt:lpstr>
      <vt:lpstr>Consolas</vt:lpstr>
      <vt:lpstr>Wingdings 3</vt:lpstr>
      <vt:lpstr>Ion Boardroom</vt:lpstr>
      <vt:lpstr>Part 10  Loops in Python</vt:lpstr>
      <vt:lpstr>How Loops Work?</vt:lpstr>
      <vt:lpstr>What is Loop?</vt:lpstr>
      <vt:lpstr>For Loop in Python</vt:lpstr>
      <vt:lpstr>Range() Function In Loop</vt:lpstr>
      <vt:lpstr>List in For loop</vt:lpstr>
      <vt:lpstr>While Loop in Python</vt:lpstr>
      <vt:lpstr>While loop example</vt:lpstr>
      <vt:lpstr>Break Statement in Loop</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Babar Ali</dc:creator>
  <cp:lastModifiedBy>Babar Ali</cp:lastModifiedBy>
  <cp:revision>951</cp:revision>
  <dcterms:created xsi:type="dcterms:W3CDTF">2021-12-18T06:39:36Z</dcterms:created>
  <dcterms:modified xsi:type="dcterms:W3CDTF">2022-01-13T18:23:17Z</dcterms:modified>
</cp:coreProperties>
</file>