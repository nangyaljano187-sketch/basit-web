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75" r:id="rId3"/>
    <p:sldId id="276" r:id="rId4"/>
    <p:sldId id="281" r:id="rId5"/>
    <p:sldId id="277" r:id="rId6"/>
    <p:sldId id="282" r:id="rId7"/>
    <p:sldId id="278" r:id="rId8"/>
    <p:sldId id="283" r:id="rId9"/>
    <p:sldId id="279" r:id="rId10"/>
    <p:sldId id="284" r:id="rId11"/>
    <p:sldId id="285" r:id="rId12"/>
    <p:sldId id="286" r:id="rId13"/>
    <p:sldId id="280" r:id="rId14"/>
    <p:sldId id="28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97" d="100"/>
          <a:sy n="97" d="100"/>
        </p:scale>
        <p:origin x="14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0B26E-F851-43E6-B073-D0DC43195A18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5408-434F-40A8-82A3-778E773CD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3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1FB926F-7CF4-4B7D-987B-18612D27CE77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70C-2D8E-4890-A891-F527479744F9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CFC-945B-4E58-852A-AED6C88FCAB2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C0FC-A920-42F7-BC43-32D824C9AC5D}" type="datetime1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3D70-4C73-48A5-804D-B399DD51568D}" type="datetime1">
              <a:rPr lang="en-US" smtClean="0"/>
              <a:t>7/2/2024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52DD-E966-428F-922C-8EE6A2E5D5B6}" type="datetime1">
              <a:rPr lang="en-US" smtClean="0"/>
              <a:t>7/2/2024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D5F-3575-4616-8586-AC2F8DDF5D37}" type="datetime1">
              <a:rPr lang="en-US" smtClean="0"/>
              <a:t>7/2/2024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A46-9B3F-4CC2-8D73-71846124DAC7}" type="datetime1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8AD3-CB2F-4DE2-8A69-E1244DDAF24F}" type="datetime1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22A81-ECD6-4CB1-A626-246C4A30F766}" type="datetime1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14E6-699D-4E55-ABF4-940006915809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D5F3-5EEC-4CFF-9A24-05E9298F1927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860E-BF57-4DA3-9D4F-E389B50C3AEB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113E-3274-430E-B7F7-ACBFDF3B96BA}" type="datetime1">
              <a:rPr lang="en-US" smtClean="0"/>
              <a:t>7/2/2024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E551-23E1-4C7E-AE3B-5DBD9FCA6D2C}" type="datetime1">
              <a:rPr lang="en-US" smtClean="0"/>
              <a:t>7/2/2024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2FAD6F2-621E-4A61-9244-F11A9EF6DAE3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D4875FE-F82D-417D-B309-007DCF25EC68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3022D43-A469-4263-AFAF-3B358A3EE266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316528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3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Operator in Python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F1ECBB-56F9-408D-B9FA-8C5E17EE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Operator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34545" y="2310417"/>
            <a:ext cx="10596825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An operator, in computer programing, is </a:t>
            </a:r>
            <a:r>
              <a:rPr lang="en-US" sz="2000" b="1" dirty="0"/>
              <a:t>a symbol that usually represents an action or process</a:t>
            </a:r>
            <a:r>
              <a:rPr lang="en-US" sz="2000" dirty="0"/>
              <a:t>. These symbols were adapted from mathematics and logic. An operator is capable of manipulating a certain value or </a:t>
            </a:r>
            <a:r>
              <a:rPr lang="en-US" sz="2000" b="1" dirty="0"/>
              <a:t>operand</a:t>
            </a:r>
            <a:r>
              <a:rPr lang="en-US" sz="2000" dirty="0"/>
              <a:t>.</a:t>
            </a:r>
            <a:endParaRPr lang="en-US" sz="2400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9ACEBE2-90C9-46C7-A5F8-9024C1F2D5C6}"/>
              </a:ext>
            </a:extLst>
          </p:cNvPr>
          <p:cNvSpPr/>
          <p:nvPr/>
        </p:nvSpPr>
        <p:spPr>
          <a:xfrm>
            <a:off x="998827" y="4322768"/>
            <a:ext cx="1929904" cy="1004606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Operator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7A8BEE52-8EE2-4077-86FA-1126A357595B}"/>
              </a:ext>
            </a:extLst>
          </p:cNvPr>
          <p:cNvSpPr/>
          <p:nvPr/>
        </p:nvSpPr>
        <p:spPr>
          <a:xfrm>
            <a:off x="6252490" y="4358989"/>
            <a:ext cx="1819925" cy="968384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Operator</a:t>
            </a:r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B9006280-9A52-4159-B6A2-45F22B3C30A6}"/>
              </a:ext>
            </a:extLst>
          </p:cNvPr>
          <p:cNvSpPr/>
          <p:nvPr/>
        </p:nvSpPr>
        <p:spPr>
          <a:xfrm>
            <a:off x="3534566" y="4322768"/>
            <a:ext cx="1819925" cy="100460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Assignment Operator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FE844EC-5DA6-4EBC-81B6-CBD5EE7BCDEB}"/>
              </a:ext>
            </a:extLst>
          </p:cNvPr>
          <p:cNvSpPr/>
          <p:nvPr/>
        </p:nvSpPr>
        <p:spPr>
          <a:xfrm>
            <a:off x="8970414" y="4358988"/>
            <a:ext cx="1929904" cy="96838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Comparison Operator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254FCA-85E3-4809-9300-10F96E27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1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Arithmetic Operator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45818" y="2292307"/>
            <a:ext cx="10557069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An arithmetic operator </a:t>
            </a:r>
            <a:r>
              <a:rPr lang="en-US" sz="2000" b="1" dirty="0"/>
              <a:t>performs mathematical operations</a:t>
            </a:r>
            <a:r>
              <a:rPr lang="en-US" sz="2000" dirty="0"/>
              <a:t> such as addition, subtraction, multiplication, division etc. on numerical values (constants and </a:t>
            </a:r>
            <a:r>
              <a:rPr lang="en-US" sz="2000"/>
              <a:t>variables).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308D27-59A9-435A-9E29-633AB2613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37661"/>
              </p:ext>
            </p:extLst>
          </p:nvPr>
        </p:nvGraphicFramePr>
        <p:xfrm>
          <a:off x="1062190" y="3967752"/>
          <a:ext cx="9022715" cy="1916580"/>
        </p:xfrm>
        <a:graphic>
          <a:graphicData uri="http://schemas.openxmlformats.org/drawingml/2006/table">
            <a:tbl>
              <a:tblPr/>
              <a:tblGrid>
                <a:gridCol w="2506315">
                  <a:extLst>
                    <a:ext uri="{9D8B030D-6E8A-4147-A177-3AD203B41FA5}">
                      <a16:colId xmlns:a16="http://schemas.microsoft.com/office/drawing/2014/main" val="3278483403"/>
                    </a:ext>
                  </a:extLst>
                </a:gridCol>
                <a:gridCol w="3508885">
                  <a:extLst>
                    <a:ext uri="{9D8B030D-6E8A-4147-A177-3AD203B41FA5}">
                      <a16:colId xmlns:a16="http://schemas.microsoft.com/office/drawing/2014/main" val="3182077045"/>
                    </a:ext>
                  </a:extLst>
                </a:gridCol>
                <a:gridCol w="3007515">
                  <a:extLst>
                    <a:ext uri="{9D8B030D-6E8A-4147-A177-3AD203B41FA5}">
                      <a16:colId xmlns:a16="http://schemas.microsoft.com/office/drawing/2014/main" val="1572382624"/>
                    </a:ext>
                  </a:extLst>
                </a:gridCol>
              </a:tblGrid>
              <a:tr h="32421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Operator</a:t>
                      </a:r>
                    </a:p>
                  </a:txBody>
                  <a:tcPr marL="102901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</a:rPr>
                        <a:t>Name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Example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336045"/>
                  </a:ext>
                </a:extLst>
              </a:tr>
              <a:tr h="32421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+</a:t>
                      </a:r>
                    </a:p>
                  </a:txBody>
                  <a:tcPr marL="102901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Addition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+ y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99777"/>
                  </a:ext>
                </a:extLst>
              </a:tr>
              <a:tr h="32421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-</a:t>
                      </a:r>
                    </a:p>
                  </a:txBody>
                  <a:tcPr marL="102901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Subtraction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- y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66595"/>
                  </a:ext>
                </a:extLst>
              </a:tr>
              <a:tr h="32421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*</a:t>
                      </a:r>
                    </a:p>
                  </a:txBody>
                  <a:tcPr marL="102901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Multiplication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* y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853742"/>
                  </a:ext>
                </a:extLst>
              </a:tr>
              <a:tr h="32421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/</a:t>
                      </a:r>
                    </a:p>
                  </a:txBody>
                  <a:tcPr marL="102901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Division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/ y</a:t>
                      </a:r>
                    </a:p>
                  </a:txBody>
                  <a:tcPr marL="51450" marR="51450" marT="51450" marB="514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5011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F605C-147C-4D30-BF4C-AD50D1C4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2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Arithmetic Operator Example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1154955" y="2471879"/>
            <a:ext cx="9652909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Create a program to calculate two numbers Addition, Subtraction, Multiplication and Division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F605C-147C-4D30-BF4C-AD50D1C4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82BEB-4BD3-4091-9CD4-E69CC32644A5}"/>
              </a:ext>
            </a:extLst>
          </p:cNvPr>
          <p:cNvSpPr txBox="1"/>
          <p:nvPr/>
        </p:nvSpPr>
        <p:spPr>
          <a:xfrm>
            <a:off x="1246908" y="3611003"/>
            <a:ext cx="6096000" cy="280076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First Number : 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Second Number : 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Addition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Subtraction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Multiplication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Division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81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Assignment Operator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817465" y="2421295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Assignment operators are used to assign values to variables:</a:t>
            </a:r>
            <a:endParaRPr lang="en-US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EC3CF9-E63F-4320-844C-BFD4C0712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078249"/>
              </p:ext>
            </p:extLst>
          </p:nvPr>
        </p:nvGraphicFramePr>
        <p:xfrm>
          <a:off x="924765" y="3264729"/>
          <a:ext cx="7795166" cy="2199300"/>
        </p:xfrm>
        <a:graphic>
          <a:graphicData uri="http://schemas.openxmlformats.org/drawingml/2006/table">
            <a:tbl>
              <a:tblPr/>
              <a:tblGrid>
                <a:gridCol w="2109983">
                  <a:extLst>
                    <a:ext uri="{9D8B030D-6E8A-4147-A177-3AD203B41FA5}">
                      <a16:colId xmlns:a16="http://schemas.microsoft.com/office/drawing/2014/main" val="1615656159"/>
                    </a:ext>
                  </a:extLst>
                </a:gridCol>
                <a:gridCol w="3286695">
                  <a:extLst>
                    <a:ext uri="{9D8B030D-6E8A-4147-A177-3AD203B41FA5}">
                      <a16:colId xmlns:a16="http://schemas.microsoft.com/office/drawing/2014/main" val="376571737"/>
                    </a:ext>
                  </a:extLst>
                </a:gridCol>
                <a:gridCol w="2398488">
                  <a:extLst>
                    <a:ext uri="{9D8B030D-6E8A-4147-A177-3AD203B41FA5}">
                      <a16:colId xmlns:a16="http://schemas.microsoft.com/office/drawing/2014/main" val="3279987686"/>
                    </a:ext>
                  </a:extLst>
                </a:gridCol>
              </a:tblGrid>
              <a:tr h="31769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Operator</a:t>
                      </a:r>
                    </a:p>
                  </a:txBody>
                  <a:tcPr marL="87151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Example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Same As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324345"/>
                  </a:ext>
                </a:extLst>
              </a:tr>
              <a:tr h="31769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=</a:t>
                      </a:r>
                    </a:p>
                  </a:txBody>
                  <a:tcPr marL="87151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= 5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= 5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917057"/>
                  </a:ext>
                </a:extLst>
              </a:tr>
              <a:tr h="31769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+=</a:t>
                      </a:r>
                    </a:p>
                  </a:txBody>
                  <a:tcPr marL="87151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+=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+ 3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901898"/>
                  </a:ext>
                </a:extLst>
              </a:tr>
              <a:tr h="31769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-=</a:t>
                      </a:r>
                    </a:p>
                  </a:txBody>
                  <a:tcPr marL="87151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-=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- 3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13943"/>
                  </a:ext>
                </a:extLst>
              </a:tr>
              <a:tr h="31769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*=</a:t>
                      </a:r>
                    </a:p>
                  </a:txBody>
                  <a:tcPr marL="87151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*=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= x *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29421"/>
                  </a:ext>
                </a:extLst>
              </a:tr>
              <a:tr h="31769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/=</a:t>
                      </a:r>
                    </a:p>
                  </a:txBody>
                  <a:tcPr marL="87151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x /=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x = x / 3</a:t>
                      </a:r>
                    </a:p>
                  </a:txBody>
                  <a:tcPr marL="43575" marR="43575" marT="43575" marB="43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78081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BE2F5-3FE6-4541-8E5E-169007CC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0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Assignment Operator Example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817465" y="2421295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Assignment operators are used to assign values to variables: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BE2F5-3FE6-4541-8E5E-169007CC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8B5D6-67EC-438C-9E8C-0C13109DDFD3}"/>
              </a:ext>
            </a:extLst>
          </p:cNvPr>
          <p:cNvSpPr txBox="1"/>
          <p:nvPr/>
        </p:nvSpPr>
        <p:spPr>
          <a:xfrm>
            <a:off x="942109" y="3170131"/>
            <a:ext cx="4211782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30 to a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50 to b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 += 20 or a = a + 20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163B2-AD80-46F3-874F-73EED3DE53EF}"/>
              </a:ext>
            </a:extLst>
          </p:cNvPr>
          <p:cNvSpPr txBox="1"/>
          <p:nvPr/>
        </p:nvSpPr>
        <p:spPr>
          <a:xfrm>
            <a:off x="6095999" y="3170131"/>
            <a:ext cx="4211782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30 to a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50 to b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 *= 20 or b = b * 20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8222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Comparison Operator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817465" y="2421295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Comparison operators are used to compare two values:</a:t>
            </a:r>
            <a:endParaRPr lang="en-US" sz="3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6744BA-6499-4B64-B2A1-901F59AB0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898624"/>
              </p:ext>
            </p:extLst>
          </p:nvPr>
        </p:nvGraphicFramePr>
        <p:xfrm>
          <a:off x="914702" y="3209046"/>
          <a:ext cx="8653368" cy="3017520"/>
        </p:xfrm>
        <a:graphic>
          <a:graphicData uri="http://schemas.openxmlformats.org/drawingml/2006/table">
            <a:tbl>
              <a:tblPr/>
              <a:tblGrid>
                <a:gridCol w="1894759">
                  <a:extLst>
                    <a:ext uri="{9D8B030D-6E8A-4147-A177-3AD203B41FA5}">
                      <a16:colId xmlns:a16="http://schemas.microsoft.com/office/drawing/2014/main" val="668119382"/>
                    </a:ext>
                  </a:extLst>
                </a:gridCol>
                <a:gridCol w="3874208">
                  <a:extLst>
                    <a:ext uri="{9D8B030D-6E8A-4147-A177-3AD203B41FA5}">
                      <a16:colId xmlns:a16="http://schemas.microsoft.com/office/drawing/2014/main" val="3160163326"/>
                    </a:ext>
                  </a:extLst>
                </a:gridCol>
                <a:gridCol w="2884401">
                  <a:extLst>
                    <a:ext uri="{9D8B030D-6E8A-4147-A177-3AD203B41FA5}">
                      <a16:colId xmlns:a16="http://schemas.microsoft.com/office/drawing/2014/main" val="1890753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Operator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Name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Example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034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==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Equal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x ==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670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!=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Not equal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x !=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307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&gt;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Greater than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x &gt;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24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&lt;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Less than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x &lt;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329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&gt;=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Greater than or equal to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x &gt;=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0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&lt;=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Less than or equal to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x &lt;= 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76399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8B62D6-5226-4294-9B4C-E91E6EE2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4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Comparison Operator Example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817465" y="2421295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Comparison operators are used to compare two values: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8B62D6-5226-4294-9B4C-E91E6EE2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19F60-8F82-43D7-8F59-E082B1696554}"/>
              </a:ext>
            </a:extLst>
          </p:cNvPr>
          <p:cNvSpPr txBox="1"/>
          <p:nvPr/>
        </p:nvSpPr>
        <p:spPr>
          <a:xfrm>
            <a:off x="942161" y="3148179"/>
            <a:ext cx="4752058" cy="23083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Compare a with b to equal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Compare a with b to not equal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2096B-648B-46B2-B063-29336F538F34}"/>
              </a:ext>
            </a:extLst>
          </p:cNvPr>
          <p:cNvSpPr txBox="1"/>
          <p:nvPr/>
        </p:nvSpPr>
        <p:spPr>
          <a:xfrm>
            <a:off x="6095999" y="3148179"/>
            <a:ext cx="515384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Compare a with b for greater value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Compare a with b for less value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Check if a is greater or equal to b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569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Logical Operator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758513" y="2421295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Logical operators are used to combine conditional statements:</a:t>
            </a:r>
            <a:endParaRPr lang="en-US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16770A-9D21-4499-B5D0-AB7090361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310546"/>
              </p:ext>
            </p:extLst>
          </p:nvPr>
        </p:nvGraphicFramePr>
        <p:xfrm>
          <a:off x="845175" y="3234990"/>
          <a:ext cx="10557069" cy="2238158"/>
        </p:xfrm>
        <a:graphic>
          <a:graphicData uri="http://schemas.openxmlformats.org/drawingml/2006/table">
            <a:tbl>
              <a:tblPr/>
              <a:tblGrid>
                <a:gridCol w="1779961">
                  <a:extLst>
                    <a:ext uri="{9D8B030D-6E8A-4147-A177-3AD203B41FA5}">
                      <a16:colId xmlns:a16="http://schemas.microsoft.com/office/drawing/2014/main" val="1149375463"/>
                    </a:ext>
                  </a:extLst>
                </a:gridCol>
                <a:gridCol w="5671931">
                  <a:extLst>
                    <a:ext uri="{9D8B030D-6E8A-4147-A177-3AD203B41FA5}">
                      <a16:colId xmlns:a16="http://schemas.microsoft.com/office/drawing/2014/main" val="2341473706"/>
                    </a:ext>
                  </a:extLst>
                </a:gridCol>
                <a:gridCol w="3105177">
                  <a:extLst>
                    <a:ext uri="{9D8B030D-6E8A-4147-A177-3AD203B41FA5}">
                      <a16:colId xmlns:a16="http://schemas.microsoft.com/office/drawing/2014/main" val="2152103404"/>
                    </a:ext>
                  </a:extLst>
                </a:gridCol>
              </a:tblGrid>
              <a:tr h="508672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Operator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Example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15080"/>
                  </a:ext>
                </a:extLst>
              </a:tr>
              <a:tr h="47476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and 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True if both statements are 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x &lt; 5 and  x &lt; 10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919524"/>
                  </a:ext>
                </a:extLst>
              </a:tr>
              <a:tr h="47476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or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True if one of the statements is 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x &lt; 5 or x &lt; 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52468"/>
                  </a:ext>
                </a:extLst>
              </a:tr>
              <a:tr h="77996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not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Reverse the result, returns False if the result is 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not(x &lt; 5 and x &lt; 10)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028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DC20B2-CF98-43B9-903C-25660714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86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“and” Operator in Logical Operator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758513" y="2421295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Check the condition for “and” Operator</a:t>
            </a:r>
            <a:endParaRPr lang="en-US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16770A-9D21-4499-B5D0-AB7090361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264621"/>
              </p:ext>
            </p:extLst>
          </p:nvPr>
        </p:nvGraphicFramePr>
        <p:xfrm>
          <a:off x="872885" y="3207281"/>
          <a:ext cx="6788679" cy="2370345"/>
        </p:xfrm>
        <a:graphic>
          <a:graphicData uri="http://schemas.openxmlformats.org/drawingml/2006/table">
            <a:tbl>
              <a:tblPr/>
              <a:tblGrid>
                <a:gridCol w="1925733">
                  <a:extLst>
                    <a:ext uri="{9D8B030D-6E8A-4147-A177-3AD203B41FA5}">
                      <a16:colId xmlns:a16="http://schemas.microsoft.com/office/drawing/2014/main" val="1149375463"/>
                    </a:ext>
                  </a:extLst>
                </a:gridCol>
                <a:gridCol w="2064327">
                  <a:extLst>
                    <a:ext uri="{9D8B030D-6E8A-4147-A177-3AD203B41FA5}">
                      <a16:colId xmlns:a16="http://schemas.microsoft.com/office/drawing/2014/main" val="2341473706"/>
                    </a:ext>
                  </a:extLst>
                </a:gridCol>
                <a:gridCol w="2798619">
                  <a:extLst>
                    <a:ext uri="{9D8B030D-6E8A-4147-A177-3AD203B41FA5}">
                      <a16:colId xmlns:a16="http://schemas.microsoft.com/office/drawing/2014/main" val="2152103404"/>
                    </a:ext>
                  </a:extLst>
                </a:gridCol>
              </a:tblGrid>
              <a:tr h="5022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Condition 1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Condition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Result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15080"/>
                  </a:ext>
                </a:extLst>
              </a:tr>
              <a:tr h="468755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=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919524"/>
                  </a:ext>
                </a:extLst>
              </a:tr>
              <a:tr h="468755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=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52468"/>
                  </a:ext>
                </a:extLst>
              </a:tr>
              <a:tr h="465299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=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0287"/>
                  </a:ext>
                </a:extLst>
              </a:tr>
              <a:tr h="465299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= 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71262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DC20B2-CF98-43B9-903C-25660714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9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“or” Operator in Logical Operator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758513" y="2421295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Check the condition for “and” Operator</a:t>
            </a:r>
            <a:endParaRPr lang="en-US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16770A-9D21-4499-B5D0-AB7090361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82393"/>
              </p:ext>
            </p:extLst>
          </p:nvPr>
        </p:nvGraphicFramePr>
        <p:xfrm>
          <a:off x="872885" y="3207281"/>
          <a:ext cx="6788679" cy="2370345"/>
        </p:xfrm>
        <a:graphic>
          <a:graphicData uri="http://schemas.openxmlformats.org/drawingml/2006/table">
            <a:tbl>
              <a:tblPr/>
              <a:tblGrid>
                <a:gridCol w="1925733">
                  <a:extLst>
                    <a:ext uri="{9D8B030D-6E8A-4147-A177-3AD203B41FA5}">
                      <a16:colId xmlns:a16="http://schemas.microsoft.com/office/drawing/2014/main" val="1149375463"/>
                    </a:ext>
                  </a:extLst>
                </a:gridCol>
                <a:gridCol w="2064327">
                  <a:extLst>
                    <a:ext uri="{9D8B030D-6E8A-4147-A177-3AD203B41FA5}">
                      <a16:colId xmlns:a16="http://schemas.microsoft.com/office/drawing/2014/main" val="2341473706"/>
                    </a:ext>
                  </a:extLst>
                </a:gridCol>
                <a:gridCol w="2798619">
                  <a:extLst>
                    <a:ext uri="{9D8B030D-6E8A-4147-A177-3AD203B41FA5}">
                      <a16:colId xmlns:a16="http://schemas.microsoft.com/office/drawing/2014/main" val="2152103404"/>
                    </a:ext>
                  </a:extLst>
                </a:gridCol>
              </a:tblGrid>
              <a:tr h="5022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Condition 1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Condition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Result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15080"/>
                  </a:ext>
                </a:extLst>
              </a:tr>
              <a:tr h="468755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=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919524"/>
                  </a:ext>
                </a:extLst>
              </a:tr>
              <a:tr h="468755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=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52468"/>
                  </a:ext>
                </a:extLst>
              </a:tr>
              <a:tr h="465299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=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</a:rPr>
                        <a:t>True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10287"/>
                  </a:ext>
                </a:extLst>
              </a:tr>
              <a:tr h="465299"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t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= False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71262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DC20B2-CF98-43B9-903C-25660714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57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Logical Operator Example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1154955" y="2421295"/>
            <a:ext cx="8205378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Logical operator example are given below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DC20B2-CF98-43B9-903C-25660714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054F8-BDD5-4D54-8AAA-FA1C8FC2A81B}"/>
              </a:ext>
            </a:extLst>
          </p:cNvPr>
          <p:cNvSpPr txBox="1"/>
          <p:nvPr/>
        </p:nvSpPr>
        <p:spPr>
          <a:xfrm>
            <a:off x="1251939" y="3127033"/>
            <a:ext cx="6617441" cy="31393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Used the "and" Operator for condition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Used the "or" operator for condition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Used "not" operator for condition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2720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Input() Function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771765" y="2381539"/>
            <a:ext cx="1055706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Input() function is used to input a value by keyboard.</a:t>
            </a:r>
            <a:endParaRPr lang="en-US" sz="4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4A57B0-75C4-4D75-BF9B-308ED3EAAEFF}"/>
              </a:ext>
            </a:extLst>
          </p:cNvPr>
          <p:cNvSpPr/>
          <p:nvPr/>
        </p:nvSpPr>
        <p:spPr>
          <a:xfrm>
            <a:off x="887895" y="3361537"/>
            <a:ext cx="6096000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"Enter A Value : 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"You Enter :"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6C5476-BAE1-4A44-81EA-9DF5AF6D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94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611898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eval() Function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1159694" y="2423104"/>
            <a:ext cx="860716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eval() function is used to input numeric value by keyboard.</a:t>
            </a:r>
            <a:endParaRPr lang="en-US" sz="4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4A57B0-75C4-4D75-BF9B-308ED3EAAEFF}"/>
              </a:ext>
            </a:extLst>
          </p:cNvPr>
          <p:cNvSpPr/>
          <p:nvPr/>
        </p:nvSpPr>
        <p:spPr>
          <a:xfrm>
            <a:off x="1275823" y="3222990"/>
            <a:ext cx="609600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eval() function for numeric values</a:t>
            </a:r>
            <a:endParaRPr lang="en-US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6C5476-BAE1-4A44-81EA-9DF5AF6D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90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A7B717-BBA2-4685-BAF6-A0F085FE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642</TotalTime>
  <Words>774</Words>
  <Application>Microsoft Office PowerPoint</Application>
  <PresentationFormat>Widescreen</PresentationFormat>
  <Paragraphs>195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Rounded MT Bold</vt:lpstr>
      <vt:lpstr>Calibri</vt:lpstr>
      <vt:lpstr>Century Gothic</vt:lpstr>
      <vt:lpstr>Consolas</vt:lpstr>
      <vt:lpstr>Wingdings</vt:lpstr>
      <vt:lpstr>Wingdings 3</vt:lpstr>
      <vt:lpstr>Ion Boardroom</vt:lpstr>
      <vt:lpstr>Part 3  Operator in Python</vt:lpstr>
      <vt:lpstr>Operator in Python</vt:lpstr>
      <vt:lpstr>Arithmetic Operator</vt:lpstr>
      <vt:lpstr>Arithmetic Operator Example</vt:lpstr>
      <vt:lpstr>Assignment Operator</vt:lpstr>
      <vt:lpstr>Assignment Operator Example</vt:lpstr>
      <vt:lpstr>Comparison Operator</vt:lpstr>
      <vt:lpstr>Comparison Operator Example</vt:lpstr>
      <vt:lpstr>Logical Operator</vt:lpstr>
      <vt:lpstr>“and” Operator in Logical Operator</vt:lpstr>
      <vt:lpstr>“or” Operator in Logical Operator</vt:lpstr>
      <vt:lpstr>Logical Operator Example</vt:lpstr>
      <vt:lpstr>Input() Function</vt:lpstr>
      <vt:lpstr>eval() Function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Programmer Khan</cp:lastModifiedBy>
  <cp:revision>349</cp:revision>
  <dcterms:created xsi:type="dcterms:W3CDTF">2021-12-18T06:39:36Z</dcterms:created>
  <dcterms:modified xsi:type="dcterms:W3CDTF">2024-07-02T08:03:51Z</dcterms:modified>
</cp:coreProperties>
</file>